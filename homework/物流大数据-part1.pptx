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356" r:id="rId4"/>
    <p:sldId id="357" r:id="rId5"/>
    <p:sldId id="310" r:id="rId6"/>
    <p:sldId id="311" r:id="rId7"/>
    <p:sldId id="312" r:id="rId8"/>
    <p:sldId id="313" r:id="rId9"/>
    <p:sldId id="314" r:id="rId10"/>
    <p:sldId id="315" r:id="rId11"/>
    <p:sldId id="257" r:id="rId12"/>
    <p:sldId id="261" r:id="rId13"/>
    <p:sldId id="258" r:id="rId14"/>
    <p:sldId id="259" r:id="rId15"/>
    <p:sldId id="319" r:id="rId16"/>
    <p:sldId id="302" r:id="rId17"/>
    <p:sldId id="318" r:id="rId18"/>
    <p:sldId id="321" r:id="rId19"/>
    <p:sldId id="322" r:id="rId20"/>
    <p:sldId id="358" r:id="rId21"/>
    <p:sldId id="359" r:id="rId22"/>
    <p:sldId id="360" r:id="rId23"/>
    <p:sldId id="361" r:id="rId24"/>
    <p:sldId id="362" r:id="rId25"/>
    <p:sldId id="303" r:id="rId26"/>
    <p:sldId id="304" r:id="rId27"/>
    <p:sldId id="305" r:id="rId28"/>
    <p:sldId id="323" r:id="rId29"/>
    <p:sldId id="324" r:id="rId30"/>
    <p:sldId id="325" r:id="rId31"/>
    <p:sldId id="308" r:id="rId32"/>
    <p:sldId id="306" r:id="rId33"/>
    <p:sldId id="326" r:id="rId34"/>
    <p:sldId id="327" r:id="rId35"/>
    <p:sldId id="316" r:id="rId36"/>
    <p:sldId id="328" r:id="rId37"/>
    <p:sldId id="329" r:id="rId38"/>
    <p:sldId id="330" r:id="rId39"/>
    <p:sldId id="331" r:id="rId40"/>
    <p:sldId id="332" r:id="rId41"/>
    <p:sldId id="333" r:id="rId42"/>
    <p:sldId id="335" r:id="rId43"/>
    <p:sldId id="336" r:id="rId44"/>
    <p:sldId id="337" r:id="rId45"/>
    <p:sldId id="338" r:id="rId46"/>
    <p:sldId id="334" r:id="rId47"/>
    <p:sldId id="340" r:id="rId48"/>
    <p:sldId id="342" r:id="rId49"/>
    <p:sldId id="343" r:id="rId50"/>
    <p:sldId id="344" r:id="rId51"/>
    <p:sldId id="339" r:id="rId52"/>
    <p:sldId id="341" r:id="rId53"/>
    <p:sldId id="367" r:id="rId54"/>
    <p:sldId id="371" r:id="rId55"/>
    <p:sldId id="368" r:id="rId56"/>
    <p:sldId id="370" r:id="rId57"/>
    <p:sldId id="369" r:id="rId58"/>
    <p:sldId id="373" r:id="rId59"/>
    <p:sldId id="372" r:id="rId60"/>
    <p:sldId id="374" r:id="rId61"/>
    <p:sldId id="375" r:id="rId62"/>
    <p:sldId id="376" r:id="rId63"/>
    <p:sldId id="384" r:id="rId64"/>
    <p:sldId id="385" r:id="rId65"/>
    <p:sldId id="377" r:id="rId66"/>
    <p:sldId id="378" r:id="rId67"/>
    <p:sldId id="379" r:id="rId68"/>
    <p:sldId id="380" r:id="rId69"/>
    <p:sldId id="381" r:id="rId70"/>
    <p:sldId id="382" r:id="rId71"/>
    <p:sldId id="383" r:id="rId72"/>
    <p:sldId id="262" r:id="rId73"/>
    <p:sldId id="263" r:id="rId74"/>
    <p:sldId id="266" r:id="rId75"/>
    <p:sldId id="268" r:id="rId76"/>
    <p:sldId id="264" r:id="rId77"/>
    <p:sldId id="265" r:id="rId78"/>
    <p:sldId id="267" r:id="rId79"/>
    <p:sldId id="345" r:id="rId80"/>
    <p:sldId id="366" r:id="rId81"/>
    <p:sldId id="270" r:id="rId82"/>
    <p:sldId id="269" r:id="rId83"/>
    <p:sldId id="271" r:id="rId84"/>
    <p:sldId id="363" r:id="rId85"/>
    <p:sldId id="364" r:id="rId86"/>
    <p:sldId id="365" r:id="rId87"/>
    <p:sldId id="272" r:id="rId88"/>
    <p:sldId id="273" r:id="rId89"/>
    <p:sldId id="275" r:id="rId90"/>
    <p:sldId id="274" r:id="rId91"/>
    <p:sldId id="276" r:id="rId92"/>
    <p:sldId id="277" r:id="rId93"/>
    <p:sldId id="289" r:id="rId94"/>
    <p:sldId id="291" r:id="rId95"/>
    <p:sldId id="278" r:id="rId96"/>
    <p:sldId id="279" r:id="rId97"/>
    <p:sldId id="281" r:id="rId98"/>
    <p:sldId id="280" r:id="rId99"/>
    <p:sldId id="282" r:id="rId100"/>
    <p:sldId id="283" r:id="rId101"/>
    <p:sldId id="285" r:id="rId102"/>
    <p:sldId id="284" r:id="rId103"/>
    <p:sldId id="287" r:id="rId104"/>
    <p:sldId id="288" r:id="rId105"/>
    <p:sldId id="292" r:id="rId106"/>
    <p:sldId id="290" r:id="rId107"/>
    <p:sldId id="296" r:id="rId108"/>
    <p:sldId id="297" r:id="rId109"/>
    <p:sldId id="298" r:id="rId110"/>
    <p:sldId id="299" r:id="rId111"/>
    <p:sldId id="293" r:id="rId112"/>
    <p:sldId id="294" r:id="rId113"/>
    <p:sldId id="347" r:id="rId114"/>
    <p:sldId id="348" r:id="rId115"/>
    <p:sldId id="346" r:id="rId116"/>
    <p:sldId id="352" r:id="rId117"/>
    <p:sldId id="351" r:id="rId118"/>
    <p:sldId id="349" r:id="rId119"/>
    <p:sldId id="350" r:id="rId120"/>
    <p:sldId id="353" r:id="rId121"/>
    <p:sldId id="354" r:id="rId122"/>
    <p:sldId id="355" r:id="rId1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" r="1934"/>
          <a:stretch/>
        </p:blipFill>
        <p:spPr>
          <a:xfrm>
            <a:off x="-16042" y="0"/>
            <a:ext cx="12208042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5740" y="1137603"/>
            <a:ext cx="765048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740" y="3640138"/>
            <a:ext cx="765048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8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户外, 建筑, 街道, 公园&#10;&#10;描述已自动生成">
            <a:extLst>
              <a:ext uri="{FF2B5EF4-FFF2-40B4-BE49-F238E27FC236}">
                <a16:creationId xmlns:a16="http://schemas.microsoft.com/office/drawing/2014/main" id="{6F64DAE1-BA26-02E7-62EB-F593353430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0715"/>
            <a:ext cx="12192000" cy="68579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7679600" cy="63847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025"/>
            <a:ext cx="10515600" cy="51999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直接连接符 7"/>
          <p:cNvSpPr>
            <a:spLocks noChangeShapeType="1"/>
          </p:cNvSpPr>
          <p:nvPr userDrawn="1"/>
        </p:nvSpPr>
        <p:spPr bwMode="auto">
          <a:xfrm flipV="1">
            <a:off x="0" y="638471"/>
            <a:ext cx="7680960" cy="0"/>
          </a:xfrm>
          <a:prstGeom prst="line">
            <a:avLst/>
          </a:prstGeom>
          <a:noFill/>
          <a:ln w="28575" cap="flat" cmpd="sng">
            <a:solidFill>
              <a:srgbClr val="168ADE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接连接符 8"/>
          <p:cNvSpPr>
            <a:spLocks noChangeShapeType="1"/>
          </p:cNvSpPr>
          <p:nvPr userDrawn="1"/>
        </p:nvSpPr>
        <p:spPr bwMode="auto">
          <a:xfrm flipV="1">
            <a:off x="9182100" y="638471"/>
            <a:ext cx="2998380" cy="0"/>
          </a:xfrm>
          <a:prstGeom prst="line">
            <a:avLst/>
          </a:prstGeom>
          <a:noFill/>
          <a:ln w="28575" cap="flat" cmpd="sng">
            <a:solidFill>
              <a:srgbClr val="168ADE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7680960" y="472614"/>
            <a:ext cx="1501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168A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物流大数据</a:t>
            </a:r>
          </a:p>
        </p:txBody>
      </p:sp>
      <p:pic>
        <p:nvPicPr>
          <p:cNvPr id="11" name="图片 2">
            <a:extLst>
              <a:ext uri="{FF2B5EF4-FFF2-40B4-BE49-F238E27FC236}">
                <a16:creationId xmlns:a16="http://schemas.microsoft.com/office/drawing/2014/main" id="{A91C20D4-FE71-6FB7-89EC-F0CD02C4CBD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>
            <a:lum bright="-30000" contrast="-30000"/>
          </a:blip>
          <a:stretch>
            <a:fillRect/>
          </a:stretch>
        </p:blipFill>
        <p:spPr>
          <a:xfrm>
            <a:off x="10480040" y="-10702"/>
            <a:ext cx="1701800" cy="664413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34527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2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7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44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建筑, 街道, 公园&#10;&#10;描述已自动生成">
            <a:extLst>
              <a:ext uri="{FF2B5EF4-FFF2-40B4-BE49-F238E27FC236}">
                <a16:creationId xmlns:a16="http://schemas.microsoft.com/office/drawing/2014/main" id="{6F64DAE1-BA26-02E7-62EB-F593353430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0715"/>
            <a:ext cx="12192000" cy="68579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" y="0"/>
            <a:ext cx="6494200" cy="65369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A91C20D4-FE71-6FB7-89EC-F0CD02C4CBD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>
            <a:lum bright="-30000" contrast="-30000"/>
          </a:blip>
          <a:stretch>
            <a:fillRect/>
          </a:stretch>
        </p:blipFill>
        <p:spPr>
          <a:xfrm>
            <a:off x="10480040" y="-10702"/>
            <a:ext cx="1701800" cy="66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直接连接符 7"/>
          <p:cNvSpPr>
            <a:spLocks noChangeShapeType="1"/>
          </p:cNvSpPr>
          <p:nvPr userDrawn="1"/>
        </p:nvSpPr>
        <p:spPr bwMode="auto">
          <a:xfrm flipV="1">
            <a:off x="0" y="638471"/>
            <a:ext cx="7680960" cy="0"/>
          </a:xfrm>
          <a:prstGeom prst="line">
            <a:avLst/>
          </a:prstGeom>
          <a:noFill/>
          <a:ln w="28575" cap="flat" cmpd="sng">
            <a:solidFill>
              <a:srgbClr val="168ADE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接连接符 8"/>
          <p:cNvSpPr>
            <a:spLocks noChangeShapeType="1"/>
          </p:cNvSpPr>
          <p:nvPr userDrawn="1"/>
        </p:nvSpPr>
        <p:spPr bwMode="auto">
          <a:xfrm flipV="1">
            <a:off x="9182100" y="638471"/>
            <a:ext cx="2998380" cy="0"/>
          </a:xfrm>
          <a:prstGeom prst="line">
            <a:avLst/>
          </a:prstGeom>
          <a:noFill/>
          <a:ln w="28575" cap="flat" cmpd="sng">
            <a:solidFill>
              <a:srgbClr val="168ADE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7680960" y="472614"/>
            <a:ext cx="1501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168A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物流大数据</a:t>
            </a:r>
          </a:p>
        </p:txBody>
      </p:sp>
    </p:spTree>
    <p:extLst>
      <p:ext uri="{BB962C8B-B14F-4D97-AF65-F5344CB8AC3E}">
        <p14:creationId xmlns:p14="http://schemas.microsoft.com/office/powerpoint/2010/main" val="26817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0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0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9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6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22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7F29-5287-42CD-A4B2-17480F662F64}" type="datetimeFigureOut">
              <a:rPr lang="zh-CN" altLang="en-US" smtClean="0"/>
              <a:t>2025/4/2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4F382-E470-448C-9301-AFFFA260F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20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mirrors.tuna.tsinghua.edu.cn/anaconda/archiv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link.zhihu.com/?target=https://arxiv.org/pdf/1810.06339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api.map.baidu.com/geocoding/v3/?addr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tapi.amap.com/v3/geocode/geo?address" TargetMode="External"/><Relationship Id="rId2" Type="http://schemas.openxmlformats.org/officeDocument/2006/relationships/hyperlink" Target="https://lbs.amap.com/api/webservice/guide/api/georegeo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map.baidu.com/geocoding/v3/?address=%7baddress%7d&amp;output=json&amp;ak=%7bak%7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gi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Shapely/#files" TargetMode="External"/><Relationship Id="rId2" Type="http://schemas.openxmlformats.org/officeDocument/2006/relationships/hyperlink" Target="https://blog.csdn.net/chenguizhenaza/article/details/11383116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ll-files.com/download/d8b5101f07394b4562ef673869395443/geos_c.dll.html?c=aGwxcEZIbXBzUE5nWWlwV3kyaWt4QT09" TargetMode="Externa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hyperlink" Target="http://datav.aliyun.com/portal/school/atlas/area_selector" TargetMode="Externa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物流大数据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鲁晓春 </a:t>
            </a:r>
            <a:r>
              <a:rPr lang="en-US" altLang="zh-CN" dirty="0"/>
              <a:t>xclu@bjtu.edu.cn</a:t>
            </a:r>
            <a:endParaRPr lang="zh-CN" altLang="en-US" dirty="0"/>
          </a:p>
        </p:txBody>
      </p:sp>
      <p:pic>
        <p:nvPicPr>
          <p:cNvPr id="6" name="图片 5" descr="QR 代码&#10;&#10;AI-generated content may be incorrect.">
            <a:extLst>
              <a:ext uri="{FF2B5EF4-FFF2-40B4-BE49-F238E27FC236}">
                <a16:creationId xmlns:a16="http://schemas.microsoft.com/office/drawing/2014/main" id="{5251B6EC-14DF-DD73-D694-B8BAF548B1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8" t="7631" r="11484" b="19210"/>
          <a:stretch/>
        </p:blipFill>
        <p:spPr>
          <a:xfrm>
            <a:off x="8539212" y="138362"/>
            <a:ext cx="3447048" cy="501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90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88274" y="1237570"/>
            <a:ext cx="10515600" cy="52006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altLang="zh-CN" sz="4400" dirty="0"/>
          </a:p>
          <a:p>
            <a:pPr marL="0" indent="0" algn="ctr">
              <a:buNone/>
            </a:pPr>
            <a:endParaRPr lang="en-US" altLang="zh-CN" sz="4400" dirty="0"/>
          </a:p>
          <a:p>
            <a:pPr marL="0" indent="0" algn="ctr">
              <a:buNone/>
            </a:pPr>
            <a:endParaRPr lang="en-US" altLang="zh-CN" sz="4400" dirty="0"/>
          </a:p>
          <a:p>
            <a:pPr marL="0" indent="0" algn="ctr">
              <a:buNone/>
            </a:pPr>
            <a:endParaRPr lang="en-US" altLang="zh-CN" sz="4400" dirty="0"/>
          </a:p>
          <a:p>
            <a:pPr marL="0" indent="0" algn="ctr">
              <a:buNone/>
            </a:pPr>
            <a:endParaRPr lang="en-US" altLang="zh-CN" sz="4400" dirty="0"/>
          </a:p>
          <a:p>
            <a:pPr marL="0" indent="0" algn="ctr">
              <a:buNone/>
            </a:pPr>
            <a:r>
              <a:rPr lang="en-US" altLang="zh-CN" sz="4400" dirty="0"/>
              <a:t>Talk is cheap, Show me the code</a:t>
            </a:r>
          </a:p>
          <a:p>
            <a:pPr marL="0" indent="0" algn="ctr">
              <a:buNone/>
            </a:pPr>
            <a:r>
              <a:rPr lang="zh-CN" altLang="en-US" sz="4400" dirty="0"/>
              <a:t>废话少说，放码过来</a:t>
            </a:r>
            <a:endParaRPr lang="en-US" altLang="zh-CN" sz="4400" dirty="0"/>
          </a:p>
          <a:p>
            <a:pPr marL="0" indent="0" algn="r">
              <a:buNone/>
            </a:pPr>
            <a:r>
              <a:rPr lang="en-US" altLang="zh-CN" sz="4400" dirty="0"/>
              <a:t>Linus</a:t>
            </a:r>
            <a:r>
              <a:rPr lang="zh-CN" altLang="en-US" sz="4400" dirty="0"/>
              <a:t>如是说</a:t>
            </a:r>
            <a:r>
              <a:rPr lang="en-US" altLang="zh-CN" sz="4400" dirty="0"/>
              <a:t> </a:t>
            </a:r>
            <a:endParaRPr lang="zh-CN" altLang="en-US" sz="4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86" y="423738"/>
            <a:ext cx="5728067" cy="35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3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92" y="3367138"/>
            <a:ext cx="5683568" cy="3177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4880" y="716280"/>
            <a:ext cx="94179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近年出现的大数据及人工智能相关名词，概念</a:t>
            </a:r>
            <a:endParaRPr lang="en-US" altLang="zh-C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机器学习：随机森林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深度学习：人脸识别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强化学习：</a:t>
            </a:r>
            <a:r>
              <a:rPr lang="en-US" altLang="zh-CN" dirty="0"/>
              <a:t>Alpha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AGI</a:t>
            </a:r>
            <a:r>
              <a:rPr lang="zh-CN" altLang="en-US" dirty="0"/>
              <a:t>（通用智能）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</a:t>
            </a:r>
            <a:r>
              <a:rPr lang="zh-CN" altLang="en-US" dirty="0"/>
              <a:t>，</a:t>
            </a:r>
            <a:r>
              <a:rPr lang="en-US" altLang="zh-CN" dirty="0" err="1"/>
              <a:t>ChatGPT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Sora</a:t>
            </a:r>
            <a:endParaRPr lang="zh-CN" altLang="en-US" dirty="0"/>
          </a:p>
        </p:txBody>
      </p:sp>
      <p:pic>
        <p:nvPicPr>
          <p:cNvPr id="1026" name="Picture 2" descr="https://image.3001.net/images/20240116/1705418705_65a69fd194e15a56cb2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982" y="2290010"/>
            <a:ext cx="3604606" cy="309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7402424" y="477104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Open AI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407827" y="229001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Llama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069820" y="5011808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LangChain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545054" y="4401717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ANTHROP\C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53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ic1.zhimg.com/80/v2-1678f94fcbf8d5326dacc5d586354e54_720w.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06" y="1005840"/>
            <a:ext cx="10184335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055620" y="3755767"/>
            <a:ext cx="22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公开在线数据预训练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447800" y="4069080"/>
            <a:ext cx="4610100" cy="135636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60070" y="5039975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监督微调</a:t>
            </a:r>
          </a:p>
        </p:txBody>
      </p:sp>
      <p:sp>
        <p:nvSpPr>
          <p:cNvPr id="6" name="流程图: 决策 5"/>
          <p:cNvSpPr/>
          <p:nvPr/>
        </p:nvSpPr>
        <p:spPr>
          <a:xfrm>
            <a:off x="6903720" y="4320540"/>
            <a:ext cx="861060" cy="735568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58200" y="5039975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Llama</a:t>
            </a:r>
            <a:r>
              <a:rPr lang="zh-CN" altLang="en-US" dirty="0"/>
              <a:t>初始版本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74470" y="33680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强化学习人类反馈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522220" y="1742956"/>
            <a:ext cx="3535680" cy="18994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41220" y="11897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人类反馈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87540" y="30309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拒绝采样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151797" y="30309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近端策略优化</a:t>
            </a:r>
          </a:p>
        </p:txBody>
      </p:sp>
      <p:sp>
        <p:nvSpPr>
          <p:cNvPr id="15" name="流程图: 决策 14"/>
          <p:cNvSpPr/>
          <p:nvPr/>
        </p:nvSpPr>
        <p:spPr>
          <a:xfrm>
            <a:off x="7107671" y="2371606"/>
            <a:ext cx="861060" cy="735568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决策 15"/>
          <p:cNvSpPr/>
          <p:nvPr/>
        </p:nvSpPr>
        <p:spPr>
          <a:xfrm>
            <a:off x="9145307" y="2371606"/>
            <a:ext cx="861060" cy="735568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03720" y="1378446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微调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391537" y="2034540"/>
            <a:ext cx="4329919" cy="339089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72540" y="331708"/>
            <a:ext cx="3122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Llama2-Chat</a:t>
            </a:r>
            <a:r>
              <a:rPr lang="zh-CN" altLang="en-US" sz="2400" dirty="0"/>
              <a:t>训练流程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451480" y="5810458"/>
            <a:ext cx="2882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参数范围从 </a:t>
            </a:r>
            <a:r>
              <a:rPr lang="en-US" altLang="zh-CN" dirty="0"/>
              <a:t>7B ~</a:t>
            </a:r>
            <a:r>
              <a:rPr lang="zh-CN" altLang="en-US" dirty="0"/>
              <a:t> </a:t>
            </a:r>
            <a:r>
              <a:rPr lang="en-US" altLang="zh-CN" dirty="0"/>
              <a:t>70B/140B</a:t>
            </a:r>
          </a:p>
          <a:p>
            <a:r>
              <a:rPr lang="en-US" altLang="zh-CN" dirty="0" err="1"/>
              <a:t>Llma</a:t>
            </a:r>
            <a:r>
              <a:rPr lang="zh-CN" altLang="en-US" dirty="0"/>
              <a:t>提供开源权重参数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68543" y="45036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692619" y="34281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开源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383743" y="25079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自己编程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763380" y="5898773"/>
            <a:ext cx="607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Github</a:t>
            </a:r>
            <a:r>
              <a:rPr lang="zh-CN" altLang="en-US" dirty="0"/>
              <a:t>下载地址</a:t>
            </a:r>
            <a:r>
              <a:rPr lang="en-US" altLang="zh-CN" dirty="0"/>
              <a:t>https://github.com/facebookresearch/llama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763380" y="6161007"/>
            <a:ext cx="5426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git</a:t>
            </a:r>
            <a:r>
              <a:rPr lang="en-US" altLang="zh-CN" dirty="0"/>
              <a:t> clone https://github.com/facebookresearch/llama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909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F93B1-8575-4476-997A-2768FFA8D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31438-1BE1-42DD-AAA4-85127D8EE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1.Python </a:t>
            </a:r>
            <a:r>
              <a:rPr lang="zh-CN" altLang="en-US" dirty="0"/>
              <a:t>编程环境设置</a:t>
            </a:r>
            <a:endParaRPr lang="en-US" altLang="zh-CN" dirty="0"/>
          </a:p>
          <a:p>
            <a:r>
              <a:rPr lang="en-US" altLang="zh-CN" dirty="0"/>
              <a:t>2.Numpy</a:t>
            </a:r>
            <a:r>
              <a:rPr lang="zh-CN" altLang="en-US" dirty="0"/>
              <a:t>基础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基于百度</a:t>
            </a:r>
            <a:r>
              <a:rPr lang="en-US" altLang="zh-CN" dirty="0"/>
              <a:t>/</a:t>
            </a:r>
            <a:r>
              <a:rPr lang="zh-CN" altLang="en-US" dirty="0"/>
              <a:t>高德地理数据的获取</a:t>
            </a:r>
            <a:endParaRPr lang="en-US" altLang="zh-CN" dirty="0"/>
          </a:p>
          <a:p>
            <a:r>
              <a:rPr lang="en-US" altLang="zh-CN" dirty="0"/>
              <a:t>4.Python</a:t>
            </a:r>
            <a:r>
              <a:rPr lang="zh-CN" altLang="en-US" dirty="0"/>
              <a:t>数据处理</a:t>
            </a:r>
            <a:endParaRPr lang="en-US" altLang="zh-CN" dirty="0"/>
          </a:p>
          <a:p>
            <a:r>
              <a:rPr lang="en-US" altLang="zh-CN" dirty="0"/>
              <a:t>5.Python</a:t>
            </a:r>
            <a:r>
              <a:rPr lang="zh-CN" altLang="en-US" dirty="0"/>
              <a:t>数据可视化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 机器学习建模</a:t>
            </a:r>
            <a:endParaRPr lang="en-US" altLang="zh-CN" dirty="0"/>
          </a:p>
          <a:p>
            <a:pPr lvl="1"/>
            <a:r>
              <a:rPr lang="zh-CN" altLang="en-US" dirty="0"/>
              <a:t>多元回归</a:t>
            </a:r>
            <a:endParaRPr lang="en-US" altLang="zh-CN" dirty="0"/>
          </a:p>
          <a:p>
            <a:pPr lvl="1"/>
            <a:r>
              <a:rPr lang="zh-CN" altLang="en-US" dirty="0"/>
              <a:t>支持向量机（</a:t>
            </a:r>
            <a:r>
              <a:rPr lang="en-US" altLang="zh-CN" dirty="0"/>
              <a:t>SVM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卷积神经网络（</a:t>
            </a:r>
            <a:r>
              <a:rPr lang="en-US" altLang="zh-CN" dirty="0"/>
              <a:t>BP</a:t>
            </a:r>
            <a:r>
              <a:rPr lang="zh-CN" altLang="en-US" dirty="0"/>
              <a:t>原理）</a:t>
            </a:r>
            <a:endParaRPr lang="en-US" altLang="zh-CN" dirty="0"/>
          </a:p>
          <a:p>
            <a:pPr lvl="1"/>
            <a:r>
              <a:rPr lang="zh-CN" altLang="en-US" dirty="0"/>
              <a:t>模型交叉验证</a:t>
            </a:r>
            <a:endParaRPr lang="en-US" altLang="zh-CN" dirty="0"/>
          </a:p>
          <a:p>
            <a:pPr lvl="1"/>
            <a:r>
              <a:rPr lang="zh-CN" altLang="en-US" dirty="0"/>
              <a:t>模型预测</a:t>
            </a:r>
          </a:p>
        </p:txBody>
      </p:sp>
    </p:spTree>
    <p:extLst>
      <p:ext uri="{BB962C8B-B14F-4D97-AF65-F5344CB8AC3E}">
        <p14:creationId xmlns:p14="http://schemas.microsoft.com/office/powerpoint/2010/main" val="238746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BDE16-3A81-482D-95CB-A899119D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2FEEC-9CAA-4251-A740-4618E5741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40347" cy="4351338"/>
          </a:xfrm>
        </p:spPr>
        <p:txBody>
          <a:bodyPr/>
          <a:lstStyle/>
          <a:p>
            <a:r>
              <a:rPr lang="zh-CN" altLang="en-US" dirty="0"/>
              <a:t>周志华</a:t>
            </a:r>
            <a:r>
              <a:rPr lang="en-US" altLang="zh-CN" dirty="0"/>
              <a:t>. </a:t>
            </a:r>
            <a:r>
              <a:rPr lang="zh-CN" altLang="en-US" dirty="0"/>
              <a:t>机器学习</a:t>
            </a:r>
            <a:r>
              <a:rPr lang="en-US" altLang="zh-CN" dirty="0"/>
              <a:t>. </a:t>
            </a:r>
            <a:r>
              <a:rPr lang="zh-CN" altLang="en-US" dirty="0"/>
              <a:t>清华大学出版社</a:t>
            </a:r>
            <a:endParaRPr lang="en-US" altLang="zh-CN" dirty="0"/>
          </a:p>
          <a:p>
            <a:r>
              <a:rPr lang="en-US" altLang="zh-CN" dirty="0"/>
              <a:t>Joel Grus</a:t>
            </a:r>
            <a:r>
              <a:rPr lang="zh-CN" altLang="en-US" dirty="0"/>
              <a:t>著</a:t>
            </a:r>
            <a:r>
              <a:rPr lang="en-US" altLang="zh-CN" dirty="0"/>
              <a:t>, </a:t>
            </a:r>
            <a:r>
              <a:rPr lang="zh-CN" altLang="en-US" dirty="0"/>
              <a:t>高蓉</a:t>
            </a:r>
            <a:r>
              <a:rPr lang="en-US" altLang="zh-CN" dirty="0"/>
              <a:t>, </a:t>
            </a:r>
            <a:r>
              <a:rPr lang="zh-CN" altLang="en-US" dirty="0"/>
              <a:t>韩波译</a:t>
            </a:r>
            <a:r>
              <a:rPr lang="en-US" altLang="zh-CN" dirty="0"/>
              <a:t>. </a:t>
            </a:r>
            <a:r>
              <a:rPr lang="zh-CN" altLang="en-US" dirty="0"/>
              <a:t>数据科学入门</a:t>
            </a:r>
            <a:r>
              <a:rPr lang="en-US" altLang="zh-CN" dirty="0"/>
              <a:t>. </a:t>
            </a:r>
            <a:r>
              <a:rPr lang="zh-CN" altLang="en-US" dirty="0"/>
              <a:t>人民邮电出版社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唐亘</a:t>
            </a:r>
            <a:r>
              <a:rPr lang="en-US" altLang="zh-CN" dirty="0"/>
              <a:t>. </a:t>
            </a:r>
            <a:r>
              <a:rPr lang="zh-CN" altLang="en-US" dirty="0"/>
              <a:t>精通数据科学：从线性回归到深度学习</a:t>
            </a:r>
            <a:r>
              <a:rPr lang="en-US" altLang="zh-CN" dirty="0"/>
              <a:t>. </a:t>
            </a:r>
            <a:r>
              <a:rPr lang="zh-CN" altLang="en-US" dirty="0"/>
              <a:t>人民邮电出版社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1028" name="Picture 4" descr="《机器学习 周志华 西瓜书 人工智能的机器学习中文教科》【摘要 书评 试读】- 京东图书">
            <a:extLst>
              <a:ext uri="{FF2B5EF4-FFF2-40B4-BE49-F238E27FC236}">
                <a16:creationId xmlns:a16="http://schemas.microsoft.com/office/drawing/2014/main" id="{68635CF4-C0D9-497F-BD74-110E5A6F5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2" y="4019832"/>
            <a:ext cx="2714949" cy="2714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数据科学入门 - 多抓鱼二手书">
            <a:extLst>
              <a:ext uri="{FF2B5EF4-FFF2-40B4-BE49-F238E27FC236}">
                <a16:creationId xmlns:a16="http://schemas.microsoft.com/office/drawing/2014/main" id="{56E4393F-68DC-48B9-95FD-13BC499DE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986" y="3906417"/>
            <a:ext cx="2288546" cy="295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img2.doubanio.com/view/subject/l/public/s32332172.jpg">
            <a:extLst>
              <a:ext uri="{FF2B5EF4-FFF2-40B4-BE49-F238E27FC236}">
                <a16:creationId xmlns:a16="http://schemas.microsoft.com/office/drawing/2014/main" id="{4A92D5AD-112F-454F-B671-489DBE0C4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987" y="3899545"/>
            <a:ext cx="2220686" cy="295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18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98A04-B643-4001-B0B2-0D53B928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编程的环境设置及安装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F7CE0-5870-43EC-A48B-EB2D216E0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11090564" cy="5199938"/>
          </a:xfrm>
        </p:spPr>
        <p:txBody>
          <a:bodyPr/>
          <a:lstStyle/>
          <a:p>
            <a:r>
              <a:rPr lang="pt-BR" altLang="zh-CN" dirty="0"/>
              <a:t>Anaconda </a:t>
            </a:r>
            <a:r>
              <a:rPr lang="zh-CN" altLang="pt-BR" dirty="0"/>
              <a:t>安装</a:t>
            </a:r>
            <a:endParaRPr lang="en-US" altLang="zh-CN" dirty="0"/>
          </a:p>
          <a:p>
            <a:r>
              <a:rPr lang="zh-CN" altLang="en-US" dirty="0"/>
              <a:t>清华镜像下载：</a:t>
            </a:r>
            <a:r>
              <a:rPr lang="pt-BR" altLang="zh-CN" dirty="0">
                <a:hlinkClick r:id="rId2"/>
              </a:rPr>
              <a:t>https://mirrors.tuna.tsinghua.edu.cn/anaconda/archive/</a:t>
            </a:r>
            <a:endParaRPr lang="pt-BR" altLang="zh-CN" dirty="0"/>
          </a:p>
          <a:p>
            <a:r>
              <a:rPr lang="zh-CN" altLang="en-US" dirty="0"/>
              <a:t>选择近半年发布的安装包（非最新发布）：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FACD46-939F-4BFC-BB89-6072D65FF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4435732"/>
            <a:ext cx="10247619" cy="2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1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9348F-5B1A-402D-9B44-5F36F2FF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2" y="116309"/>
            <a:ext cx="10515600" cy="1325563"/>
          </a:xfrm>
        </p:spPr>
        <p:txBody>
          <a:bodyPr/>
          <a:lstStyle/>
          <a:p>
            <a:r>
              <a:rPr lang="en-US" altLang="zh-CN" dirty="0"/>
              <a:t>1.2Windows</a:t>
            </a:r>
            <a:r>
              <a:rPr lang="zh-CN" altLang="en-US" dirty="0"/>
              <a:t>下</a:t>
            </a:r>
            <a:r>
              <a:rPr lang="en-US" altLang="zh-CN" dirty="0"/>
              <a:t>Anaconda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B04B1E-96DB-425F-B953-90B14BA2E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44" y="1626572"/>
            <a:ext cx="7018176" cy="4351338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Anaconda</a:t>
            </a:r>
            <a:r>
              <a:rPr lang="zh-CN" altLang="en-US" dirty="0"/>
              <a:t>加入环境变量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Anaconda</a:t>
            </a:r>
            <a:r>
              <a:rPr lang="zh-CN" altLang="en-US" dirty="0"/>
              <a:t>作为默认的</a:t>
            </a:r>
            <a:r>
              <a:rPr lang="en-US" altLang="zh-CN" dirty="0"/>
              <a:t>Python</a:t>
            </a:r>
            <a:r>
              <a:rPr lang="zh-CN" altLang="en-US" dirty="0"/>
              <a:t>应用（</a:t>
            </a:r>
            <a:r>
              <a:rPr lang="en-US" altLang="zh-CN" dirty="0"/>
              <a:t>Mac</a:t>
            </a:r>
            <a:r>
              <a:rPr lang="zh-CN" altLang="en-US" dirty="0"/>
              <a:t>电脑自带</a:t>
            </a:r>
            <a:r>
              <a:rPr lang="en-US" altLang="zh-CN" dirty="0"/>
              <a:t>Python2.7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选择“为所有用户”安装</a:t>
            </a:r>
          </a:p>
        </p:txBody>
      </p:sp>
      <p:pic>
        <p:nvPicPr>
          <p:cNvPr id="2050" name="Picture 2" descr="linux conda添加镜像,Anaconda安装、设置镜像和使用三合一_weixin_39902472的博客-CSDN博客">
            <a:extLst>
              <a:ext uri="{FF2B5EF4-FFF2-40B4-BE49-F238E27FC236}">
                <a16:creationId xmlns:a16="http://schemas.microsoft.com/office/drawing/2014/main" id="{83126021-5928-45D1-B187-A88735A02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271" y="651587"/>
            <a:ext cx="3903280" cy="303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pic4.zhimg.com/v2-cdcea9b762272fefecad397f6c96b0cb_r.jpg">
            <a:extLst>
              <a:ext uri="{FF2B5EF4-FFF2-40B4-BE49-F238E27FC236}">
                <a16:creationId xmlns:a16="http://schemas.microsoft.com/office/drawing/2014/main" id="{19D3F179-5EA4-45D5-843B-D2BB274E2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271" y="3718248"/>
            <a:ext cx="3951336" cy="30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B0DFEE06-4FD6-42EC-801A-89B6E8CFA517}"/>
              </a:ext>
            </a:extLst>
          </p:cNvPr>
          <p:cNvSpPr/>
          <p:nvPr/>
        </p:nvSpPr>
        <p:spPr>
          <a:xfrm>
            <a:off x="8210941" y="5262465"/>
            <a:ext cx="1617306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9D802B22-0993-43AD-B5D5-55B357A1568B}"/>
              </a:ext>
            </a:extLst>
          </p:cNvPr>
          <p:cNvSpPr/>
          <p:nvPr/>
        </p:nvSpPr>
        <p:spPr>
          <a:xfrm>
            <a:off x="8210941" y="5001208"/>
            <a:ext cx="180390" cy="20527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E7E1D1-AA44-4A4F-8E38-94C1C48AB007}"/>
              </a:ext>
            </a:extLst>
          </p:cNvPr>
          <p:cNvCxnSpPr>
            <a:cxnSpLocks/>
          </p:cNvCxnSpPr>
          <p:nvPr/>
        </p:nvCxnSpPr>
        <p:spPr>
          <a:xfrm>
            <a:off x="5113176" y="1723052"/>
            <a:ext cx="32781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5331083-46EF-422A-8BA3-87EE3CB47DFD}"/>
              </a:ext>
            </a:extLst>
          </p:cNvPr>
          <p:cNvCxnSpPr>
            <a:cxnSpLocks/>
          </p:cNvCxnSpPr>
          <p:nvPr/>
        </p:nvCxnSpPr>
        <p:spPr>
          <a:xfrm>
            <a:off x="7405396" y="2373085"/>
            <a:ext cx="9859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FB784E3-1FA1-49C7-BECF-E3B8E2BBCBD5}"/>
              </a:ext>
            </a:extLst>
          </p:cNvPr>
          <p:cNvCxnSpPr>
            <a:cxnSpLocks/>
          </p:cNvCxnSpPr>
          <p:nvPr/>
        </p:nvCxnSpPr>
        <p:spPr>
          <a:xfrm>
            <a:off x="4466253" y="3342691"/>
            <a:ext cx="3744688" cy="19197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80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FE9FE-20BD-4593-AE45-DCE2D5C7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下</a:t>
            </a:r>
            <a:r>
              <a:rPr lang="en-US" altLang="zh-CN" dirty="0"/>
              <a:t>Anaconda</a:t>
            </a:r>
            <a:r>
              <a:rPr lang="zh-CN" altLang="en-US" dirty="0"/>
              <a:t>安装要点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77DB24-EA4A-4249-932B-44B0A464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1824" cy="4351338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Anaconda</a:t>
            </a:r>
            <a:r>
              <a:rPr lang="zh-CN" altLang="en-US" dirty="0"/>
              <a:t>安装至根文件夹下</a:t>
            </a:r>
          </a:p>
        </p:txBody>
      </p:sp>
      <p:pic>
        <p:nvPicPr>
          <p:cNvPr id="3074" name="Picture 2" descr="https://pic4.zhimg.com/v2-0f8ea6aad7a8e377dac47a15645b915f_r.jpg">
            <a:extLst>
              <a:ext uri="{FF2B5EF4-FFF2-40B4-BE49-F238E27FC236}">
                <a16:creationId xmlns:a16="http://schemas.microsoft.com/office/drawing/2014/main" id="{799FFC4C-88B3-471E-87C5-F9E606B7A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478" y="1517796"/>
            <a:ext cx="6401906" cy="496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218F2F4-A514-436A-A23A-C49EF1FC2E28}"/>
              </a:ext>
            </a:extLst>
          </p:cNvPr>
          <p:cNvCxnSpPr>
            <a:cxnSpLocks/>
          </p:cNvCxnSpPr>
          <p:nvPr/>
        </p:nvCxnSpPr>
        <p:spPr>
          <a:xfrm>
            <a:off x="2391745" y="2469113"/>
            <a:ext cx="3654492" cy="2146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5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BD6E4-74A4-4D0D-889F-C5EC5B29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1.3Windows</a:t>
            </a:r>
            <a:r>
              <a:rPr lang="zh-CN" altLang="en-US" dirty="0"/>
              <a:t>下</a:t>
            </a:r>
            <a:r>
              <a:rPr lang="en-US" altLang="zh-CN" dirty="0" err="1"/>
              <a:t>Anconda</a:t>
            </a:r>
            <a:r>
              <a:rPr lang="zh-CN" altLang="en-US" dirty="0"/>
              <a:t>安装问题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C4C589-F37A-4F33-B05C-D3EF5734B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7163" cy="4351338"/>
          </a:xfrm>
        </p:spPr>
        <p:txBody>
          <a:bodyPr/>
          <a:lstStyle/>
          <a:p>
            <a:r>
              <a:rPr lang="zh-CN" altLang="en-US" dirty="0"/>
              <a:t>若无法在</a:t>
            </a:r>
            <a:r>
              <a:rPr lang="en-US" altLang="zh-CN" dirty="0"/>
              <a:t>PowerShell</a:t>
            </a:r>
            <a:r>
              <a:rPr lang="zh-CN" altLang="en-US" dirty="0"/>
              <a:t>下启动</a:t>
            </a:r>
            <a:r>
              <a:rPr lang="en-US" altLang="zh-CN" dirty="0"/>
              <a:t>Python</a:t>
            </a:r>
          </a:p>
          <a:p>
            <a:r>
              <a:rPr lang="zh-CN" altLang="en-US" dirty="0"/>
              <a:t>检查环境变量，检查</a:t>
            </a:r>
            <a:r>
              <a:rPr lang="en-US" altLang="zh-CN" dirty="0"/>
              <a:t>5</a:t>
            </a:r>
            <a:r>
              <a:rPr lang="zh-CN" altLang="en-US" dirty="0"/>
              <a:t>个文件夹是否加入了系统路径</a:t>
            </a:r>
          </a:p>
        </p:txBody>
      </p:sp>
      <p:pic>
        <p:nvPicPr>
          <p:cNvPr id="4098" name="Picture 2" descr="https://pic2.zhimg.com/v2-da39df7b19899ccbe58e785672ce9165_r.jpg">
            <a:extLst>
              <a:ext uri="{FF2B5EF4-FFF2-40B4-BE49-F238E27FC236}">
                <a16:creationId xmlns:a16="http://schemas.microsoft.com/office/drawing/2014/main" id="{F11499D4-ACF2-4735-BF4A-6ED39EBEA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515" y="1747951"/>
            <a:ext cx="5033023" cy="487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5199CAF-3DB9-4712-A5B7-F0B383C1E00C}"/>
              </a:ext>
            </a:extLst>
          </p:cNvPr>
          <p:cNvCxnSpPr/>
          <p:nvPr/>
        </p:nvCxnSpPr>
        <p:spPr>
          <a:xfrm>
            <a:off x="4422710" y="3016898"/>
            <a:ext cx="2488163" cy="584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608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什么是机器学习</a:t>
            </a:r>
            <a:endParaRPr lang="en-US" altLang="zh-CN" dirty="0"/>
          </a:p>
          <a:p>
            <a:r>
              <a:rPr lang="en-US" altLang="zh-CN" dirty="0"/>
              <a:t>Machine learning is a set of methods that computers use to make and improve predictions or behaviors based on data.</a:t>
            </a:r>
          </a:p>
          <a:p>
            <a:r>
              <a:rPr lang="zh-CN" altLang="en-US" dirty="0"/>
              <a:t>从定义看出：</a:t>
            </a:r>
            <a:endParaRPr lang="en-US" altLang="zh-CN" dirty="0"/>
          </a:p>
          <a:p>
            <a:pPr lvl="1"/>
            <a:r>
              <a:rPr lang="zh-CN" altLang="en-US" dirty="0"/>
              <a:t>机器学习依赖于大数据构建模型（模型训练）。这个特点和常规的建模方法不一样，运筹学是构建数学模型，确定算法，得到最优结果，因此运筹学不依赖大数据建模。</a:t>
            </a:r>
            <a:endParaRPr lang="en-US" altLang="zh-CN" dirty="0"/>
          </a:p>
          <a:p>
            <a:pPr lvl="1"/>
            <a:r>
              <a:rPr lang="zh-CN" altLang="en-US" dirty="0"/>
              <a:t>机器学习可以对新的数据进行预测（模型预测）。训练后的机器学习模型可以存储在芯片、电脑中，预测时不需要历史数据，可直接对输入数据进行预测，因而计算速度高。运筹学模型没有预测能力。</a:t>
            </a:r>
          </a:p>
        </p:txBody>
      </p:sp>
    </p:spTree>
    <p:extLst>
      <p:ext uri="{BB962C8B-B14F-4D97-AF65-F5344CB8AC3E}">
        <p14:creationId xmlns:p14="http://schemas.microsoft.com/office/powerpoint/2010/main" val="299752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机器学习的优势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s://christophm.github.io/interpretable-ml-book/images/programing-m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551" y="1825625"/>
            <a:ext cx="8752898" cy="441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08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机器学习的步骤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第一步：数据收集</a:t>
                </a:r>
                <a:r>
                  <a:rPr lang="en-US" altLang="zh-CN" dirty="0"/>
                  <a:t>Data collection</a:t>
                </a:r>
              </a:p>
              <a:p>
                <a:r>
                  <a:rPr lang="zh-CN" altLang="en-US" dirty="0"/>
                  <a:t>数据多多益善，收集的数据必须包含希望预测的数据项（预测变量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），以及额外的信息，这些额外的信息是做预测的依据（独立变量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第二步：使用各种算法构建模型，进行训练。</a:t>
                </a:r>
                <a:endParaRPr lang="en-US" altLang="zh-CN" dirty="0"/>
              </a:p>
              <a:p>
                <a:r>
                  <a:rPr lang="zh-CN" altLang="en-US" dirty="0"/>
                  <a:t>第三步：对新数据预测。将模型集成到产品中，如自动驾驶，网站广告推送系统，信用卡申请系统。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123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机器学习、深度学习、强化学习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48745" cy="4351338"/>
          </a:xfrm>
        </p:spPr>
        <p:txBody>
          <a:bodyPr/>
          <a:lstStyle/>
          <a:p>
            <a:r>
              <a:rPr lang="zh-CN" altLang="en-US" dirty="0"/>
              <a:t>机器学习包含监督学习、无监督学习、深度学习、强化学习；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arxiv.org/pdf/1810.06339.pdf</a:t>
            </a:r>
            <a:endParaRPr lang="en-US" altLang="zh-CN" dirty="0"/>
          </a:p>
          <a:p>
            <a:r>
              <a:rPr lang="en-US" altLang="zh-CN" dirty="0"/>
              <a:t>Alpha Go</a:t>
            </a:r>
            <a:r>
              <a:rPr lang="zh-CN" altLang="en-US" dirty="0"/>
              <a:t>采用的是强化学习技术，深度学习主要用于识别棋子等图形；</a:t>
            </a:r>
            <a:endParaRPr lang="en-US" altLang="zh-CN" dirty="0"/>
          </a:p>
          <a:p>
            <a:r>
              <a:rPr lang="zh-CN" altLang="en-US" dirty="0"/>
              <a:t>目前深度学习、强化学习在运筹优化方面的应用较少；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976" y="1396532"/>
            <a:ext cx="5133333" cy="5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02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程序猿编程的日常</a:t>
            </a:r>
          </a:p>
        </p:txBody>
      </p:sp>
      <p:sp>
        <p:nvSpPr>
          <p:cNvPr id="4" name="AutoShape 2" descr="https://wx3.sinaimg.cn/large/70a90346gy1g40tvldjo6j20d70da0tw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355" y="782934"/>
            <a:ext cx="5706427" cy="574246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6266" y="2011680"/>
            <a:ext cx="4490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https://weibo.com/2348604107/HpJOdjdqF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04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Numpy</a:t>
            </a:r>
            <a:r>
              <a:rPr lang="en-US" altLang="zh-CN" dirty="0"/>
              <a:t> 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）创建数组</a:t>
            </a:r>
            <a:endParaRPr lang="en-US" altLang="zh-CN" dirty="0"/>
          </a:p>
          <a:p>
            <a:r>
              <a:rPr lang="en-US" altLang="zh-CN" dirty="0"/>
              <a:t>array</a:t>
            </a:r>
            <a:r>
              <a:rPr lang="zh-CN" altLang="en-US" dirty="0"/>
              <a:t>函数将列表转化为数组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生成特殊数组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89544" y="2514600"/>
            <a:ext cx="2694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np.array</a:t>
            </a:r>
            <a:r>
              <a:rPr lang="en-US" altLang="zh-CN" sz="2000" dirty="0"/>
              <a:t>([1,2,3]) </a:t>
            </a:r>
          </a:p>
          <a:p>
            <a:r>
              <a:rPr lang="en-US" altLang="zh-CN" sz="2000" dirty="0" err="1"/>
              <a:t>np.array</a:t>
            </a:r>
            <a:r>
              <a:rPr lang="en-US" altLang="zh-CN" sz="2000" dirty="0"/>
              <a:t>([[1,2,3],[4,5,6]]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26188" y="4162336"/>
                <a:ext cx="362712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#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2×3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全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数组</a:t>
                </a:r>
                <a:endParaRPr lang="en-US" altLang="zh-CN" sz="2000" dirty="0"/>
              </a:p>
              <a:p>
                <a:r>
                  <a:rPr lang="en-US" altLang="zh-CN" sz="2000" dirty="0" err="1"/>
                  <a:t>np.zeros</a:t>
                </a:r>
                <a:r>
                  <a:rPr lang="en-US" altLang="zh-CN" sz="2000" dirty="0"/>
                  <a:t>((2,3) )</a:t>
                </a:r>
              </a:p>
              <a:p>
                <a:r>
                  <a:rPr lang="en-US" altLang="zh-CN" sz="2000" dirty="0"/>
                  <a:t>#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2×3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全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数组</a:t>
                </a:r>
                <a:endParaRPr lang="en-US" altLang="zh-CN" sz="2000" dirty="0"/>
              </a:p>
              <a:p>
                <a:r>
                  <a:rPr lang="en-US" altLang="zh-CN" sz="2000" dirty="0" err="1"/>
                  <a:t>np.ones</a:t>
                </a:r>
                <a:r>
                  <a:rPr lang="en-US" altLang="zh-CN" sz="2000" dirty="0"/>
                  <a:t>((2,3))</a:t>
                </a:r>
              </a:p>
              <a:p>
                <a:r>
                  <a:rPr lang="en-US" altLang="zh-CN" sz="2000" dirty="0"/>
                  <a:t># </a:t>
                </a:r>
                <a:r>
                  <a:rPr lang="zh-CN" altLang="en-US" sz="2000" dirty="0"/>
                  <a:t>空数组</a:t>
                </a:r>
                <a:endParaRPr lang="en-US" altLang="zh-CN" sz="2000" dirty="0"/>
              </a:p>
              <a:p>
                <a:r>
                  <a:rPr lang="en-US" altLang="zh-CN" sz="2000" dirty="0" err="1"/>
                  <a:t>np.empty</a:t>
                </a:r>
                <a:r>
                  <a:rPr lang="en-US" altLang="zh-CN" sz="2000" dirty="0"/>
                  <a:t>((4,2))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188" y="4162336"/>
                <a:ext cx="3627120" cy="2246769"/>
              </a:xfrm>
              <a:prstGeom prst="rect">
                <a:avLst/>
              </a:prstGeom>
              <a:blipFill>
                <a:blip r:embed="rId2"/>
                <a:stretch>
                  <a:fillRect l="-1681" t="-1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586508" y="4200064"/>
                <a:ext cx="48945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#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对角线数组</a:t>
                </a:r>
                <a:endParaRPr lang="en-US" altLang="zh-CN" sz="2000" dirty="0"/>
              </a:p>
              <a:p>
                <a:r>
                  <a:rPr lang="en-US" altLang="zh-CN" sz="2000" dirty="0" err="1"/>
                  <a:t>np.eye</a:t>
                </a:r>
                <a:r>
                  <a:rPr lang="en-US" altLang="zh-CN" sz="2000" dirty="0"/>
                  <a:t>(3,3) </a:t>
                </a:r>
              </a:p>
              <a:p>
                <a:r>
                  <a:rPr lang="en-US" altLang="zh-CN" sz="2000" dirty="0" err="1"/>
                  <a:t>np.identity</a:t>
                </a:r>
                <a:r>
                  <a:rPr lang="en-US" altLang="zh-CN" sz="2000" dirty="0"/>
                  <a:t>(3)</a:t>
                </a:r>
              </a:p>
              <a:p>
                <a:r>
                  <a:rPr lang="en-US" altLang="zh-CN" sz="2000" dirty="0"/>
                  <a:t># </a:t>
                </a:r>
                <a:r>
                  <a:rPr lang="zh-CN" altLang="en-US" sz="2000" dirty="0"/>
                  <a:t>序列数组</a:t>
                </a:r>
                <a:endParaRPr lang="en-US" altLang="zh-CN" sz="2000" dirty="0"/>
              </a:p>
              <a:p>
                <a:r>
                  <a:rPr lang="en-US" altLang="zh-CN" sz="2000" dirty="0" err="1"/>
                  <a:t>np.arange</a:t>
                </a:r>
                <a:r>
                  <a:rPr lang="en-US" altLang="zh-CN" sz="2000" dirty="0"/>
                  <a:t>(start=0.5, stop=20, step=0.2)</a:t>
                </a:r>
              </a:p>
              <a:p>
                <a:r>
                  <a:rPr lang="en-US" altLang="zh-CN" sz="2000" dirty="0"/>
                  <a:t>np. </a:t>
                </a:r>
                <a:r>
                  <a:rPr lang="en-US" altLang="zh-CN" sz="2000" dirty="0" err="1"/>
                  <a:t>linspace</a:t>
                </a:r>
                <a:r>
                  <a:rPr lang="en-US" altLang="zh-CN" sz="2000" dirty="0"/>
                  <a:t>(start=0.5, stop=20, </a:t>
                </a:r>
                <a:r>
                  <a:rPr lang="en-US" altLang="zh-CN" sz="2000" dirty="0" err="1"/>
                  <a:t>num</a:t>
                </a:r>
                <a:r>
                  <a:rPr lang="en-US" altLang="zh-CN" sz="2000" dirty="0"/>
                  <a:t>=10)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508" y="4200064"/>
                <a:ext cx="4894552" cy="1938992"/>
              </a:xfrm>
              <a:prstGeom prst="rect">
                <a:avLst/>
              </a:prstGeom>
              <a:blipFill>
                <a:blip r:embed="rId3"/>
                <a:stretch>
                  <a:fillRect l="-1245" t="-1887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481060" y="4661728"/>
                <a:ext cx="347723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# </a:t>
                </a:r>
                <a:r>
                  <a:rPr lang="zh-CN" altLang="en-US" dirty="0"/>
                  <a:t>画出</a:t>
                </a:r>
                <a:r>
                  <a:rPr lang="en-US" altLang="zh-CN" dirty="0"/>
                  <a:t>[-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dirty="0"/>
                  <a:t>]</a:t>
                </a:r>
                <a:r>
                  <a:rPr lang="zh-CN" altLang="en-US" dirty="0"/>
                  <a:t>上的</a:t>
                </a:r>
                <a:r>
                  <a:rPr lang="en-US" altLang="zh-CN" dirty="0"/>
                  <a:t>cos</a:t>
                </a:r>
                <a:r>
                  <a:rPr lang="zh-CN" altLang="en-US" dirty="0"/>
                  <a:t>曲线</a:t>
                </a:r>
                <a:endParaRPr lang="en-US" altLang="zh-CN" dirty="0"/>
              </a:p>
              <a:p>
                <a:r>
                  <a:rPr lang="en-US" altLang="zh-CN" dirty="0"/>
                  <a:t>import </a:t>
                </a:r>
                <a:r>
                  <a:rPr lang="en-US" altLang="zh-CN" dirty="0" err="1"/>
                  <a:t>matplotlib.pyplot</a:t>
                </a:r>
                <a:r>
                  <a:rPr lang="en-US" altLang="zh-CN" dirty="0"/>
                  <a:t> as </a:t>
                </a:r>
                <a:r>
                  <a:rPr lang="en-US" altLang="zh-CN" dirty="0" err="1"/>
                  <a:t>plt</a:t>
                </a:r>
                <a:endParaRPr lang="en-US" altLang="zh-CN" dirty="0"/>
              </a:p>
              <a:p>
                <a:r>
                  <a:rPr lang="en-US" altLang="zh-CN" dirty="0"/>
                  <a:t>x = </a:t>
                </a:r>
                <a:r>
                  <a:rPr lang="en-US" altLang="zh-CN" dirty="0" err="1"/>
                  <a:t>np.linspace</a:t>
                </a:r>
                <a:r>
                  <a:rPr lang="en-US" altLang="zh-CN" dirty="0"/>
                  <a:t>(-</a:t>
                </a:r>
                <a:r>
                  <a:rPr lang="en-US" altLang="zh-CN" dirty="0" err="1"/>
                  <a:t>np.pi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np.pi</a:t>
                </a:r>
                <a:r>
                  <a:rPr lang="en-US" altLang="zh-CN" dirty="0"/>
                  <a:t>, 50)</a:t>
                </a:r>
              </a:p>
              <a:p>
                <a:r>
                  <a:rPr lang="en-US" altLang="zh-CN" dirty="0"/>
                  <a:t>y = list(map(</a:t>
                </a:r>
                <a:r>
                  <a:rPr lang="en-US" altLang="zh-CN" dirty="0" err="1"/>
                  <a:t>np.cos</a:t>
                </a:r>
                <a:r>
                  <a:rPr lang="en-US" altLang="zh-CN" dirty="0"/>
                  <a:t>, x))</a:t>
                </a:r>
              </a:p>
              <a:p>
                <a:r>
                  <a:rPr lang="en-US" altLang="zh-CN" dirty="0" err="1"/>
                  <a:t>plt.scatter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x,y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060" y="4661728"/>
                <a:ext cx="3477234" cy="1477328"/>
              </a:xfrm>
              <a:prstGeom prst="rect">
                <a:avLst/>
              </a:prstGeom>
              <a:blipFill>
                <a:blip r:embed="rId4"/>
                <a:stretch>
                  <a:fillRect l="-1401" t="-2479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9964" t="-715" r="7120"/>
          <a:stretch/>
        </p:blipFill>
        <p:spPr>
          <a:xfrm>
            <a:off x="8773262" y="917080"/>
            <a:ext cx="2892829" cy="351381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26188" y="6445525"/>
            <a:ext cx="651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常用的数据开发工具</a:t>
            </a:r>
            <a:r>
              <a:rPr lang="en-US" altLang="zh-CN" dirty="0"/>
              <a:t>https://weibo.com/1402400261/I5GuVecvY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889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 </a:t>
            </a:r>
            <a:r>
              <a:rPr lang="zh-CN" altLang="en-US" dirty="0"/>
              <a:t>函数中的值传递与地址传递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函数参数如果是</a:t>
            </a:r>
            <a:r>
              <a:rPr lang="en-US" altLang="zh-CN" dirty="0"/>
              <a:t>np</a:t>
            </a:r>
            <a:r>
              <a:rPr lang="zh-CN" altLang="en-US" dirty="0"/>
              <a:t>数组、列表，参数传递为地址传递，参数值会被修改；</a:t>
            </a:r>
            <a:endParaRPr lang="en-US" altLang="zh-CN" dirty="0"/>
          </a:p>
          <a:p>
            <a:r>
              <a:rPr lang="zh-CN" altLang="en-US" dirty="0"/>
              <a:t>函数参数如果是普通变量，参数传递为值传递，参数值无法改变；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836" y="2766580"/>
            <a:ext cx="4762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9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地址传递与值传递示例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46661" y="1729046"/>
            <a:ext cx="366158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地址传递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pass_ref</a:t>
            </a:r>
            <a:r>
              <a:rPr lang="en-US" altLang="zh-CN" dirty="0"/>
              <a:t>(y):</a:t>
            </a:r>
          </a:p>
          <a:p>
            <a:r>
              <a:rPr lang="en-US" altLang="zh-CN" dirty="0"/>
              <a:t>    y[0] = 50    </a:t>
            </a:r>
          </a:p>
          <a:p>
            <a:endParaRPr lang="en-US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np.random.randint</a:t>
            </a:r>
            <a:r>
              <a:rPr lang="en-US" altLang="zh-CN" dirty="0"/>
              <a:t>(1,10,size=6)</a:t>
            </a:r>
          </a:p>
          <a:p>
            <a:r>
              <a:rPr lang="en-US" altLang="zh-CN" dirty="0"/>
              <a:t>z = x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f"x,z</a:t>
            </a:r>
            <a:r>
              <a:rPr lang="en-US" altLang="zh-CN" dirty="0"/>
              <a:t> </a:t>
            </a:r>
            <a:r>
              <a:rPr lang="zh-CN" altLang="en-US" dirty="0"/>
              <a:t>共享地址，</a:t>
            </a:r>
            <a:r>
              <a:rPr lang="en-US" altLang="zh-CN" dirty="0"/>
              <a:t>x ={x}, z={z}")</a:t>
            </a:r>
          </a:p>
          <a:p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pass_ref</a:t>
            </a:r>
            <a:r>
              <a:rPr lang="en-US" altLang="zh-CN" dirty="0"/>
              <a:t>(x))</a:t>
            </a:r>
          </a:p>
          <a:p>
            <a:r>
              <a:rPr lang="en-US" altLang="zh-CN" dirty="0"/>
              <a:t>print("</a:t>
            </a:r>
            <a:r>
              <a:rPr lang="zh-CN" altLang="en-US" dirty="0"/>
              <a:t>地址传递 </a:t>
            </a:r>
            <a:r>
              <a:rPr lang="en-US" altLang="zh-CN" dirty="0"/>
              <a:t>x = ", x, "z = ", z)</a:t>
            </a:r>
          </a:p>
          <a:p>
            <a:endParaRPr lang="en-US" altLang="zh-CN" dirty="0"/>
          </a:p>
          <a:p>
            <a:r>
              <a:rPr lang="en-US" altLang="zh-CN" dirty="0"/>
              <a:t>z[4] = 100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f"x</a:t>
            </a:r>
            <a:r>
              <a:rPr lang="en-US" altLang="zh-CN" dirty="0"/>
              <a:t> = ", x, "z = ", z)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209607" y="1729046"/>
            <a:ext cx="42594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值传递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pass_val</a:t>
            </a:r>
            <a:r>
              <a:rPr lang="en-US" altLang="zh-CN" dirty="0"/>
              <a:t>(y):</a:t>
            </a:r>
          </a:p>
          <a:p>
            <a:r>
              <a:rPr lang="en-US" altLang="zh-CN" dirty="0"/>
              <a:t>    y = 40</a:t>
            </a:r>
          </a:p>
          <a:p>
            <a:endParaRPr lang="en-US" altLang="zh-CN" dirty="0"/>
          </a:p>
          <a:p>
            <a:r>
              <a:rPr lang="en-US" altLang="zh-CN" dirty="0"/>
              <a:t>x = 5</a:t>
            </a:r>
          </a:p>
          <a:p>
            <a:r>
              <a:rPr lang="en-US" altLang="zh-CN" dirty="0"/>
              <a:t>z = x</a:t>
            </a:r>
          </a:p>
          <a:p>
            <a:r>
              <a:rPr lang="en-US" altLang="zh-CN" dirty="0" err="1"/>
              <a:t>pass_val</a:t>
            </a:r>
            <a:r>
              <a:rPr lang="en-US" altLang="zh-CN" dirty="0"/>
              <a:t>(x)</a:t>
            </a:r>
          </a:p>
          <a:p>
            <a:r>
              <a:rPr lang="en-US" altLang="zh-CN" dirty="0"/>
              <a:t>print("</a:t>
            </a:r>
            <a:r>
              <a:rPr lang="zh-CN" altLang="en-US" dirty="0"/>
              <a:t>值传递 </a:t>
            </a:r>
            <a:r>
              <a:rPr lang="en-US" altLang="zh-CN" dirty="0"/>
              <a:t>x = ",x, " z =",z  )</a:t>
            </a:r>
          </a:p>
          <a:p>
            <a:r>
              <a:rPr lang="en-US" altLang="zh-CN" dirty="0"/>
              <a:t>z = 20</a:t>
            </a:r>
          </a:p>
          <a:p>
            <a:r>
              <a:rPr lang="en-US" altLang="zh-CN" dirty="0"/>
              <a:t>print("z, x </a:t>
            </a:r>
            <a:r>
              <a:rPr lang="zh-CN" altLang="en-US" dirty="0"/>
              <a:t>不共享地址， </a:t>
            </a:r>
            <a:r>
              <a:rPr lang="en-US" altLang="zh-CN" dirty="0"/>
              <a:t>x = ",x, " z =",z  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5906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遗传算法中的数组交叉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利用地址传递，实现数组交叉</a:t>
            </a:r>
          </a:p>
        </p:txBody>
      </p:sp>
      <p:sp>
        <p:nvSpPr>
          <p:cNvPr id="4" name="矩形 3"/>
          <p:cNvSpPr/>
          <p:nvPr/>
        </p:nvSpPr>
        <p:spPr>
          <a:xfrm>
            <a:off x="2673927" y="1934292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def chrom_cross(c1,c2, p1,p2):</a:t>
            </a:r>
          </a:p>
          <a:p>
            <a:r>
              <a:rPr lang="zh-CN" altLang="en-US" dirty="0"/>
              <a:t>    # 通过地址传递进行染色体交叉</a:t>
            </a:r>
          </a:p>
          <a:p>
            <a:r>
              <a:rPr lang="zh-CN" altLang="en-US" dirty="0"/>
              <a:t>    c1[p1:p2], c2[p1:p2] = c2[p1:p2].copy(), c1[p1:p2].copy()</a:t>
            </a:r>
          </a:p>
          <a:p>
            <a:r>
              <a:rPr lang="zh-CN" altLang="en-US" dirty="0"/>
              <a:t>    return</a:t>
            </a:r>
          </a:p>
          <a:p>
            <a:endParaRPr lang="zh-CN" altLang="en-US" dirty="0"/>
          </a:p>
          <a:p>
            <a:r>
              <a:rPr lang="zh-CN" altLang="en-US" dirty="0"/>
              <a:t>chrom1 = np.arange(1,10)</a:t>
            </a:r>
          </a:p>
          <a:p>
            <a:r>
              <a:rPr lang="zh-CN" altLang="en-US" dirty="0"/>
              <a:t>chrom2 = np.arange(1,10)</a:t>
            </a:r>
          </a:p>
          <a:p>
            <a:r>
              <a:rPr lang="zh-CN" altLang="en-US" dirty="0"/>
              <a:t>np.random.shuffle(chrom1)</a:t>
            </a:r>
          </a:p>
          <a:p>
            <a:r>
              <a:rPr lang="zh-CN" altLang="en-US" dirty="0"/>
              <a:t>np.random.shuffle(chrom2)</a:t>
            </a:r>
          </a:p>
          <a:p>
            <a:endParaRPr lang="zh-CN" altLang="en-US" dirty="0"/>
          </a:p>
          <a:p>
            <a:r>
              <a:rPr lang="zh-CN" altLang="en-US" dirty="0"/>
              <a:t>print("before chrom1 =", chrom1, " , chrom2", chrom2)</a:t>
            </a:r>
          </a:p>
          <a:p>
            <a:r>
              <a:rPr lang="zh-CN" altLang="en-US" dirty="0"/>
              <a:t>chrom_cross(chrom1, chrom2, 3,6)</a:t>
            </a:r>
          </a:p>
          <a:p>
            <a:r>
              <a:rPr lang="zh-CN" altLang="en-US" dirty="0"/>
              <a:t>print("after chrom1  =", chrom1, " , chrom2", chrom2)</a:t>
            </a:r>
          </a:p>
        </p:txBody>
      </p:sp>
    </p:spTree>
    <p:extLst>
      <p:ext uri="{BB962C8B-B14F-4D97-AF65-F5344CB8AC3E}">
        <p14:creationId xmlns:p14="http://schemas.microsoft.com/office/powerpoint/2010/main" val="3259106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机器学习中的数据交叉验证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数据交叉验证是将数据打乱后，随机按一定比例抽取，一部分数据用于训练模型（训练集数据），一部分数据用于测试模型（测试集数据）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02180" y="2238612"/>
            <a:ext cx="70519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import random</a:t>
            </a:r>
          </a:p>
          <a:p>
            <a:r>
              <a:rPr lang="en-US" altLang="zh-CN" sz="2000" dirty="0"/>
              <a:t>from typing import </a:t>
            </a:r>
            <a:r>
              <a:rPr lang="en-US" altLang="zh-CN" sz="2000" dirty="0" err="1"/>
              <a:t>TypeVar</a:t>
            </a:r>
            <a:r>
              <a:rPr lang="en-US" altLang="zh-CN" sz="2000" dirty="0"/>
              <a:t>, List, Tuple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TypeVar</a:t>
            </a:r>
            <a:r>
              <a:rPr lang="en-US" altLang="zh-CN" sz="2000" dirty="0"/>
              <a:t>('X') </a:t>
            </a:r>
          </a:p>
          <a:p>
            <a:r>
              <a:rPr lang="en-US" altLang="zh-CN" sz="2000" dirty="0" err="1"/>
              <a:t>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split_data</a:t>
            </a:r>
            <a:r>
              <a:rPr lang="en-US" altLang="zh-CN" sz="2000" dirty="0"/>
              <a:t>(data: List[X], </a:t>
            </a:r>
            <a:r>
              <a:rPr lang="en-US" altLang="zh-CN" sz="2000" dirty="0" err="1"/>
              <a:t>prob</a:t>
            </a:r>
            <a:r>
              <a:rPr lang="en-US" altLang="zh-CN" sz="2000" dirty="0"/>
              <a:t>: float) -&gt; Tuple[List[X], List[X]]:</a:t>
            </a:r>
          </a:p>
          <a:p>
            <a:r>
              <a:rPr lang="en-US" altLang="zh-CN" sz="2000" dirty="0"/>
              <a:t>    “”“</a:t>
            </a:r>
            <a:r>
              <a:rPr lang="zh-CN" altLang="en-US" sz="2000" dirty="0"/>
              <a:t>将数据按概率</a:t>
            </a:r>
            <a:r>
              <a:rPr lang="en-US" altLang="zh-CN" sz="2000" dirty="0"/>
              <a:t>/</a:t>
            </a:r>
            <a:r>
              <a:rPr lang="zh-CN" altLang="en-US" sz="2000" dirty="0"/>
              <a:t>比例</a:t>
            </a:r>
            <a:r>
              <a:rPr lang="en-US" altLang="zh-CN" sz="2000" dirty="0" err="1"/>
              <a:t>prob</a:t>
            </a:r>
            <a:r>
              <a:rPr lang="zh-CN" altLang="en-US" sz="2000" dirty="0"/>
              <a:t>拆分为两部分</a:t>
            </a:r>
            <a:r>
              <a:rPr lang="en-US" altLang="zh-CN" sz="2000" dirty="0"/>
              <a:t>[</a:t>
            </a:r>
            <a:r>
              <a:rPr lang="en-US" altLang="zh-CN" sz="2000" dirty="0" err="1"/>
              <a:t>prob</a:t>
            </a:r>
            <a:r>
              <a:rPr lang="en-US" altLang="zh-CN" sz="2000" dirty="0"/>
              <a:t>, 1 - </a:t>
            </a:r>
            <a:r>
              <a:rPr lang="en-US" altLang="zh-CN" sz="2000" dirty="0" err="1"/>
              <a:t>prob</a:t>
            </a:r>
            <a:r>
              <a:rPr lang="en-US" altLang="zh-CN" sz="2000" dirty="0"/>
              <a:t>]"""</a:t>
            </a:r>
          </a:p>
          <a:p>
            <a:r>
              <a:rPr lang="en-US" altLang="zh-CN" sz="2000" dirty="0"/>
              <a:t>    data = data[:]                          # </a:t>
            </a:r>
            <a:r>
              <a:rPr lang="zh-CN" altLang="en-US" sz="2000" dirty="0"/>
              <a:t>浅拷贝，关键步骤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random.shuffle</a:t>
            </a:r>
            <a:r>
              <a:rPr lang="en-US" altLang="zh-CN" sz="2000" dirty="0"/>
              <a:t>(data)              # </a:t>
            </a:r>
            <a:r>
              <a:rPr lang="zh-CN" altLang="en-US" sz="2000" dirty="0"/>
              <a:t>打乱数据</a:t>
            </a:r>
            <a:r>
              <a:rPr lang="en-US" altLang="zh-CN" sz="2000" dirty="0"/>
              <a:t>.</a:t>
            </a:r>
          </a:p>
          <a:p>
            <a:r>
              <a:rPr lang="en-US" altLang="zh-CN" sz="2000" dirty="0"/>
              <a:t>    cut =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(data) * </a:t>
            </a:r>
            <a:r>
              <a:rPr lang="en-US" altLang="zh-CN" sz="2000" dirty="0" err="1"/>
              <a:t>prob</a:t>
            </a:r>
            <a:r>
              <a:rPr lang="en-US" altLang="zh-CN" sz="2000" dirty="0"/>
              <a:t>)       # </a:t>
            </a:r>
            <a:r>
              <a:rPr lang="zh-CN" altLang="en-US" sz="2000" dirty="0"/>
              <a:t>按比例进行拆分</a:t>
            </a:r>
            <a:endParaRPr lang="en-US" altLang="zh-CN" sz="2000" dirty="0"/>
          </a:p>
          <a:p>
            <a:r>
              <a:rPr lang="en-US" altLang="zh-CN" sz="2000" dirty="0"/>
              <a:t>    return data[:cut], data[cut:]     # </a:t>
            </a:r>
            <a:r>
              <a:rPr lang="zh-CN" altLang="en-US" sz="2000" dirty="0"/>
              <a:t>返回两部分数据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dirty="0"/>
              <a:t>data = list(range(1000))</a:t>
            </a:r>
          </a:p>
          <a:p>
            <a:r>
              <a:rPr lang="en-US" altLang="zh-CN" sz="2000" dirty="0"/>
              <a:t>train, test = </a:t>
            </a:r>
            <a:r>
              <a:rPr lang="en-US" altLang="zh-CN" sz="2000" dirty="0" err="1"/>
              <a:t>split_data</a:t>
            </a:r>
            <a:r>
              <a:rPr lang="en-US" altLang="zh-CN" sz="2000" dirty="0"/>
              <a:t>(data, 0.75)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07489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Typing</a:t>
            </a:r>
            <a:r>
              <a:rPr lang="zh-CN" altLang="en-US" b="1" dirty="0"/>
              <a:t>包的作用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typing</a:t>
            </a:r>
            <a:r>
              <a:rPr lang="zh-CN" altLang="en-US" dirty="0"/>
              <a:t>包的主要功能如下：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200" dirty="0"/>
              <a:t>类型注解：</a:t>
            </a:r>
            <a:r>
              <a:rPr lang="en-US" altLang="zh-CN" sz="2200" dirty="0"/>
              <a:t>typing</a:t>
            </a:r>
            <a:r>
              <a:rPr lang="zh-CN" altLang="en-US" sz="2200" dirty="0"/>
              <a:t>包提供了多种用于类型注解的工具，包括基本类型（如</a:t>
            </a:r>
            <a:r>
              <a:rPr lang="en-US" altLang="zh-CN" sz="2200" dirty="0" err="1"/>
              <a:t>int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str</a:t>
            </a:r>
            <a:r>
              <a:rPr lang="zh-CN" altLang="en-US" sz="2200" dirty="0"/>
              <a:t>）、容器类型（如</a:t>
            </a:r>
            <a:r>
              <a:rPr lang="en-US" altLang="zh-CN" sz="2200" dirty="0"/>
              <a:t>List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Dict</a:t>
            </a:r>
            <a:r>
              <a:rPr lang="zh-CN" altLang="en-US" sz="2200" dirty="0"/>
              <a:t>）、函数类型（如</a:t>
            </a:r>
            <a:r>
              <a:rPr lang="en-US" altLang="zh-CN" sz="2200" dirty="0"/>
              <a:t>Callable</a:t>
            </a:r>
            <a:r>
              <a:rPr lang="zh-CN" altLang="en-US" sz="2200" dirty="0"/>
              <a:t>、</a:t>
            </a:r>
            <a:r>
              <a:rPr lang="en-US" altLang="zh-CN" sz="2200" dirty="0"/>
              <a:t>Tuple</a:t>
            </a:r>
            <a:r>
              <a:rPr lang="zh-CN" altLang="en-US" sz="2200" dirty="0"/>
              <a:t>）、泛型（如</a:t>
            </a:r>
            <a:r>
              <a:rPr lang="en-US" altLang="zh-CN" sz="2200" dirty="0"/>
              <a:t>Generic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TypeVar</a:t>
            </a:r>
            <a:r>
              <a:rPr lang="zh-CN" altLang="en-US" sz="2200" dirty="0"/>
              <a:t>）等。通过类型注解，可以在函数声明、变量声明和类声明中指定参数的类型、返回值的类型等，以增加代码的可读性和可靠性。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200" dirty="0"/>
              <a:t>类型检查：通过与第三方工具（如</a:t>
            </a:r>
            <a:r>
              <a:rPr lang="en-US" altLang="zh-CN" sz="2200" dirty="0" err="1"/>
              <a:t>mypy</a:t>
            </a:r>
            <a:r>
              <a:rPr lang="zh-CN" altLang="en-US" sz="2200" dirty="0"/>
              <a:t>）集成，可以对使用了类型注解的代码进行静态类型。帮助发现潜在的类型错误和逻辑错误，以提前捕获问题并改善代码的质量。</a:t>
            </a:r>
            <a:endParaRPr lang="en-US" altLang="zh-CN" sz="2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200" dirty="0"/>
              <a:t>泛型支持：</a:t>
            </a:r>
            <a:r>
              <a:rPr lang="en-US" altLang="zh-CN" sz="2200" dirty="0"/>
              <a:t>typing</a:t>
            </a:r>
            <a:r>
              <a:rPr lang="zh-CN" altLang="en-US" sz="2200" dirty="0"/>
              <a:t>模块提供了对泛型的支持，使得可以编写更通用和灵活的代码。通过泛型，可以在函数和类中引入类型参数，以处理各种类型的数据。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200" dirty="0"/>
              <a:t>类、函数和变量装饰器：</a:t>
            </a:r>
            <a:r>
              <a:rPr lang="en-US" altLang="zh-CN" sz="2200" dirty="0"/>
              <a:t>typing</a:t>
            </a:r>
            <a:r>
              <a:rPr lang="zh-CN" altLang="en-US" sz="2200" dirty="0"/>
              <a:t>模块提供了一些装饰器，如</a:t>
            </a:r>
            <a:r>
              <a:rPr lang="en-US" altLang="zh-CN" sz="2200" dirty="0"/>
              <a:t>@overload</a:t>
            </a:r>
            <a:r>
              <a:rPr lang="zh-CN" altLang="en-US" sz="2200" dirty="0"/>
              <a:t>、</a:t>
            </a:r>
            <a:r>
              <a:rPr lang="en-US" altLang="zh-CN" sz="2200" dirty="0"/>
              <a:t>@</a:t>
            </a:r>
            <a:r>
              <a:rPr lang="en-US" altLang="zh-CN" sz="2200" dirty="0" err="1"/>
              <a:t>abstractmethod</a:t>
            </a:r>
            <a:r>
              <a:rPr lang="zh-CN" altLang="en-US" sz="2200" dirty="0"/>
              <a:t>、</a:t>
            </a:r>
            <a:r>
              <a:rPr lang="en-US" altLang="zh-CN" sz="2200" dirty="0"/>
              <a:t>@final</a:t>
            </a:r>
            <a:r>
              <a:rPr lang="zh-CN" altLang="en-US" sz="2200" dirty="0"/>
              <a:t>等，用于修饰类、函数和变量，以增加代码的可读性和可靠性。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7761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typing</a:t>
            </a:r>
            <a:r>
              <a:rPr lang="zh-CN" altLang="en-US" b="1" dirty="0"/>
              <a:t>常用类型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常用的类型和泛型。</a:t>
            </a:r>
          </a:p>
          <a:p>
            <a:pPr lvl="1"/>
            <a:r>
              <a:rPr lang="zh-CN" altLang="en-US" dirty="0"/>
              <a:t>注意，</a:t>
            </a:r>
            <a:r>
              <a:rPr lang="en-US" altLang="zh-CN" dirty="0" err="1"/>
              <a:t>int</a:t>
            </a:r>
            <a:r>
              <a:rPr lang="en-US" altLang="zh-CN" dirty="0"/>
              <a:t>, </a:t>
            </a:r>
            <a:r>
              <a:rPr lang="en-US" altLang="zh-CN" dirty="0" err="1"/>
              <a:t>float,bool,str</a:t>
            </a:r>
            <a:r>
              <a:rPr lang="en-US" altLang="zh-CN" dirty="0"/>
              <a:t>, bytes</a:t>
            </a:r>
            <a:r>
              <a:rPr lang="zh-CN" altLang="en-US" dirty="0"/>
              <a:t>不需要</a:t>
            </a:r>
            <a:r>
              <a:rPr lang="en-US" altLang="zh-CN" dirty="0"/>
              <a:t>import typing</a:t>
            </a:r>
            <a:r>
              <a:rPr lang="zh-CN" altLang="en-US" dirty="0"/>
              <a:t>，</a:t>
            </a:r>
            <a:r>
              <a:rPr lang="en-US" altLang="zh-CN" dirty="0" err="1"/>
              <a:t>Any,Union,Tuple</a:t>
            </a:r>
            <a:r>
              <a:rPr lang="zh-CN" altLang="en-US" dirty="0"/>
              <a:t>等需要</a:t>
            </a:r>
            <a:r>
              <a:rPr lang="en-US" altLang="zh-CN" dirty="0"/>
              <a:t>import typing</a:t>
            </a:r>
          </a:p>
          <a:p>
            <a:r>
              <a:rPr lang="zh-CN" altLang="en-US" b="1" dirty="0"/>
              <a:t>基本类型</a:t>
            </a:r>
            <a:r>
              <a:rPr lang="en-US" altLang="zh-CN" b="1" dirty="0"/>
              <a:t>: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: </a:t>
            </a:r>
            <a:r>
              <a:rPr lang="zh-CN" altLang="en-US" dirty="0"/>
              <a:t>整数类型</a:t>
            </a:r>
          </a:p>
          <a:p>
            <a:pPr lvl="1"/>
            <a:r>
              <a:rPr lang="en-US" altLang="zh-CN" dirty="0"/>
              <a:t>float: </a:t>
            </a:r>
            <a:r>
              <a:rPr lang="zh-CN" altLang="en-US" dirty="0"/>
              <a:t>浮点数类型</a:t>
            </a:r>
          </a:p>
          <a:p>
            <a:pPr lvl="1"/>
            <a:r>
              <a:rPr lang="en-US" altLang="zh-CN" dirty="0"/>
              <a:t>bool: </a:t>
            </a:r>
            <a:r>
              <a:rPr lang="zh-CN" altLang="en-US" dirty="0"/>
              <a:t>布尔类型</a:t>
            </a:r>
          </a:p>
          <a:p>
            <a:pPr lvl="1"/>
            <a:r>
              <a:rPr lang="en-US" altLang="zh-CN" dirty="0" err="1"/>
              <a:t>str</a:t>
            </a:r>
            <a:r>
              <a:rPr lang="en-US" altLang="zh-CN" dirty="0"/>
              <a:t>: </a:t>
            </a:r>
            <a:r>
              <a:rPr lang="zh-CN" altLang="en-US" dirty="0"/>
              <a:t>字符串类型</a:t>
            </a:r>
          </a:p>
          <a:p>
            <a:pPr lvl="1"/>
            <a:r>
              <a:rPr lang="en-US" altLang="zh-CN" dirty="0"/>
              <a:t>bytes: </a:t>
            </a:r>
            <a:r>
              <a:rPr lang="zh-CN" altLang="en-US" dirty="0"/>
              <a:t>字节类型</a:t>
            </a:r>
          </a:p>
          <a:p>
            <a:pPr lvl="1"/>
            <a:r>
              <a:rPr lang="en-US" altLang="zh-CN" dirty="0"/>
              <a:t>Any: </a:t>
            </a:r>
            <a:r>
              <a:rPr lang="zh-CN" altLang="en-US" dirty="0"/>
              <a:t>任意类型</a:t>
            </a:r>
          </a:p>
          <a:p>
            <a:pPr lvl="1"/>
            <a:r>
              <a:rPr lang="en-US" altLang="zh-CN" dirty="0"/>
              <a:t>Union: </a:t>
            </a:r>
            <a:r>
              <a:rPr lang="zh-CN" altLang="en-US" dirty="0"/>
              <a:t>多个类型的联合类型，表示可以是其中任意一个类型</a:t>
            </a:r>
          </a:p>
          <a:p>
            <a:pPr lvl="1"/>
            <a:r>
              <a:rPr lang="en-US" altLang="zh-CN" dirty="0"/>
              <a:t>Tuple: </a:t>
            </a:r>
            <a:r>
              <a:rPr lang="zh-CN" altLang="en-US" dirty="0"/>
              <a:t>固定长度的元组类型</a:t>
            </a:r>
          </a:p>
          <a:p>
            <a:pPr lvl="1"/>
            <a:r>
              <a:rPr lang="en-US" altLang="zh-CN" dirty="0"/>
              <a:t>List: </a:t>
            </a:r>
            <a:r>
              <a:rPr lang="zh-CN" altLang="en-US" dirty="0"/>
              <a:t>列表类型</a:t>
            </a:r>
          </a:p>
          <a:p>
            <a:pPr lvl="1"/>
            <a:r>
              <a:rPr lang="en-US" altLang="zh-CN" dirty="0" err="1"/>
              <a:t>Dict</a:t>
            </a:r>
            <a:r>
              <a:rPr lang="en-US" altLang="zh-CN" dirty="0"/>
              <a:t>: </a:t>
            </a:r>
            <a:r>
              <a:rPr lang="zh-CN" altLang="en-US" dirty="0"/>
              <a:t>字典类型，用于键值对的映射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778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泛型</a:t>
            </a:r>
            <a:r>
              <a:rPr lang="en-US" altLang="zh-CN" b="1" dirty="0"/>
              <a:t>:</a:t>
            </a:r>
          </a:p>
          <a:p>
            <a:pPr lvl="1"/>
            <a:r>
              <a:rPr lang="en-US" altLang="zh-CN" dirty="0"/>
              <a:t>Generic: </a:t>
            </a:r>
            <a:r>
              <a:rPr lang="zh-CN" altLang="en-US" dirty="0"/>
              <a:t>泛型基类，用于创建泛型类或泛型函数</a:t>
            </a:r>
          </a:p>
          <a:p>
            <a:pPr lvl="1"/>
            <a:r>
              <a:rPr lang="en-US" altLang="zh-CN" dirty="0" err="1"/>
              <a:t>TypeVar</a:t>
            </a:r>
            <a:r>
              <a:rPr lang="en-US" altLang="zh-CN" dirty="0"/>
              <a:t>: </a:t>
            </a:r>
            <a:r>
              <a:rPr lang="zh-CN" altLang="en-US" dirty="0"/>
              <a:t>类型变量，用于创建表示不确定类型的占位符</a:t>
            </a:r>
          </a:p>
          <a:p>
            <a:pPr lvl="1"/>
            <a:r>
              <a:rPr lang="en-US" altLang="zh-CN" dirty="0"/>
              <a:t>Callable: </a:t>
            </a:r>
            <a:r>
              <a:rPr lang="zh-CN" altLang="en-US" dirty="0"/>
              <a:t>可调用对象类型，用于表示函数类型</a:t>
            </a:r>
          </a:p>
          <a:p>
            <a:pPr lvl="1"/>
            <a:r>
              <a:rPr lang="en-US" altLang="zh-CN" dirty="0"/>
              <a:t>Optional: </a:t>
            </a:r>
            <a:r>
              <a:rPr lang="zh-CN" altLang="en-US" dirty="0"/>
              <a:t>可选类型，表示一个值可以为指定类型或</a:t>
            </a:r>
            <a:r>
              <a:rPr lang="en-US" altLang="zh-CN" dirty="0"/>
              <a:t>None</a:t>
            </a:r>
          </a:p>
          <a:p>
            <a:pPr lvl="1"/>
            <a:r>
              <a:rPr lang="en-US" altLang="zh-CN" dirty="0" err="1"/>
              <a:t>Iterable</a:t>
            </a:r>
            <a:r>
              <a:rPr lang="en-US" altLang="zh-CN" dirty="0"/>
              <a:t>: </a:t>
            </a:r>
            <a:r>
              <a:rPr lang="zh-CN" altLang="en-US" dirty="0"/>
              <a:t>可迭代对象类型</a:t>
            </a:r>
          </a:p>
          <a:p>
            <a:pPr lvl="1"/>
            <a:r>
              <a:rPr lang="en-US" altLang="zh-CN" dirty="0"/>
              <a:t>Mapping: </a:t>
            </a:r>
            <a:r>
              <a:rPr lang="zh-CN" altLang="en-US" dirty="0"/>
              <a:t>映射类型，用于表示键值对的映射</a:t>
            </a:r>
          </a:p>
          <a:p>
            <a:pPr lvl="1"/>
            <a:r>
              <a:rPr lang="en-US" altLang="zh-CN" dirty="0"/>
              <a:t>Sequence: </a:t>
            </a:r>
            <a:r>
              <a:rPr lang="zh-CN" altLang="en-US" dirty="0"/>
              <a:t>序列类型，用于表示有序集合类型</a:t>
            </a:r>
          </a:p>
          <a:p>
            <a:pPr lvl="1"/>
            <a:r>
              <a:rPr lang="en-US" altLang="zh-CN" dirty="0"/>
              <a:t>Type:</a:t>
            </a:r>
            <a:r>
              <a:rPr lang="zh-CN" altLang="en-US" dirty="0"/>
              <a:t>泛型类，用于表示类型本身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1726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Typing</a:t>
            </a:r>
            <a:r>
              <a:rPr lang="zh-CN" altLang="en-US" dirty="0"/>
              <a:t>示例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93620" y="1126331"/>
            <a:ext cx="6301740" cy="36933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191B1F"/>
                </a:solidFill>
                <a:latin typeface="Arial Unicode MS" panose="020B0604020202020204" pitchFamily="34" charset="-122"/>
                <a:ea typeface="Menlo"/>
              </a:rPr>
              <a:t>import 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typing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T=typing.TypeVar('T',int,float,str)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solidFill>
                <a:srgbClr val="191B1F"/>
              </a:solidFill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def foo(name:T)-&gt;str: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191B1F"/>
                </a:solidFill>
                <a:latin typeface="Arial Unicode MS" panose="020B0604020202020204" pitchFamily="34" charset="-122"/>
                <a:ea typeface="Menlo"/>
              </a:rPr>
              <a:t>	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return str(name)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solidFill>
                <a:srgbClr val="191B1F"/>
              </a:solidFill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print(foo(2.012)) 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    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# 2.012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print(foo(35))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          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 # 35 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191B1F"/>
              </a:solidFill>
              <a:effectLst/>
              <a:latin typeface="Arial Unicode MS" panose="020B0604020202020204" pitchFamily="34" charset="-122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rgbClr val="191B1F"/>
                </a:solidFill>
                <a:effectLst/>
                <a:latin typeface="Arial Unicode MS" panose="020B0604020202020204" pitchFamily="34" charset="-122"/>
                <a:ea typeface="Menlo"/>
              </a:rPr>
              <a:t>print(foo("hahaha")) # hahaha</a:t>
            </a:r>
            <a:r>
              <a: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728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数组线性代数运算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数组乘法：数组各个元素相乘（同维度）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</m:e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e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sz="2000" b="0" i="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000" dirty="0"/>
                  <a:t>=A * B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1∗1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2∗0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3∗0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4∗0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5∗1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6∗0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r>
                  <a:rPr lang="zh-CN" altLang="en-US" dirty="0"/>
                  <a:t>数组加法：数组各个元素相加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595960" y="3573898"/>
            <a:ext cx="3273653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a = </a:t>
            </a:r>
            <a:r>
              <a:rPr lang="en-US" altLang="zh-CN" dirty="0" err="1"/>
              <a:t>np.arange</a:t>
            </a:r>
            <a:r>
              <a:rPr lang="en-US" altLang="zh-CN" dirty="0"/>
              <a:t>(1,7).reshape(2,3)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np.eye</a:t>
            </a:r>
            <a:r>
              <a:rPr lang="en-US" altLang="zh-CN" dirty="0"/>
              <a:t>(2,3)</a:t>
            </a:r>
          </a:p>
          <a:p>
            <a:r>
              <a:rPr lang="en-US" altLang="zh-CN" dirty="0"/>
              <a:t>print("a*b", a * b)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649980" y="5176034"/>
            <a:ext cx="3377848" cy="12003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数组加法，各元素相加</a:t>
            </a:r>
          </a:p>
          <a:p>
            <a:r>
              <a:rPr lang="en-US" altLang="zh-CN" dirty="0"/>
              <a:t>c = </a:t>
            </a:r>
            <a:r>
              <a:rPr lang="en-US" altLang="zh-CN" dirty="0" err="1"/>
              <a:t>np.arange</a:t>
            </a:r>
            <a:r>
              <a:rPr lang="en-US" altLang="zh-CN" dirty="0"/>
              <a:t>(2,8).reshape(3,-1)</a:t>
            </a:r>
          </a:p>
          <a:p>
            <a:r>
              <a:rPr lang="en-US" altLang="zh-CN" dirty="0"/>
              <a:t>d = </a:t>
            </a:r>
            <a:r>
              <a:rPr lang="en-US" altLang="zh-CN" dirty="0" err="1"/>
              <a:t>np.ones</a:t>
            </a:r>
            <a:r>
              <a:rPr lang="en-US" altLang="zh-CN" dirty="0"/>
              <a:t>((3,2))</a:t>
            </a:r>
          </a:p>
          <a:p>
            <a:r>
              <a:rPr lang="en-US" altLang="zh-CN" dirty="0"/>
              <a:t>print("</a:t>
            </a:r>
            <a:r>
              <a:rPr lang="en-US" altLang="zh-CN" dirty="0" err="1"/>
              <a:t>c+d</a:t>
            </a:r>
            <a:r>
              <a:rPr lang="en-US" altLang="zh-CN" dirty="0"/>
              <a:t> \n", c + d )</a:t>
            </a:r>
            <a:endParaRPr lang="zh-CN" altLang="en-US" dirty="0"/>
          </a:p>
        </p:txBody>
      </p:sp>
      <p:sp>
        <p:nvSpPr>
          <p:cNvPr id="5" name="AutoShape 2" descr="https://wx3.sinaimg.cn/large/5396ee05ly1g51z8iky3lg20dw07i78t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85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向量内积（</a:t>
            </a:r>
            <a:r>
              <a:rPr lang="en-US" altLang="zh-CN" dirty="0"/>
              <a:t>inner</a:t>
            </a:r>
            <a:r>
              <a:rPr lang="zh-CN" altLang="en-US" dirty="0"/>
              <a:t>）与外积（</a:t>
            </a:r>
            <a:r>
              <a:rPr lang="en-US" altLang="zh-CN" dirty="0"/>
              <a:t>cross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向量（ 一维数组）内积</a:t>
                </a:r>
                <a:r>
                  <a:rPr lang="en-US" altLang="zh-CN" dirty="0"/>
                  <a:t>inner</a:t>
                </a:r>
                <a:r>
                  <a:rPr lang="zh-CN" altLang="en-US" dirty="0"/>
                  <a:t>（点积</a:t>
                </a:r>
                <a:r>
                  <a:rPr lang="en-US" altLang="zh-CN" dirty="0"/>
                  <a:t>dot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⋅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u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u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用点积计算替代乘积求和，可提高计算速度（仅一维数组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向量）多维向量点积等同于矩阵相乘</a:t>
                </a:r>
                <a:endParaRPr lang="en-US" altLang="zh-CN" dirty="0"/>
              </a:p>
              <a:p>
                <a:r>
                  <a:rPr lang="zh-CN" altLang="en-US" dirty="0"/>
                  <a:t>向量外积（</a:t>
                </a:r>
                <a:r>
                  <a:rPr lang="en-US" altLang="zh-CN" dirty="0"/>
                  <a:t>cross</a:t>
                </a:r>
                <a:r>
                  <a:rPr lang="zh-CN" altLang="en-US" dirty="0"/>
                  <a:t>）（仅为</a:t>
                </a:r>
                <a:r>
                  <a:rPr lang="en-US" altLang="zh-CN" dirty="0"/>
                  <a:t>2-3</a:t>
                </a:r>
                <a:r>
                  <a:rPr lang="zh-CN" altLang="en-US" dirty="0"/>
                  <a:t>维向量）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10" r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794812" y="1268670"/>
            <a:ext cx="35589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## </a:t>
            </a:r>
            <a:r>
              <a:rPr lang="zh-CN" altLang="en-US" dirty="0"/>
              <a:t>向量内积</a:t>
            </a:r>
            <a:r>
              <a:rPr lang="en-US" altLang="zh-CN" dirty="0"/>
              <a:t>, </a:t>
            </a:r>
            <a:r>
              <a:rPr lang="zh-CN" altLang="en-US" dirty="0"/>
              <a:t>点积</a:t>
            </a:r>
          </a:p>
          <a:p>
            <a:r>
              <a:rPr lang="en-US" altLang="zh-CN" dirty="0"/>
              <a:t>u = </a:t>
            </a:r>
            <a:r>
              <a:rPr lang="en-US" altLang="zh-CN" dirty="0" err="1"/>
              <a:t>np.linspace</a:t>
            </a:r>
            <a:r>
              <a:rPr lang="en-US" altLang="zh-CN" dirty="0"/>
              <a:t>(1.0, 5.0, </a:t>
            </a:r>
            <a:r>
              <a:rPr lang="en-US" altLang="zh-CN" dirty="0" err="1"/>
              <a:t>num</a:t>
            </a:r>
            <a:r>
              <a:rPr lang="en-US" altLang="zh-CN" dirty="0"/>
              <a:t>=5)</a:t>
            </a:r>
          </a:p>
          <a:p>
            <a:r>
              <a:rPr lang="en-US" altLang="zh-CN" dirty="0"/>
              <a:t>v = </a:t>
            </a:r>
            <a:r>
              <a:rPr lang="en-US" altLang="zh-CN" dirty="0" err="1"/>
              <a:t>np.arange</a:t>
            </a:r>
            <a:r>
              <a:rPr lang="en-US" altLang="zh-CN" dirty="0"/>
              <a:t>(1.0, 6.0)</a:t>
            </a:r>
          </a:p>
          <a:p>
            <a:r>
              <a:rPr lang="en-US" altLang="zh-CN" dirty="0"/>
              <a:t>print("inner (u, v) = ",</a:t>
            </a:r>
            <a:r>
              <a:rPr lang="en-US" altLang="zh-CN" dirty="0" err="1"/>
              <a:t>np.inner</a:t>
            </a:r>
            <a:r>
              <a:rPr lang="en-US" altLang="zh-CN" dirty="0"/>
              <a:t>(</a:t>
            </a:r>
            <a:r>
              <a:rPr lang="en-US" altLang="zh-CN" dirty="0" err="1"/>
              <a:t>u,v</a:t>
            </a:r>
            <a:r>
              <a:rPr lang="en-US" altLang="zh-CN" dirty="0"/>
              <a:t>))</a:t>
            </a:r>
          </a:p>
          <a:p>
            <a:r>
              <a:rPr lang="en-US" altLang="zh-CN" dirty="0"/>
              <a:t>print("dot (</a:t>
            </a:r>
            <a:r>
              <a:rPr lang="en-US" altLang="zh-CN" dirty="0" err="1"/>
              <a:t>u,v</a:t>
            </a:r>
            <a:r>
              <a:rPr lang="en-US" altLang="zh-CN" dirty="0"/>
              <a:t>) = ", u.dot(v))</a:t>
            </a:r>
          </a:p>
          <a:p>
            <a:endParaRPr lang="en-US" altLang="zh-CN" dirty="0"/>
          </a:p>
          <a:p>
            <a:r>
              <a:rPr lang="pl-PL" altLang="zh-CN" dirty="0"/>
              <a:t>w = sum([i*j for i,j in zip(u, v)])</a:t>
            </a:r>
          </a:p>
          <a:p>
            <a:r>
              <a:rPr lang="pl-PL" altLang="zh-CN" dirty="0"/>
              <a:t>print("sum u*v = ", w)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366412" y="5303378"/>
                <a:ext cx="5056128" cy="5516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i="0" smtClean="0">
                                              <a:latin typeface="Cambria Math" panose="02040503050406030204" pitchFamily="18" charset="0"/>
                                            </a:rPr>
                                            <m:t>u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i="0" smtClean="0">
                                              <a:latin typeface="Cambria Math" panose="02040503050406030204" pitchFamily="18" charset="0"/>
                                            </a:rPr>
                                            <m:t>u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altLang="zh-CN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altLang="zh-CN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sina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412" y="5303378"/>
                <a:ext cx="5056128" cy="5516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794812" y="4931674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= </a:t>
            </a:r>
            <a:r>
              <a:rPr lang="en-US" altLang="zh-CN" dirty="0" err="1"/>
              <a:t>np.random.randint</a:t>
            </a:r>
            <a:r>
              <a:rPr lang="en-US" altLang="zh-CN" dirty="0"/>
              <a:t>(2.0, 10, size=3)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np.linspace</a:t>
            </a:r>
            <a:r>
              <a:rPr lang="en-US" altLang="zh-CN" dirty="0"/>
              <a:t>(10, 60, </a:t>
            </a:r>
            <a:r>
              <a:rPr lang="en-US" altLang="zh-CN" dirty="0" err="1"/>
              <a:t>num</a:t>
            </a:r>
            <a:r>
              <a:rPr lang="en-US" altLang="zh-CN" dirty="0"/>
              <a:t>=3)</a:t>
            </a:r>
          </a:p>
          <a:p>
            <a:r>
              <a:rPr lang="en-US" altLang="zh-CN" dirty="0"/>
              <a:t>print("cross 2-3 dim: ", </a:t>
            </a:r>
            <a:r>
              <a:rPr lang="en-US" altLang="zh-CN" dirty="0" err="1"/>
              <a:t>np.cross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1249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np.matmul</a:t>
                </a:r>
                <a:r>
                  <a:rPr lang="zh-CN" altLang="en-US" dirty="0"/>
                  <a:t>矩阵相乘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或者</a:t>
                </a:r>
                <a:r>
                  <a:rPr lang="en-US" altLang="zh-CN" dirty="0"/>
                  <a:t>@)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@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矩阵求逆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246426" y="1882140"/>
            <a:ext cx="3377848" cy="17543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矩阵相乘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np.arange</a:t>
            </a:r>
            <a:r>
              <a:rPr lang="en-US" altLang="zh-CN" dirty="0"/>
              <a:t>(1,7).reshape(2,3)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np.eye</a:t>
            </a:r>
            <a:r>
              <a:rPr lang="en-US" altLang="zh-CN" dirty="0"/>
              <a:t>(3,2)</a:t>
            </a:r>
          </a:p>
          <a:p>
            <a:r>
              <a:rPr lang="en-US" altLang="zh-CN" dirty="0"/>
              <a:t>c = </a:t>
            </a:r>
            <a:r>
              <a:rPr lang="en-US" altLang="zh-CN" dirty="0" err="1"/>
              <a:t>np.matmul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 = a @ b</a:t>
            </a:r>
          </a:p>
          <a:p>
            <a:r>
              <a:rPr lang="en-US" altLang="zh-CN" dirty="0"/>
              <a:t>print(" a matrix multiply b ", c, d)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46426" y="4617720"/>
            <a:ext cx="35301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矩阵求逆</a:t>
            </a:r>
          </a:p>
          <a:p>
            <a:r>
              <a:rPr lang="en-US" altLang="zh-CN" dirty="0"/>
              <a:t>a = </a:t>
            </a:r>
            <a:r>
              <a:rPr lang="en-US" altLang="zh-CN" dirty="0" err="1"/>
              <a:t>np.random.randn</a:t>
            </a:r>
            <a:r>
              <a:rPr lang="en-US" altLang="zh-CN" dirty="0"/>
              <a:t>(3,3)</a:t>
            </a:r>
          </a:p>
          <a:p>
            <a:r>
              <a:rPr lang="en-US" altLang="zh-CN" dirty="0" err="1"/>
              <a:t>a_inv</a:t>
            </a:r>
            <a:r>
              <a:rPr lang="en-US" altLang="zh-CN" dirty="0"/>
              <a:t> = </a:t>
            </a:r>
            <a:r>
              <a:rPr lang="en-US" altLang="zh-CN" dirty="0" err="1"/>
              <a:t>np.linalg.inv</a:t>
            </a:r>
            <a:r>
              <a:rPr lang="en-US" altLang="zh-CN" dirty="0"/>
              <a:t>(a)</a:t>
            </a:r>
          </a:p>
          <a:p>
            <a:r>
              <a:rPr lang="en-US" altLang="zh-CN" dirty="0"/>
              <a:t>print("a= \n", a, </a:t>
            </a:r>
          </a:p>
          <a:p>
            <a:r>
              <a:rPr lang="en-US" altLang="zh-CN" dirty="0"/>
              <a:t>      "\</a:t>
            </a:r>
            <a:r>
              <a:rPr lang="en-US" altLang="zh-CN" dirty="0" err="1"/>
              <a:t>na</a:t>
            </a:r>
            <a:r>
              <a:rPr lang="en-US" altLang="zh-CN" dirty="0"/>
              <a:t>^-1=\n", </a:t>
            </a:r>
            <a:r>
              <a:rPr lang="en-US" altLang="zh-CN" dirty="0" err="1"/>
              <a:t>a_inv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 "\</a:t>
            </a:r>
            <a:r>
              <a:rPr lang="en-US" altLang="zh-CN" dirty="0" err="1"/>
              <a:t>na</a:t>
            </a:r>
            <a:r>
              <a:rPr lang="en-US" altLang="zh-CN" dirty="0"/>
              <a:t> @ a^-1 = \n ", a @</a:t>
            </a:r>
            <a:r>
              <a:rPr lang="en-US" altLang="zh-CN" dirty="0" err="1"/>
              <a:t>a_inv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1765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求解线性方程组示例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239" y="780371"/>
            <a:ext cx="7215521" cy="5200650"/>
          </a:xfrm>
        </p:spPr>
      </p:pic>
      <p:cxnSp>
        <p:nvCxnSpPr>
          <p:cNvPr id="6" name="直接连接符 5"/>
          <p:cNvCxnSpPr/>
          <p:nvPr/>
        </p:nvCxnSpPr>
        <p:spPr>
          <a:xfrm>
            <a:off x="4859383" y="3540031"/>
            <a:ext cx="0" cy="12540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619794" y="3918858"/>
            <a:ext cx="32395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619794" y="4384767"/>
            <a:ext cx="32395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907177" y="3095897"/>
            <a:ext cx="0" cy="822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907177" y="4384767"/>
            <a:ext cx="0" cy="944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 rot="16200000">
            <a:off x="966625" y="395804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1000m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552702" y="3751549"/>
                <a:ext cx="276723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=2.98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+256.8</m:t>
                      </m:r>
                    </m:oMath>
                  </m:oMathPara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=2.34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281.4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702" y="3751549"/>
                <a:ext cx="2767232" cy="830997"/>
              </a:xfrm>
              <a:prstGeom prst="rect">
                <a:avLst/>
              </a:prstGeom>
              <a:blipFill>
                <a:blip r:embed="rId3"/>
                <a:stretch>
                  <a:fillRect b="-5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8361040" y="2893700"/>
            <a:ext cx="3565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已知平导与正洞（隧道）的进度方程，求第一个横通道位置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552702" y="4857206"/>
            <a:ext cx="3348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要求超前距离</a:t>
            </a:r>
            <a:r>
              <a:rPr lang="en-US" altLang="zh-CN" sz="2400" dirty="0"/>
              <a:t>&gt;=1000m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5235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025"/>
                <a:ext cx="10515600" cy="564584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2.98 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 256.8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2.34 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 −281.42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 −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 = 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−2.98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−2.34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256.8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−281.42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025"/>
                <a:ext cx="10515600" cy="5645844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38200" y="3476781"/>
                <a:ext cx="23404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76781"/>
                <a:ext cx="234042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036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矩阵求逆求解线性方程组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计算得到：进入横通道作业位置：</a:t>
            </a:r>
            <a:r>
              <a:rPr lang="en-US" altLang="zh-CN" dirty="0"/>
              <a:t>2407 m, </a:t>
            </a:r>
            <a:r>
              <a:rPr lang="zh-CN" altLang="en-US" dirty="0"/>
              <a:t>时间：</a:t>
            </a:r>
            <a:r>
              <a:rPr lang="en-US" altLang="zh-CN" dirty="0"/>
              <a:t>721 day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32411" y="2259874"/>
            <a:ext cx="931056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 = </a:t>
            </a:r>
            <a:r>
              <a:rPr lang="en-US" altLang="zh-CN" sz="2400" dirty="0" err="1"/>
              <a:t>np.array</a:t>
            </a:r>
            <a:r>
              <a:rPr lang="en-US" altLang="zh-CN" sz="2400" dirty="0"/>
              <a:t>([[1, 0, -2.98, 0 ],</a:t>
            </a:r>
          </a:p>
          <a:p>
            <a:r>
              <a:rPr lang="en-US" altLang="zh-CN" sz="2400" dirty="0"/>
              <a:t>              [0, 1,  0,    -2.34],</a:t>
            </a:r>
          </a:p>
          <a:p>
            <a:r>
              <a:rPr lang="en-US" altLang="zh-CN" sz="2400" dirty="0"/>
              <a:t>              [1,-1,  0,     0],</a:t>
            </a:r>
          </a:p>
          <a:p>
            <a:r>
              <a:rPr lang="en-US" altLang="zh-CN" sz="2400" dirty="0"/>
              <a:t>              [0, 0,  1,    -1]])</a:t>
            </a:r>
          </a:p>
          <a:p>
            <a:r>
              <a:rPr lang="en-US" altLang="zh-CN" sz="2400" dirty="0"/>
              <a:t>b = </a:t>
            </a:r>
            <a:r>
              <a:rPr lang="en-US" altLang="zh-CN" sz="2400" dirty="0" err="1"/>
              <a:t>np.array</a:t>
            </a:r>
            <a:r>
              <a:rPr lang="en-US" altLang="zh-CN" sz="2400" dirty="0"/>
              <a:t>([256.8, -281.42, 1000, 0])</a:t>
            </a:r>
          </a:p>
          <a:p>
            <a:r>
              <a:rPr lang="en-US" altLang="zh-CN" sz="2400" dirty="0"/>
              <a:t>b = </a:t>
            </a:r>
            <a:r>
              <a:rPr lang="en-US" altLang="zh-CN" sz="2400" dirty="0" err="1"/>
              <a:t>b.reshape</a:t>
            </a:r>
            <a:r>
              <a:rPr lang="en-US" altLang="zh-CN" sz="2400" dirty="0"/>
              <a:t>(4,1)</a:t>
            </a:r>
          </a:p>
          <a:p>
            <a:r>
              <a:rPr lang="en-US" altLang="zh-CN" sz="2400" dirty="0"/>
              <a:t>y1, y2, x1,x2 = </a:t>
            </a:r>
            <a:r>
              <a:rPr lang="en-US" altLang="zh-CN" sz="2400" dirty="0" err="1"/>
              <a:t>np.matmul</a:t>
            </a:r>
            <a:r>
              <a:rPr lang="en-US" altLang="zh-CN" sz="2400" dirty="0"/>
              <a:t>(   </a:t>
            </a:r>
            <a:r>
              <a:rPr lang="en-US" altLang="zh-CN" sz="2400" dirty="0" err="1"/>
              <a:t>np.linalg.inv</a:t>
            </a:r>
            <a:r>
              <a:rPr lang="en-US" altLang="zh-CN" sz="2400" dirty="0"/>
              <a:t>(A), b)</a:t>
            </a:r>
          </a:p>
          <a:p>
            <a:r>
              <a:rPr lang="en-US" altLang="zh-CN" sz="2400" dirty="0"/>
              <a:t>print(f"</a:t>
            </a:r>
            <a:r>
              <a:rPr lang="zh-CN" altLang="en-US" sz="2400" dirty="0"/>
              <a:t>进入横通道作业位置：</a:t>
            </a:r>
            <a:r>
              <a:rPr lang="en-US" altLang="zh-CN" sz="2400" dirty="0"/>
              <a:t>{y1[0]:0.0f} m, </a:t>
            </a:r>
            <a:r>
              <a:rPr lang="zh-CN" altLang="en-US" sz="2400" dirty="0"/>
              <a:t>时间：</a:t>
            </a:r>
            <a:r>
              <a:rPr lang="en-US" altLang="zh-CN" sz="2400" dirty="0"/>
              <a:t>{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(x1[0]):d} day")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555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>
            <a:off x="606959" y="1733915"/>
            <a:ext cx="11281446" cy="0"/>
          </a:xfrm>
          <a:prstGeom prst="line">
            <a:avLst/>
          </a:prstGeom>
          <a:ln w="38100" cap="flat">
            <a:solidFill>
              <a:srgbClr val="C4D2F8"/>
            </a:solidFill>
            <a:prstDash val="sysDot"/>
            <a:headEnd type="oval" w="lg" len="lg"/>
            <a:tailEnd type="oval" w="lg" len="lg"/>
          </a:ln>
        </p:spPr>
      </p:sp>
      <p:sp>
        <p:nvSpPr>
          <p:cNvPr id="13" name="TextBox 13"/>
          <p:cNvSpPr txBox="1"/>
          <p:nvPr/>
        </p:nvSpPr>
        <p:spPr>
          <a:xfrm>
            <a:off x="781049" y="787221"/>
            <a:ext cx="688657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77"/>
              </a:lnSpc>
            </a:pPr>
            <a:r>
              <a:rPr lang="zh-CN" altLang="en-US" sz="3600" dirty="0"/>
              <a:t>百度高德</a:t>
            </a:r>
            <a:r>
              <a:rPr lang="en-US" altLang="zh-CN" sz="3600" dirty="0" err="1"/>
              <a:t>WebGIS</a:t>
            </a:r>
            <a:r>
              <a:rPr lang="zh-CN" altLang="en-US" sz="3600" dirty="0"/>
              <a:t>地理数据的爬取</a:t>
            </a:r>
            <a:endParaRPr lang="en-US" sz="3600" dirty="0">
              <a:solidFill>
                <a:srgbClr val="000000"/>
              </a:solidFill>
              <a:ea typeface="思源黑体-粗体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389239" y="2287935"/>
            <a:ext cx="366448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7"/>
              </a:lnSpc>
            </a:pPr>
            <a:r>
              <a:rPr lang="zh-CN" altLang="en-US" sz="3200" dirty="0">
                <a:solidFill>
                  <a:srgbClr val="2A5CE9"/>
                </a:solidFill>
                <a:ea typeface="思源黑体-粗体 Bold"/>
              </a:rPr>
              <a:t>百度开发者平台接口</a:t>
            </a:r>
            <a:endParaRPr lang="en-US" sz="3200" dirty="0">
              <a:solidFill>
                <a:srgbClr val="2A5CE9"/>
              </a:solidFill>
              <a:ea typeface="思源黑体-粗体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6959" y="2287935"/>
            <a:ext cx="4982449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URL</a:t>
            </a:r>
            <a:r>
              <a:rPr lang="zh-CN" alt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https://lbsyun.baidu.com/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百度开发者平台提供了获取百度地图数据的接口，通过</a:t>
            </a:r>
            <a:r>
              <a:rPr lang="en-US" altLang="zh-CN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 API</a:t>
            </a:r>
            <a:r>
              <a:rPr lang="zh-CN" alt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接口，可以爬取地理数据。</a:t>
            </a:r>
            <a:endParaRPr lang="en-US" altLang="zh-CN" sz="2400" spc="27" dirty="0">
              <a:solidFill>
                <a:srgbClr val="54545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物流大数据与地理数据密切相关，很多情况下，需要将获取的物流信息进一步解析，以获取准确的经纬度。</a:t>
            </a:r>
            <a:endParaRPr lang="en-US" altLang="zh-CN" sz="2400" spc="27" dirty="0">
              <a:solidFill>
                <a:srgbClr val="54545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API Key </a:t>
            </a:r>
            <a:r>
              <a:rPr lang="zh-CN" altLang="en-US" sz="2400" spc="27" dirty="0">
                <a:solidFill>
                  <a:srgbClr val="54545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可以在百度开发者平台申请</a:t>
            </a:r>
            <a:endParaRPr lang="en-US" sz="2400" spc="27" dirty="0">
              <a:solidFill>
                <a:srgbClr val="54545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86" y="2911745"/>
            <a:ext cx="6019801" cy="3670990"/>
          </a:xfrm>
          <a:prstGeom prst="rect">
            <a:avLst/>
          </a:prstGeom>
        </p:spPr>
      </p:pic>
      <p:pic>
        <p:nvPicPr>
          <p:cNvPr id="19" name="Picture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2482" y="108285"/>
            <a:ext cx="2325305" cy="6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21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百度地图地理编码接口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150" y="2472093"/>
            <a:ext cx="7141300" cy="4264815"/>
          </a:xfrm>
        </p:spPr>
        <p:txBody>
          <a:bodyPr/>
          <a:lstStyle/>
          <a:p>
            <a:r>
              <a:rPr lang="zh-CN" altLang="en-US" dirty="0"/>
              <a:t>接口测试：</a:t>
            </a:r>
            <a:endParaRPr lang="en-US" altLang="zh-CN" dirty="0"/>
          </a:p>
          <a:p>
            <a:pPr lvl="1"/>
            <a:r>
              <a:rPr lang="en-US" altLang="zh-CN" dirty="0"/>
              <a:t>API URL : </a:t>
            </a:r>
            <a:r>
              <a:rPr lang="en-US" altLang="zh-CN" dirty="0">
                <a:hlinkClick r:id="rId2"/>
              </a:rPr>
              <a:t>https://api.map.baidu.com/geocoding/v3/?address</a:t>
            </a:r>
            <a:r>
              <a:rPr lang="en-US" altLang="zh-CN" dirty="0"/>
              <a:t>=</a:t>
            </a:r>
            <a:r>
              <a:rPr lang="zh-CN" altLang="en-US" dirty="0"/>
              <a:t>北京交通大学</a:t>
            </a:r>
            <a:r>
              <a:rPr lang="en-US" altLang="zh-CN" dirty="0"/>
              <a:t>&amp;output=</a:t>
            </a:r>
            <a:r>
              <a:rPr lang="en-US" altLang="zh-CN" dirty="0" err="1"/>
              <a:t>json&amp;ak</a:t>
            </a:r>
            <a:r>
              <a:rPr lang="en-US" altLang="zh-CN" dirty="0"/>
              <a:t>=</a:t>
            </a:r>
            <a:r>
              <a:rPr lang="zh-CN" altLang="en-US" dirty="0"/>
              <a:t>自己的</a:t>
            </a:r>
            <a:r>
              <a:rPr lang="en-US" altLang="zh-CN" dirty="0"/>
              <a:t>AK</a:t>
            </a:r>
          </a:p>
          <a:p>
            <a:pPr lvl="1"/>
            <a:r>
              <a:rPr lang="zh-CN" altLang="en-US" dirty="0"/>
              <a:t>将上述</a:t>
            </a:r>
            <a:r>
              <a:rPr lang="en-US" altLang="zh-CN" dirty="0"/>
              <a:t>URL</a:t>
            </a:r>
            <a:r>
              <a:rPr lang="zh-CN" altLang="en-US" dirty="0"/>
              <a:t>中的</a:t>
            </a:r>
            <a:r>
              <a:rPr lang="en-US" altLang="zh-CN" dirty="0"/>
              <a:t>AK</a:t>
            </a:r>
            <a:r>
              <a:rPr lang="zh-CN" altLang="en-US" dirty="0"/>
              <a:t>替换为自己的</a:t>
            </a:r>
            <a:r>
              <a:rPr lang="en-US" altLang="zh-CN" dirty="0"/>
              <a:t>AK</a:t>
            </a:r>
            <a:r>
              <a:rPr lang="zh-CN" altLang="en-US" dirty="0"/>
              <a:t>，粘贴到浏览器地址框中，得到如图结果。</a:t>
            </a:r>
            <a:endParaRPr lang="en-US" altLang="zh-CN" dirty="0"/>
          </a:p>
          <a:p>
            <a:pPr lvl="1"/>
            <a:r>
              <a:rPr lang="zh-CN" altLang="en-US" dirty="0"/>
              <a:t>该数据为</a:t>
            </a:r>
            <a:r>
              <a:rPr lang="en-US" altLang="zh-CN" dirty="0"/>
              <a:t>JSON</a:t>
            </a:r>
            <a:r>
              <a:rPr lang="zh-CN" altLang="en-US" dirty="0"/>
              <a:t>格式地理信息数据，通过</a:t>
            </a:r>
            <a:r>
              <a:rPr lang="en-US" altLang="zh-CN" dirty="0"/>
              <a:t>Python</a:t>
            </a:r>
            <a:r>
              <a:rPr lang="zh-CN" altLang="en-US" dirty="0"/>
              <a:t>程序，可以得到经纬度数据。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47625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-apple-system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1" r="-383" b="70548"/>
          <a:stretch/>
        </p:blipFill>
        <p:spPr>
          <a:xfrm>
            <a:off x="4300537" y="1198124"/>
            <a:ext cx="7496175" cy="10239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167" y="2472093"/>
            <a:ext cx="3937545" cy="27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75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高德地图地理编码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高德地图地理编码文档：</a:t>
            </a:r>
            <a:r>
              <a:rPr lang="en-US" altLang="zh-CN" dirty="0">
                <a:hlinkClick r:id="rId2"/>
              </a:rPr>
              <a:t>https://lbs.amap.com/api/webservice/guide/api/georegeo</a:t>
            </a:r>
            <a:endParaRPr lang="en-US" altLang="zh-CN" dirty="0"/>
          </a:p>
          <a:p>
            <a:r>
              <a:rPr lang="zh-CN" altLang="en-US" dirty="0"/>
              <a:t>高德地图地理编码</a:t>
            </a:r>
            <a:r>
              <a:rPr lang="en-US" altLang="zh-CN" dirty="0"/>
              <a:t>API</a:t>
            </a:r>
            <a:r>
              <a:rPr lang="zh-CN" altLang="en-US" dirty="0"/>
              <a:t>测试</a:t>
            </a:r>
            <a:endParaRPr lang="en-US" altLang="zh-CN" dirty="0"/>
          </a:p>
          <a:p>
            <a:r>
              <a:rPr lang="en-US" altLang="zh-CN" dirty="0"/>
              <a:t>URL: </a:t>
            </a:r>
            <a:r>
              <a:rPr lang="en-US" altLang="zh-CN" dirty="0">
                <a:hlinkClick r:id="rId3"/>
              </a:rPr>
              <a:t>https://restapi.amap.com/v3/geocode/geo?address</a:t>
            </a:r>
            <a:r>
              <a:rPr lang="en-US" altLang="zh-CN" dirty="0"/>
              <a:t>=</a:t>
            </a:r>
            <a:r>
              <a:rPr lang="zh-CN" altLang="en-US" dirty="0"/>
              <a:t>北京交通大学</a:t>
            </a:r>
            <a:r>
              <a:rPr lang="en-US" altLang="zh-CN" dirty="0"/>
              <a:t>&amp;output=</a:t>
            </a:r>
            <a:r>
              <a:rPr lang="en-US" altLang="zh-CN" dirty="0" err="1"/>
              <a:t>json&amp;key</a:t>
            </a:r>
            <a:r>
              <a:rPr lang="en-US" altLang="zh-CN" dirty="0"/>
              <a:t>=</a:t>
            </a:r>
            <a:r>
              <a:rPr lang="en-US" altLang="zh-CN" u="sng" dirty="0">
                <a:solidFill>
                  <a:srgbClr val="FF0000"/>
                </a:solidFill>
              </a:rPr>
              <a:t>&lt;</a:t>
            </a:r>
            <a:r>
              <a:rPr lang="zh-CN" altLang="en-US" u="sng" dirty="0">
                <a:solidFill>
                  <a:srgbClr val="FF0000"/>
                </a:solidFill>
              </a:rPr>
              <a:t>用户的</a:t>
            </a:r>
            <a:r>
              <a:rPr lang="en-US" altLang="zh-CN" u="sng" dirty="0">
                <a:solidFill>
                  <a:srgbClr val="FF0000"/>
                </a:solidFill>
              </a:rPr>
              <a:t>key&gt;</a:t>
            </a:r>
          </a:p>
          <a:p>
            <a:r>
              <a:rPr lang="zh-CN" altLang="en-US" dirty="0"/>
              <a:t>将上述</a:t>
            </a:r>
            <a:r>
              <a:rPr lang="en-US" altLang="zh-CN" dirty="0"/>
              <a:t>URL</a:t>
            </a:r>
            <a:r>
              <a:rPr lang="zh-CN" altLang="en-US" dirty="0"/>
              <a:t>中的</a:t>
            </a:r>
            <a:r>
              <a:rPr lang="en-US" altLang="zh-CN" dirty="0"/>
              <a:t>key</a:t>
            </a:r>
            <a:r>
              <a:rPr lang="zh-CN" altLang="en-US" dirty="0"/>
              <a:t>替换为自己的</a:t>
            </a:r>
            <a:r>
              <a:rPr lang="en-US" altLang="zh-CN" dirty="0"/>
              <a:t>key</a:t>
            </a:r>
            <a:r>
              <a:rPr lang="zh-CN" altLang="en-US" dirty="0"/>
              <a:t>，粘贴到浏览器地址框中</a:t>
            </a:r>
            <a:r>
              <a:rPr lang="en-US" altLang="zh-CN" dirty="0"/>
              <a:t>,</a:t>
            </a:r>
            <a:r>
              <a:rPr lang="zh-CN" altLang="en-US" dirty="0"/>
              <a:t>测试接口是否可用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该数据为</a:t>
            </a:r>
            <a:r>
              <a:rPr lang="en-US" altLang="zh-CN" dirty="0"/>
              <a:t>JSON</a:t>
            </a:r>
            <a:r>
              <a:rPr lang="zh-CN" altLang="en-US" dirty="0"/>
              <a:t>格式地理信息数据，通过</a:t>
            </a:r>
            <a:r>
              <a:rPr lang="en-US" altLang="zh-CN" dirty="0"/>
              <a:t>Python</a:t>
            </a:r>
            <a:r>
              <a:rPr lang="zh-CN" altLang="en-US" dirty="0"/>
              <a:t>程序，可以得到经纬度数据</a:t>
            </a:r>
          </a:p>
        </p:txBody>
      </p:sp>
    </p:spTree>
    <p:extLst>
      <p:ext uri="{BB962C8B-B14F-4D97-AF65-F5344CB8AC3E}">
        <p14:creationId xmlns:p14="http://schemas.microsoft.com/office/powerpoint/2010/main" val="4193160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高德地图</a:t>
            </a:r>
            <a:r>
              <a:rPr lang="en-US" altLang="zh-CN" dirty="0" err="1"/>
              <a:t>webAPI</a:t>
            </a:r>
            <a:r>
              <a:rPr lang="zh-CN" altLang="en-US" dirty="0"/>
              <a:t>文档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1" y="828251"/>
            <a:ext cx="8021781" cy="54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4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百度</a:t>
            </a:r>
            <a:r>
              <a:rPr lang="en-US" altLang="zh-CN" dirty="0"/>
              <a:t>API</a:t>
            </a:r>
            <a:r>
              <a:rPr lang="zh-CN" altLang="en-US" dirty="0"/>
              <a:t>地理坐标获取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920970"/>
              </p:ext>
            </p:extLst>
          </p:nvPr>
        </p:nvGraphicFramePr>
        <p:xfrm>
          <a:off x="7780714" y="892147"/>
          <a:ext cx="4089862" cy="4404360"/>
        </p:xfrm>
        <a:graphic>
          <a:graphicData uri="http://schemas.openxmlformats.org/drawingml/2006/table">
            <a:tbl>
              <a:tblPr/>
              <a:tblGrid>
                <a:gridCol w="1295023">
                  <a:extLst>
                    <a:ext uri="{9D8B030D-6E8A-4147-A177-3AD203B41FA5}">
                      <a16:colId xmlns:a16="http://schemas.microsoft.com/office/drawing/2014/main" val="2424542624"/>
                    </a:ext>
                  </a:extLst>
                </a:gridCol>
                <a:gridCol w="2794839">
                  <a:extLst>
                    <a:ext uri="{9D8B030D-6E8A-4147-A177-3AD203B41FA5}">
                      <a16:colId xmlns:a16="http://schemas.microsoft.com/office/drawing/2014/main" val="2723092175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5542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北京十里堡店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北京市朝阳区十里堡乙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号院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新城市广场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46915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北京大成店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北京市丰台区大成路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号翠微百货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9463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北京东坝店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北京市东坝中路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号楼地下二层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B201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62765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北京小营店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北京市海淀区文龙家园四里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号楼一楼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4942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北京红莲店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北京市西城区手帕口南街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号京铁和园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综合楼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63407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北京经开店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北京经济技术开发区亦庄开发区荣京西街经开大厦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5101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北京西直门店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北京市西城区西直门外大街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号阳光大厦地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3911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北京乐成店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北京市朝阳区东三环中路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号楼乐城中心 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space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674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北京百荣世贸店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北京市东城区永定门外大街甲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号地上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8588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北京顺义店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北京居然之家顺西路家居建材市场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F1,F2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0634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北京房山金泰店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北京市房山区长政南街金泰广场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83689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北京丽泽店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北京丰台区居然之家丽泽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Mall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第一层及地下二层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2833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北京石景山八角店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北京市石景山区阜石路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号居然之家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811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北京西二旗万科店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北京市昌平区龙域中心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座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94106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北京顾家庄桥店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北京市朝阳区来广营西路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231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北京金源店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北京市海淀区远大路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号居然之家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6506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北京崇文门新世界店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北京市东城区东打磨厂街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号新世界百货新活馆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层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543865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32014" y="719621"/>
            <a:ext cx="3805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通过爬虫获取盒马鲜生门店地址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通过百度</a:t>
            </a:r>
            <a:r>
              <a:rPr lang="en-US" altLang="zh-CN" dirty="0"/>
              <a:t>API</a:t>
            </a:r>
            <a:r>
              <a:rPr lang="zh-CN" altLang="en-US" dirty="0"/>
              <a:t>获取门店经纬度坐标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5636" y="1447102"/>
            <a:ext cx="714758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def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baidu_api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address:str</a:t>
            </a:r>
            <a:r>
              <a:rPr lang="en-US" altLang="zh-CN" sz="1600" dirty="0"/>
              <a:t>):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ak</a:t>
            </a:r>
            <a:r>
              <a:rPr lang="en-US" altLang="zh-CN" sz="1600" dirty="0"/>
              <a:t> = “***"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url</a:t>
            </a:r>
            <a:r>
              <a:rPr lang="en-US" altLang="zh-CN" sz="1600" dirty="0"/>
              <a:t> = (</a:t>
            </a:r>
            <a:r>
              <a:rPr lang="en-US" altLang="zh-CN" sz="1600" dirty="0" err="1"/>
              <a:t>f</a:t>
            </a:r>
            <a:r>
              <a:rPr lang="en-US" altLang="zh-CN" sz="1600" dirty="0" err="1">
                <a:hlinkClick r:id="rId2"/>
              </a:rPr>
              <a:t>”https</a:t>
            </a:r>
            <a:r>
              <a:rPr lang="en-US" altLang="zh-CN" sz="1600" dirty="0">
                <a:hlinkClick r:id="rId2"/>
              </a:rPr>
              <a:t>://api.map.baidu.com/geocoding/v3/?address={address}&amp;output=</a:t>
            </a:r>
            <a:r>
              <a:rPr lang="en-US" altLang="zh-CN" sz="1600" dirty="0" err="1">
                <a:hlinkClick r:id="rId2"/>
              </a:rPr>
              <a:t>json&amp;ak</a:t>
            </a:r>
            <a:r>
              <a:rPr lang="en-US" altLang="zh-CN" sz="1600" dirty="0">
                <a:hlinkClick r:id="rId2"/>
              </a:rPr>
              <a:t>={</a:t>
            </a:r>
            <a:r>
              <a:rPr lang="en-US" altLang="zh-CN" sz="1600" dirty="0" err="1">
                <a:hlinkClick r:id="rId2"/>
              </a:rPr>
              <a:t>ak</a:t>
            </a:r>
            <a:r>
              <a:rPr lang="en-US" altLang="zh-CN" sz="1600" dirty="0">
                <a:hlinkClick r:id="rId2"/>
              </a:rPr>
              <a:t>}</a:t>
            </a:r>
            <a:r>
              <a:rPr lang="en-US" altLang="zh-CN" sz="1600" dirty="0"/>
              <a:t>”)</a:t>
            </a:r>
          </a:p>
          <a:p>
            <a:r>
              <a:rPr lang="en-US" altLang="zh-CN" sz="1600" dirty="0"/>
              <a:t>    response = </a:t>
            </a:r>
            <a:r>
              <a:rPr lang="en-US" altLang="zh-CN" sz="1600" dirty="0" err="1"/>
              <a:t>requests.get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url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    info = </a:t>
            </a:r>
            <a:r>
              <a:rPr lang="en-US" altLang="zh-CN" sz="1600" dirty="0" err="1"/>
              <a:t>response.json</a:t>
            </a:r>
            <a:r>
              <a:rPr lang="en-US" altLang="zh-CN" sz="1600" dirty="0"/>
              <a:t>()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lng</a:t>
            </a:r>
            <a:r>
              <a:rPr lang="en-US" altLang="zh-CN" sz="1600" dirty="0"/>
              <a:t> = 0.0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lat</a:t>
            </a:r>
            <a:r>
              <a:rPr lang="en-US" altLang="zh-CN" sz="1600" dirty="0"/>
              <a:t> = 0.0</a:t>
            </a:r>
          </a:p>
          <a:p>
            <a:r>
              <a:rPr lang="en-US" altLang="zh-CN" sz="1600" dirty="0"/>
              <a:t>    if info['status']==0: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lng</a:t>
            </a:r>
            <a:r>
              <a:rPr lang="en-US" altLang="zh-CN" sz="1600" dirty="0"/>
              <a:t> = info['result']['location'].get('</a:t>
            </a:r>
            <a:r>
              <a:rPr lang="en-US" altLang="zh-CN" sz="1600" dirty="0" err="1"/>
              <a:t>lng</a:t>
            </a:r>
            <a:r>
              <a:rPr lang="en-US" altLang="zh-CN" sz="1600" dirty="0"/>
              <a:t>')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lat</a:t>
            </a:r>
            <a:r>
              <a:rPr lang="en-US" altLang="zh-CN" sz="1600" dirty="0"/>
              <a:t> = info['result']['location'].get('</a:t>
            </a:r>
            <a:r>
              <a:rPr lang="en-US" altLang="zh-CN" sz="1600" dirty="0" err="1"/>
              <a:t>lat</a:t>
            </a:r>
            <a:r>
              <a:rPr lang="en-US" altLang="zh-CN" sz="1600" dirty="0"/>
              <a:t>')</a:t>
            </a:r>
          </a:p>
          <a:p>
            <a:r>
              <a:rPr lang="en-US" altLang="zh-CN" sz="1600" dirty="0"/>
              <a:t>        print(f"{address} : {</a:t>
            </a:r>
            <a:r>
              <a:rPr lang="en-US" altLang="zh-CN" sz="1600" dirty="0" err="1"/>
              <a:t>lng</a:t>
            </a:r>
            <a:r>
              <a:rPr lang="en-US" altLang="zh-CN" sz="1600" dirty="0"/>
              <a:t>}, {</a:t>
            </a:r>
            <a:r>
              <a:rPr lang="en-US" altLang="zh-CN" sz="1600" dirty="0" err="1"/>
              <a:t>lat</a:t>
            </a:r>
            <a:r>
              <a:rPr lang="en-US" altLang="zh-CN" sz="1600" dirty="0"/>
              <a:t>} ")</a:t>
            </a:r>
          </a:p>
          <a:p>
            <a:r>
              <a:rPr lang="en-US" altLang="zh-CN" sz="1600" dirty="0"/>
              <a:t>    else:</a:t>
            </a:r>
          </a:p>
          <a:p>
            <a:r>
              <a:rPr lang="en-US" altLang="zh-CN" sz="1600" dirty="0"/>
              <a:t>        print(f"{address}, </a:t>
            </a:r>
            <a:r>
              <a:rPr lang="zh-CN" altLang="en-US" sz="1600" dirty="0"/>
              <a:t>数据错误</a:t>
            </a:r>
            <a:r>
              <a:rPr lang="en-US" altLang="zh-CN" sz="1600" dirty="0"/>
              <a:t>: {info['status']}")        </a:t>
            </a:r>
          </a:p>
          <a:p>
            <a:r>
              <a:rPr lang="en-US" altLang="zh-CN" sz="1600" dirty="0"/>
              <a:t>    </a:t>
            </a:r>
          </a:p>
          <a:p>
            <a:r>
              <a:rPr lang="en-US" altLang="zh-CN" sz="1600" dirty="0"/>
              <a:t>    return (</a:t>
            </a:r>
            <a:r>
              <a:rPr lang="en-US" altLang="zh-CN" sz="1600" dirty="0" err="1"/>
              <a:t>lng,lat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00517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高德</a:t>
            </a:r>
            <a:r>
              <a:rPr lang="en-US" altLang="zh-CN" dirty="0"/>
              <a:t>API</a:t>
            </a:r>
            <a:r>
              <a:rPr lang="zh-CN" altLang="en-US" dirty="0"/>
              <a:t>地理坐标获取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通过高德</a:t>
            </a:r>
            <a:r>
              <a:rPr lang="en-US" altLang="zh-CN" dirty="0"/>
              <a:t>API</a:t>
            </a:r>
            <a:r>
              <a:rPr lang="zh-CN" altLang="en-US" dirty="0"/>
              <a:t>获取盒马鲜生门店坐标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55963" y="1587731"/>
            <a:ext cx="98908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gaode_api</a:t>
            </a:r>
            <a:r>
              <a:rPr lang="en-US" altLang="zh-CN" dirty="0"/>
              <a:t>(</a:t>
            </a:r>
            <a:r>
              <a:rPr lang="en-US" altLang="zh-CN" dirty="0" err="1"/>
              <a:t>address:str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lnglat</a:t>
            </a:r>
            <a:r>
              <a:rPr lang="en-US" altLang="zh-CN" dirty="0"/>
              <a:t> = ""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lng</a:t>
            </a:r>
            <a:r>
              <a:rPr lang="en-US" altLang="zh-CN" dirty="0"/>
              <a:t> = ""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lat</a:t>
            </a:r>
            <a:r>
              <a:rPr lang="en-US" altLang="zh-CN" dirty="0"/>
              <a:t> = ""</a:t>
            </a:r>
          </a:p>
          <a:p>
            <a:r>
              <a:rPr lang="en-US" altLang="zh-CN" dirty="0"/>
              <a:t>    key = “***"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url</a:t>
            </a:r>
            <a:r>
              <a:rPr lang="en-US" altLang="zh-CN" dirty="0"/>
              <a:t> = </a:t>
            </a:r>
            <a:r>
              <a:rPr lang="en-US" altLang="zh-CN" dirty="0" err="1"/>
              <a:t>f"https</a:t>
            </a:r>
            <a:r>
              <a:rPr lang="en-US" altLang="zh-CN" dirty="0"/>
              <a:t>://restapi.amap.com/v3/geocode/</a:t>
            </a:r>
            <a:r>
              <a:rPr lang="en-US" altLang="zh-CN" dirty="0" err="1"/>
              <a:t>geo?address</a:t>
            </a:r>
            <a:r>
              <a:rPr lang="en-US" altLang="zh-CN" dirty="0"/>
              <a:t>={address}&amp;output=</a:t>
            </a:r>
            <a:r>
              <a:rPr lang="en-US" altLang="zh-CN" dirty="0" err="1"/>
              <a:t>json&amp;key</a:t>
            </a:r>
            <a:r>
              <a:rPr lang="en-US" altLang="zh-CN" dirty="0"/>
              <a:t>={key}"</a:t>
            </a:r>
          </a:p>
          <a:p>
            <a:r>
              <a:rPr lang="en-US" altLang="zh-CN" dirty="0"/>
              <a:t>    response = </a:t>
            </a:r>
            <a:r>
              <a:rPr lang="en-US" altLang="zh-CN" dirty="0" err="1"/>
              <a:t>requests.get</a:t>
            </a:r>
            <a:r>
              <a:rPr lang="en-US" altLang="zh-CN" dirty="0"/>
              <a:t>(</a:t>
            </a:r>
            <a:r>
              <a:rPr lang="en-US" altLang="zh-CN" dirty="0" err="1"/>
              <a:t>url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info = </a:t>
            </a:r>
            <a:r>
              <a:rPr lang="en-US" altLang="zh-CN" dirty="0" err="1"/>
              <a:t>response.json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if info['status']=='1':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lnglat</a:t>
            </a:r>
            <a:r>
              <a:rPr lang="en-US" altLang="zh-CN" dirty="0"/>
              <a:t> = info['geocodes'][0]['location']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lng,lat</a:t>
            </a:r>
            <a:r>
              <a:rPr lang="en-US" altLang="zh-CN" dirty="0"/>
              <a:t> = </a:t>
            </a:r>
            <a:r>
              <a:rPr lang="en-US" altLang="zh-CN" dirty="0" err="1"/>
              <a:t>lnglat.split</a:t>
            </a:r>
            <a:r>
              <a:rPr lang="en-US" altLang="zh-CN" dirty="0"/>
              <a:t>(",")</a:t>
            </a:r>
          </a:p>
          <a:p>
            <a:r>
              <a:rPr lang="en-US" altLang="zh-CN" dirty="0"/>
              <a:t>            print(f"{address} : {</a:t>
            </a:r>
            <a:r>
              <a:rPr lang="en-US" altLang="zh-CN" dirty="0" err="1"/>
              <a:t>lnglat</a:t>
            </a:r>
            <a:r>
              <a:rPr lang="en-US" altLang="zh-CN" dirty="0"/>
              <a:t>} ")           </a:t>
            </a:r>
          </a:p>
          <a:p>
            <a:r>
              <a:rPr lang="en-US" altLang="zh-CN" dirty="0"/>
              <a:t>    else:</a:t>
            </a:r>
          </a:p>
          <a:p>
            <a:r>
              <a:rPr lang="en-US" altLang="zh-CN" dirty="0"/>
              <a:t>            print(f"{address}, </a:t>
            </a:r>
            <a:r>
              <a:rPr lang="zh-CN" altLang="en-US" dirty="0"/>
              <a:t>数据错误</a:t>
            </a:r>
            <a:r>
              <a:rPr lang="en-US" altLang="zh-CN" dirty="0"/>
              <a:t>: {info['status']}")        </a:t>
            </a:r>
          </a:p>
          <a:p>
            <a:endParaRPr lang="en-US" altLang="zh-CN" dirty="0"/>
          </a:p>
          <a:p>
            <a:r>
              <a:rPr lang="en-US" altLang="zh-CN" dirty="0"/>
              <a:t>    return (</a:t>
            </a:r>
            <a:r>
              <a:rPr lang="en-US" altLang="zh-CN" dirty="0" err="1"/>
              <a:t>lng</a:t>
            </a:r>
            <a:r>
              <a:rPr lang="en-US" altLang="zh-CN" dirty="0"/>
              <a:t>, </a:t>
            </a:r>
            <a:r>
              <a:rPr lang="en-US" altLang="zh-CN" dirty="0" err="1"/>
              <a:t>lat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449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写入</a:t>
            </a:r>
            <a:r>
              <a:rPr lang="en-US" altLang="zh-CN" dirty="0"/>
              <a:t>CSV</a:t>
            </a:r>
            <a:r>
              <a:rPr lang="zh-CN" altLang="en-US" dirty="0"/>
              <a:t>数据文件保存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With open(filename, mode) as</a:t>
            </a:r>
          </a:p>
          <a:p>
            <a:r>
              <a:rPr lang="en-US" altLang="zh-CN" dirty="0"/>
              <a:t>“r” – </a:t>
            </a:r>
            <a:r>
              <a:rPr lang="zh-CN" altLang="en-US" dirty="0"/>
              <a:t>读取</a:t>
            </a:r>
            <a:r>
              <a:rPr lang="en-US" altLang="zh-CN" dirty="0"/>
              <a:t>, “w”-</a:t>
            </a:r>
            <a:r>
              <a:rPr lang="zh-CN" altLang="en-US" dirty="0"/>
              <a:t>写入， “</a:t>
            </a:r>
            <a:r>
              <a:rPr lang="en-US" altLang="zh-CN" dirty="0"/>
              <a:t>a</a:t>
            </a:r>
            <a:r>
              <a:rPr lang="zh-CN" altLang="en-US" dirty="0"/>
              <a:t>”</a:t>
            </a:r>
            <a:r>
              <a:rPr lang="en-US" altLang="zh-CN" dirty="0"/>
              <a:t>-</a:t>
            </a:r>
            <a:r>
              <a:rPr lang="zh-CN" altLang="en-US" dirty="0"/>
              <a:t>追加</a:t>
            </a:r>
            <a:r>
              <a:rPr lang="en-US" altLang="zh-CN" dirty="0"/>
              <a:t>append</a:t>
            </a:r>
          </a:p>
          <a:p>
            <a:r>
              <a:rPr lang="en-US" altLang="zh-CN" dirty="0"/>
              <a:t> “b” –</a:t>
            </a:r>
            <a:r>
              <a:rPr lang="zh-CN" altLang="en-US" dirty="0"/>
              <a:t>二进制文件</a:t>
            </a:r>
            <a:r>
              <a:rPr lang="en-US" altLang="zh-CN" dirty="0"/>
              <a:t>(Bin)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036618" y="2976829"/>
            <a:ext cx="6001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save_to_csv</a:t>
            </a:r>
            <a:r>
              <a:rPr lang="en-US" altLang="zh-CN" dirty="0"/>
              <a:t>(</a:t>
            </a:r>
            <a:r>
              <a:rPr lang="en-US" altLang="zh-CN" dirty="0" err="1"/>
              <a:t>data:str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with open("</a:t>
            </a:r>
            <a:r>
              <a:rPr lang="en-US" altLang="zh-CN" dirty="0" err="1"/>
              <a:t>hema_geocode.csv","a",encoding</a:t>
            </a:r>
            <a:r>
              <a:rPr lang="en-US" altLang="zh-CN" dirty="0"/>
              <a:t>='</a:t>
            </a:r>
            <a:r>
              <a:rPr lang="en-US" altLang="zh-CN" dirty="0" err="1"/>
              <a:t>gbk</a:t>
            </a:r>
            <a:r>
              <a:rPr lang="en-US" altLang="zh-CN" dirty="0"/>
              <a:t>') as f: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f.write</a:t>
            </a:r>
            <a:r>
              <a:rPr lang="en-US" altLang="zh-CN" dirty="0"/>
              <a:t>(data)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5340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83407" y="638471"/>
            <a:ext cx="6213560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1200" dirty="0"/>
          </a:p>
          <a:p>
            <a:r>
              <a:rPr lang="en-US" altLang="zh-CN" sz="1400" dirty="0"/>
              <a:t>if __name__ == "__main__":    </a:t>
            </a:r>
          </a:p>
          <a:p>
            <a:r>
              <a:rPr lang="en-US" altLang="zh-CN" sz="1400" dirty="0"/>
              <a:t>    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lng_list</a:t>
            </a:r>
            <a:r>
              <a:rPr lang="en-US" altLang="zh-CN" sz="1400" dirty="0"/>
              <a:t> = []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lat_list</a:t>
            </a:r>
            <a:r>
              <a:rPr lang="en-US" altLang="zh-CN" sz="1400" dirty="0"/>
              <a:t> = []</a:t>
            </a:r>
          </a:p>
          <a:p>
            <a:r>
              <a:rPr lang="en-US" altLang="zh-CN" sz="1400" dirty="0"/>
              <a:t>    address = ""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def</a:t>
            </a:r>
            <a:r>
              <a:rPr lang="en-US" altLang="zh-CN" sz="1400" dirty="0"/>
              <a:t> </a:t>
            </a:r>
            <a:r>
              <a:rPr lang="en-US" altLang="zh-CN" sz="1400" dirty="0" err="1"/>
              <a:t>hema_geocode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webapi</a:t>
            </a:r>
            <a:r>
              <a:rPr lang="en-US" altLang="zh-CN" sz="1400" dirty="0"/>
              <a:t>):  </a:t>
            </a:r>
          </a:p>
          <a:p>
            <a:r>
              <a:rPr lang="en-US" altLang="zh-CN" sz="1400" dirty="0"/>
              <a:t>        for address, name in zip(</a:t>
            </a:r>
            <a:r>
              <a:rPr lang="en-US" altLang="zh-CN" sz="1400" dirty="0" err="1"/>
              <a:t>address_list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name_list</a:t>
            </a:r>
            <a:r>
              <a:rPr lang="en-US" altLang="zh-CN" sz="1400" dirty="0"/>
              <a:t>):</a:t>
            </a:r>
          </a:p>
          <a:p>
            <a:r>
              <a:rPr lang="en-US" altLang="zh-CN" sz="1400" dirty="0"/>
              <a:t>            </a:t>
            </a:r>
            <a:r>
              <a:rPr lang="en-US" altLang="zh-CN" sz="1400" dirty="0" err="1"/>
              <a:t>lng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lat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webapi</a:t>
            </a:r>
            <a:r>
              <a:rPr lang="en-US" altLang="zh-CN" sz="1400" dirty="0"/>
              <a:t>(address)</a:t>
            </a:r>
          </a:p>
          <a:p>
            <a:r>
              <a:rPr lang="en-US" altLang="zh-CN" sz="1400" dirty="0"/>
              <a:t>            address = </a:t>
            </a:r>
            <a:r>
              <a:rPr lang="en-US" altLang="zh-CN" sz="1400" dirty="0" err="1"/>
              <a:t>address.replace</a:t>
            </a:r>
            <a:r>
              <a:rPr lang="en-US" altLang="zh-CN" sz="1400" dirty="0"/>
              <a:t>(",","")</a:t>
            </a:r>
          </a:p>
          <a:p>
            <a:r>
              <a:rPr lang="en-US" altLang="zh-CN" sz="1400" dirty="0"/>
              <a:t>            </a:t>
            </a:r>
            <a:r>
              <a:rPr lang="en-US" altLang="zh-CN" sz="1400" dirty="0" err="1"/>
              <a:t>save_to_csv</a:t>
            </a:r>
            <a:r>
              <a:rPr lang="en-US" altLang="zh-CN" sz="1400" dirty="0"/>
              <a:t>(f"{address},{</a:t>
            </a:r>
            <a:r>
              <a:rPr lang="en-US" altLang="zh-CN" sz="1400" dirty="0" err="1"/>
              <a:t>lng</a:t>
            </a:r>
            <a:r>
              <a:rPr lang="en-US" altLang="zh-CN" sz="1400" dirty="0"/>
              <a:t>},{</a:t>
            </a:r>
            <a:r>
              <a:rPr lang="en-US" altLang="zh-CN" sz="1400" dirty="0" err="1"/>
              <a:t>lat</a:t>
            </a:r>
            <a:r>
              <a:rPr lang="en-US" altLang="zh-CN" sz="1400" dirty="0"/>
              <a:t>}\n")</a:t>
            </a:r>
          </a:p>
          <a:p>
            <a:r>
              <a:rPr lang="en-US" altLang="zh-CN" sz="1400" dirty="0"/>
              <a:t>            </a:t>
            </a:r>
            <a:r>
              <a:rPr lang="en-US" altLang="zh-CN" sz="1400" dirty="0" err="1"/>
              <a:t>lng_list.append</a:t>
            </a:r>
            <a:r>
              <a:rPr lang="en-US" altLang="zh-CN" sz="1400" dirty="0"/>
              <a:t>(</a:t>
            </a:r>
            <a:r>
              <a:rPr lang="en-US" altLang="zh-CN" sz="1400" dirty="0" err="1"/>
              <a:t>lng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        </a:t>
            </a:r>
            <a:r>
              <a:rPr lang="en-US" altLang="zh-CN" sz="1400" dirty="0" err="1"/>
              <a:t>lat_list.append</a:t>
            </a:r>
            <a:r>
              <a:rPr lang="en-US" altLang="zh-CN" sz="1400" dirty="0"/>
              <a:t>(</a:t>
            </a:r>
            <a:r>
              <a:rPr lang="en-US" altLang="zh-CN" sz="1400" dirty="0" err="1"/>
              <a:t>lat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        sleep(2)</a:t>
            </a:r>
          </a:p>
          <a:p>
            <a:r>
              <a:rPr lang="en-US" altLang="zh-CN" sz="1400" dirty="0"/>
              <a:t>        print("-"*20, "\n</a:t>
            </a:r>
            <a:r>
              <a:rPr lang="zh-CN" altLang="en-US" sz="1400" dirty="0"/>
              <a:t>地理数据解析结束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/>
              <a:t>        return (</a:t>
            </a:r>
            <a:r>
              <a:rPr lang="en-US" altLang="zh-CN" sz="1400" dirty="0" err="1"/>
              <a:t>lng_list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lat_list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</a:t>
            </a:r>
          </a:p>
          <a:p>
            <a:r>
              <a:rPr lang="en-US" altLang="zh-CN" sz="1400" dirty="0"/>
              <a:t>    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df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pd.read_csv</a:t>
            </a:r>
            <a:r>
              <a:rPr lang="en-US" altLang="zh-CN" sz="1400" dirty="0"/>
              <a:t>("</a:t>
            </a:r>
            <a:r>
              <a:rPr lang="zh-CN" altLang="en-US" sz="1400" dirty="0"/>
              <a:t>盒马鲜生门店地址</a:t>
            </a:r>
            <a:r>
              <a:rPr lang="en-US" altLang="zh-CN" sz="1400" dirty="0"/>
              <a:t>.</a:t>
            </a:r>
            <a:r>
              <a:rPr lang="en-US" altLang="zh-CN" sz="1400" dirty="0" err="1"/>
              <a:t>csv",encoding</a:t>
            </a:r>
            <a:r>
              <a:rPr lang="en-US" altLang="zh-CN" sz="1400" dirty="0"/>
              <a:t>="</a:t>
            </a:r>
            <a:r>
              <a:rPr lang="en-US" altLang="zh-CN" sz="1400" dirty="0" err="1"/>
              <a:t>gbk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hama_beijing_df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df</a:t>
            </a:r>
            <a:r>
              <a:rPr lang="en-US" altLang="zh-CN" sz="1400" dirty="0"/>
              <a:t>[</a:t>
            </a:r>
            <a:r>
              <a:rPr lang="en-US" altLang="zh-CN" sz="1400" dirty="0" err="1"/>
              <a:t>df</a:t>
            </a:r>
            <a:r>
              <a:rPr lang="en-US" altLang="zh-CN" sz="1400" dirty="0"/>
              <a:t>['city']=='</a:t>
            </a:r>
            <a:r>
              <a:rPr lang="zh-CN" altLang="en-US" sz="1400" dirty="0"/>
              <a:t>北京</a:t>
            </a:r>
            <a:r>
              <a:rPr lang="en-US" altLang="zh-CN" sz="1400" dirty="0"/>
              <a:t>'].</a:t>
            </a:r>
            <a:r>
              <a:rPr lang="en-US" altLang="zh-CN" sz="1400" dirty="0" err="1"/>
              <a:t>loc</a:t>
            </a:r>
            <a:r>
              <a:rPr lang="en-US" altLang="zh-CN" sz="1400" dirty="0"/>
              <a:t>[5:10,:]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address_list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hama_beijing_df</a:t>
            </a:r>
            <a:r>
              <a:rPr lang="en-US" altLang="zh-CN" sz="1400" dirty="0"/>
              <a:t>['address'].</a:t>
            </a:r>
            <a:r>
              <a:rPr lang="en-US" altLang="zh-CN" sz="1400" dirty="0" err="1"/>
              <a:t>to_list</a:t>
            </a:r>
            <a:r>
              <a:rPr lang="en-US" altLang="zh-CN" sz="1400" dirty="0"/>
              <a:t>()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name_list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hama_beijing_df</a:t>
            </a:r>
            <a:r>
              <a:rPr lang="en-US" altLang="zh-CN" sz="1400" dirty="0"/>
              <a:t>['name'].</a:t>
            </a:r>
            <a:r>
              <a:rPr lang="en-US" altLang="zh-CN" sz="1400" dirty="0" err="1"/>
              <a:t>to_list</a:t>
            </a:r>
            <a:r>
              <a:rPr lang="en-US" altLang="zh-CN" sz="1400" dirty="0"/>
              <a:t>()  </a:t>
            </a:r>
          </a:p>
          <a:p>
            <a:r>
              <a:rPr lang="en-US" altLang="zh-CN" sz="1400" dirty="0"/>
              <a:t>    # </a:t>
            </a:r>
            <a:r>
              <a:rPr lang="zh-CN" altLang="en-US" sz="1400" dirty="0"/>
              <a:t>采用高德</a:t>
            </a:r>
            <a:r>
              <a:rPr lang="en-US" altLang="zh-CN" sz="1400" dirty="0"/>
              <a:t>API</a:t>
            </a:r>
          </a:p>
          <a:p>
            <a:r>
              <a:rPr lang="en-US" altLang="zh-CN" sz="1400" dirty="0"/>
              <a:t>    # </a:t>
            </a:r>
            <a:r>
              <a:rPr lang="en-US" altLang="zh-CN" sz="1400" dirty="0" err="1"/>
              <a:t>hema_geocode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gaode_api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# </a:t>
            </a:r>
            <a:r>
              <a:rPr lang="zh-CN" altLang="en-US" sz="1400" dirty="0"/>
              <a:t>采用百度</a:t>
            </a:r>
            <a:r>
              <a:rPr lang="en-US" altLang="zh-CN" sz="1400" dirty="0"/>
              <a:t>API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hema_geocode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baidu_api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df_hema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pd.DataFrame</a:t>
            </a:r>
            <a:r>
              <a:rPr lang="en-US" altLang="zh-CN" sz="1400" dirty="0"/>
              <a:t>({"address": </a:t>
            </a:r>
            <a:r>
              <a:rPr lang="en-US" altLang="zh-CN" sz="1400" dirty="0" err="1"/>
              <a:t>address_list</a:t>
            </a:r>
            <a:r>
              <a:rPr lang="en-US" altLang="zh-CN" sz="1400" dirty="0"/>
              <a:t>, "</a:t>
            </a:r>
            <a:r>
              <a:rPr lang="en-US" altLang="zh-CN" sz="1400" dirty="0" err="1"/>
              <a:t>lng</a:t>
            </a:r>
            <a:r>
              <a:rPr lang="en-US" altLang="zh-CN" sz="1400" dirty="0"/>
              <a:t>":</a:t>
            </a:r>
            <a:r>
              <a:rPr lang="en-US" altLang="zh-CN" sz="1400" dirty="0" err="1"/>
              <a:t>lng_list</a:t>
            </a:r>
            <a:r>
              <a:rPr lang="en-US" altLang="zh-CN" sz="1400" dirty="0"/>
              <a:t>, "</a:t>
            </a:r>
            <a:r>
              <a:rPr lang="en-US" altLang="zh-CN" sz="1400" dirty="0" err="1"/>
              <a:t>lat</a:t>
            </a:r>
            <a:r>
              <a:rPr lang="en-US" altLang="zh-CN" sz="1400" dirty="0"/>
              <a:t>":</a:t>
            </a:r>
            <a:r>
              <a:rPr lang="en-US" altLang="zh-CN" sz="1400" dirty="0" err="1"/>
              <a:t>lat_list</a:t>
            </a:r>
            <a:r>
              <a:rPr lang="en-US" altLang="zh-CN" sz="1400" dirty="0"/>
              <a:t>})</a:t>
            </a:r>
          </a:p>
          <a:p>
            <a:r>
              <a:rPr lang="en-US" altLang="zh-CN" sz="1400" dirty="0"/>
              <a:t>    display(</a:t>
            </a:r>
            <a:r>
              <a:rPr lang="en-US" altLang="zh-CN" sz="1400" dirty="0" err="1"/>
              <a:t>df_hema</a:t>
            </a:r>
            <a:r>
              <a:rPr lang="en-US" altLang="zh-CN" sz="1400" dirty="0"/>
              <a:t>)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70881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</a:t>
            </a:r>
            <a:r>
              <a:rPr lang="zh-CN" altLang="en-US" dirty="0"/>
              <a:t>数据可视化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71" y="897773"/>
            <a:ext cx="6994999" cy="581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62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114" y="639375"/>
            <a:ext cx="9672108" cy="58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98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18" y="496041"/>
            <a:ext cx="10942857" cy="6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36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17" y="489052"/>
            <a:ext cx="11336428" cy="58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Stores_count</a:t>
            </a:r>
            <a:r>
              <a:rPr lang="zh-CN" altLang="en-US" dirty="0"/>
              <a:t>计算字段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021" y="1093404"/>
            <a:ext cx="2395451" cy="5199938"/>
          </a:xfrm>
        </p:spPr>
        <p:txBody>
          <a:bodyPr/>
          <a:lstStyle/>
          <a:p>
            <a:r>
              <a:rPr lang="zh-CN" altLang="en-US" sz="2000" dirty="0"/>
              <a:t>计算字段名称</a:t>
            </a:r>
            <a:r>
              <a:rPr lang="en-US" altLang="zh-CN" sz="2000" dirty="0"/>
              <a:t>:</a:t>
            </a:r>
            <a:r>
              <a:rPr lang="en-US" altLang="zh-CN" sz="2000" dirty="0" err="1"/>
              <a:t>stores_count</a:t>
            </a:r>
            <a:endParaRPr lang="en-US" altLang="zh-CN" sz="2000" dirty="0"/>
          </a:p>
          <a:p>
            <a:r>
              <a:rPr lang="zh-CN" altLang="en-US" sz="2000" dirty="0"/>
              <a:t>调用函数：</a:t>
            </a:r>
            <a:r>
              <a:rPr lang="en-US" altLang="zh-CN" sz="2000" dirty="0"/>
              <a:t>count([city])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287" y="759158"/>
            <a:ext cx="9295238" cy="5619048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879680" y="3676747"/>
            <a:ext cx="1920240" cy="2692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911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</a:t>
            </a:r>
            <a:r>
              <a:rPr lang="en-US" altLang="zh-CN" dirty="0"/>
              <a:t>Mark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03" y="977025"/>
            <a:ext cx="10515600" cy="5199938"/>
          </a:xfrm>
        </p:spPr>
        <p:txBody>
          <a:bodyPr/>
          <a:lstStyle/>
          <a:p>
            <a:r>
              <a:rPr lang="zh-CN" altLang="en-US" dirty="0"/>
              <a:t>大小：</a:t>
            </a:r>
            <a:r>
              <a:rPr lang="en-US" altLang="zh-CN" dirty="0" err="1"/>
              <a:t>stores_count</a:t>
            </a:r>
            <a:r>
              <a:rPr lang="zh-CN" altLang="en-US" dirty="0"/>
              <a:t>（显示门店数量）；</a:t>
            </a:r>
            <a:endParaRPr lang="en-US" altLang="zh-CN" dirty="0"/>
          </a:p>
          <a:p>
            <a:r>
              <a:rPr lang="zh-CN" altLang="en-US" dirty="0"/>
              <a:t>颜色：</a:t>
            </a:r>
            <a:r>
              <a:rPr lang="en-US" altLang="zh-CN" dirty="0" err="1"/>
              <a:t>stores_count</a:t>
            </a:r>
            <a:r>
              <a:rPr lang="zh-CN" altLang="en-US" dirty="0"/>
              <a:t>（显示门店数量）；</a:t>
            </a:r>
            <a:endParaRPr lang="en-US" altLang="zh-CN" dirty="0"/>
          </a:p>
          <a:p>
            <a:r>
              <a:rPr lang="zh-CN" altLang="en-US" dirty="0"/>
              <a:t>标签：</a:t>
            </a:r>
            <a:r>
              <a:rPr lang="en-US" altLang="zh-CN" dirty="0"/>
              <a:t>city</a:t>
            </a:r>
            <a:r>
              <a:rPr lang="zh-CN" altLang="en-US" dirty="0"/>
              <a:t>（显示门店城市）；</a:t>
            </a:r>
            <a:endParaRPr lang="en-US" altLang="zh-CN" dirty="0"/>
          </a:p>
          <a:p>
            <a:r>
              <a:rPr lang="zh-CN" altLang="en-US" dirty="0"/>
              <a:t>标签：</a:t>
            </a:r>
            <a:r>
              <a:rPr lang="en-US" altLang="zh-CN" dirty="0" err="1"/>
              <a:t>stores_count</a:t>
            </a:r>
            <a:r>
              <a:rPr lang="zh-CN" altLang="en-US" dirty="0"/>
              <a:t>（显示门店数量）；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 descr="C:\Users\Xiaochun\AppData\Local\Temp\SNAGHTML54358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899" y="1550432"/>
            <a:ext cx="6087101" cy="450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906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各城市门店数量柱状图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892" y="977025"/>
            <a:ext cx="3840480" cy="5199938"/>
          </a:xfrm>
        </p:spPr>
        <p:txBody>
          <a:bodyPr/>
          <a:lstStyle/>
          <a:p>
            <a:r>
              <a:rPr lang="zh-CN" altLang="en-US" dirty="0"/>
              <a:t>列：</a:t>
            </a:r>
            <a:r>
              <a:rPr lang="en-US" altLang="zh-CN" dirty="0"/>
              <a:t>city</a:t>
            </a:r>
          </a:p>
          <a:p>
            <a:r>
              <a:rPr lang="zh-CN" altLang="en-US" dirty="0"/>
              <a:t>行：</a:t>
            </a:r>
            <a:r>
              <a:rPr lang="en-US" altLang="zh-CN" dirty="0" err="1"/>
              <a:t>stores_count</a:t>
            </a:r>
            <a:r>
              <a:rPr lang="zh-CN" altLang="en-US" dirty="0"/>
              <a:t>聚合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 err="1"/>
              <a:t>stores_count</a:t>
            </a:r>
            <a:r>
              <a:rPr lang="zh-CN" altLang="en-US" dirty="0"/>
              <a:t>排序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51" y="786518"/>
            <a:ext cx="7104762" cy="5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724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盒马鲜生数据仪表板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77025"/>
            <a:ext cx="3607612" cy="5199938"/>
          </a:xfrm>
        </p:spPr>
        <p:txBody>
          <a:bodyPr/>
          <a:lstStyle/>
          <a:p>
            <a:r>
              <a:rPr lang="zh-CN" altLang="en-US" dirty="0"/>
              <a:t>添加图像，将盒马</a:t>
            </a:r>
            <a:r>
              <a:rPr lang="en-US" altLang="zh-CN" dirty="0"/>
              <a:t>Logo</a:t>
            </a:r>
            <a:r>
              <a:rPr lang="zh-CN" altLang="en-US" dirty="0"/>
              <a:t>加入；</a:t>
            </a:r>
            <a:endParaRPr lang="en-US" altLang="zh-CN" dirty="0"/>
          </a:p>
          <a:p>
            <a:r>
              <a:rPr lang="zh-CN" altLang="en-US" dirty="0"/>
              <a:t>添加文本“盒马鲜生全国门店数据看板”</a:t>
            </a:r>
            <a:endParaRPr lang="en-US" altLang="zh-CN" dirty="0"/>
          </a:p>
          <a:p>
            <a:r>
              <a:rPr lang="zh-CN" altLang="en-US" dirty="0"/>
              <a:t>将工作表加入仪表板；</a:t>
            </a:r>
          </a:p>
        </p:txBody>
      </p:sp>
      <p:pic>
        <p:nvPicPr>
          <p:cNvPr id="1026" name="Picture 2" descr="C:\Users\Xiaochun\AppData\Local\Temp\SNAGHTML29eb8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565" y="1122219"/>
            <a:ext cx="7353961" cy="533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570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NBA</a:t>
            </a:r>
            <a:r>
              <a:rPr lang="zh-CN" altLang="en-US" dirty="0"/>
              <a:t>篮球赛数据可视化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加入</a:t>
            </a:r>
            <a:r>
              <a:rPr lang="en-US" altLang="zh-CN" dirty="0"/>
              <a:t>NBA</a:t>
            </a:r>
            <a:r>
              <a:rPr lang="zh-CN" altLang="en-US" dirty="0"/>
              <a:t>数据文件</a:t>
            </a:r>
            <a:r>
              <a:rPr lang="en-US" altLang="zh-CN" dirty="0"/>
              <a:t>shots-2020.csv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202" y="1561731"/>
            <a:ext cx="8483798" cy="495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05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025"/>
            <a:ext cx="5317067" cy="5199938"/>
          </a:xfrm>
        </p:spPr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变量含有坐标信息，但原始数据为字符串类型，需要在右键菜单中变换，并拆分</a:t>
            </a:r>
          </a:p>
        </p:txBody>
      </p:sp>
      <p:pic>
        <p:nvPicPr>
          <p:cNvPr id="2054" name="Picture 6" descr="C:\Users\Xiaochun\AppData\Local\Temp\SNAGHTML4c7fb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062" y="977025"/>
            <a:ext cx="4962525" cy="580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Xiaochun\AppData\Local\Temp\SNAGHTML4f69b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83934"/>
            <a:ext cx="5724525" cy="39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882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变量拆分及转化为数字类型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025"/>
            <a:ext cx="3776133" cy="5199938"/>
          </a:xfrm>
        </p:spPr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变量拆分后，新的变量名称为</a:t>
            </a:r>
            <a:r>
              <a:rPr lang="en-US" altLang="zh-CN" dirty="0"/>
              <a:t>”X-</a:t>
            </a:r>
            <a:r>
              <a:rPr lang="zh-CN" altLang="en-US" dirty="0"/>
              <a:t>拆分</a:t>
            </a:r>
            <a:r>
              <a:rPr lang="en-US" altLang="zh-CN" dirty="0"/>
              <a:t>1”(</a:t>
            </a:r>
            <a:r>
              <a:rPr lang="zh-CN" altLang="en-US" dirty="0"/>
              <a:t>或者类似的名称</a:t>
            </a:r>
            <a:r>
              <a:rPr lang="en-US" altLang="zh-CN" dirty="0"/>
              <a:t>),</a:t>
            </a:r>
            <a:r>
              <a:rPr lang="zh-CN" altLang="en-US" dirty="0"/>
              <a:t>通过编辑，可将其重新命名为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pic>
        <p:nvPicPr>
          <p:cNvPr id="3076" name="Picture 4" descr="C:\Users\Xiaochun\AppData\Local\Temp\SNAGHTML55e5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977025"/>
            <a:ext cx="5172075" cy="570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Xiaochun\AppData\Local\Temp\SNAGHTML589ce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29763"/>
            <a:ext cx="374332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箭头连接符 4"/>
          <p:cNvCxnSpPr/>
          <p:nvPr/>
        </p:nvCxnSpPr>
        <p:spPr>
          <a:xfrm>
            <a:off x="3352800" y="2607733"/>
            <a:ext cx="0" cy="1049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68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Distance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变量数据转换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025"/>
            <a:ext cx="7281333" cy="5199938"/>
          </a:xfrm>
        </p:spPr>
        <p:txBody>
          <a:bodyPr/>
          <a:lstStyle/>
          <a:p>
            <a:r>
              <a:rPr lang="zh-CN" altLang="en-US" dirty="0"/>
              <a:t>类似</a:t>
            </a:r>
            <a:r>
              <a:rPr lang="en-US" altLang="zh-CN" dirty="0"/>
              <a:t>X</a:t>
            </a:r>
            <a:r>
              <a:rPr lang="zh-CN" altLang="en-US" dirty="0"/>
              <a:t>变量，</a:t>
            </a:r>
            <a:r>
              <a:rPr lang="en-US" altLang="zh-CN" dirty="0"/>
              <a:t>Distance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均需要做数据转换</a:t>
            </a:r>
            <a:endParaRPr lang="en-US" altLang="zh-CN" dirty="0"/>
          </a:p>
          <a:p>
            <a:r>
              <a:rPr lang="en-US" altLang="zh-CN" dirty="0"/>
              <a:t>Distance-&gt;</a:t>
            </a:r>
            <a:r>
              <a:rPr lang="en-US" altLang="zh-CN" dirty="0" err="1"/>
              <a:t>dist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X-&gt;XX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Y-&gt;YY;</a:t>
            </a:r>
            <a:endParaRPr lang="zh-CN" altLang="en-US" dirty="0"/>
          </a:p>
        </p:txBody>
      </p:sp>
      <p:pic>
        <p:nvPicPr>
          <p:cNvPr id="4100" name="Picture 4" descr="C:\Users\Xiaochun\AppData\Local\Temp\SNAGHTML615f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041" y="977025"/>
            <a:ext cx="3019425" cy="56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5856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设置篮球场背景地图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225337"/>
            <a:ext cx="4714702" cy="3241965"/>
          </a:xfrm>
        </p:spPr>
        <p:txBody>
          <a:bodyPr>
            <a:normAutofit/>
          </a:bodyPr>
          <a:lstStyle/>
          <a:p>
            <a:r>
              <a:rPr lang="zh-CN" altLang="en-US" dirty="0"/>
              <a:t>背景地图设定：</a:t>
            </a:r>
            <a:endParaRPr lang="en-US" altLang="zh-CN" dirty="0"/>
          </a:p>
          <a:p>
            <a:pPr lvl="1"/>
            <a:r>
              <a:rPr lang="zh-CN" altLang="en-US" dirty="0"/>
              <a:t>地图</a:t>
            </a:r>
            <a:r>
              <a:rPr lang="en-US" altLang="zh-CN" dirty="0"/>
              <a:t>/</a:t>
            </a:r>
            <a:r>
              <a:rPr lang="zh-CN" altLang="en-US" dirty="0"/>
              <a:t>背景地图</a:t>
            </a:r>
            <a:r>
              <a:rPr lang="en-US" altLang="zh-CN" dirty="0"/>
              <a:t>/shots-2020</a:t>
            </a:r>
          </a:p>
          <a:p>
            <a:r>
              <a:rPr lang="zh-CN" altLang="en-US" dirty="0"/>
              <a:t>编辑背景图片：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r>
              <a:rPr lang="zh-CN" altLang="en-US" dirty="0"/>
              <a:t>字段：</a:t>
            </a:r>
            <a:r>
              <a:rPr lang="en-US" altLang="zh-CN" dirty="0"/>
              <a:t>XX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/>
            <a:r>
              <a:rPr lang="zh-CN" altLang="en-US" dirty="0"/>
              <a:t>范围：左：</a:t>
            </a:r>
            <a:r>
              <a:rPr lang="en-US" altLang="zh-CN" dirty="0"/>
              <a:t>0</a:t>
            </a:r>
            <a:r>
              <a:rPr lang="zh-CN" altLang="en-US" dirty="0"/>
              <a:t>，右：</a:t>
            </a:r>
            <a:r>
              <a:rPr lang="en-US" altLang="zh-CN" dirty="0"/>
              <a:t>940</a:t>
            </a:r>
          </a:p>
          <a:p>
            <a:pPr lvl="1"/>
            <a:r>
              <a:rPr lang="en-US" altLang="zh-CN" dirty="0"/>
              <a:t>Y</a:t>
            </a:r>
            <a:r>
              <a:rPr lang="zh-CN" altLang="en-US" dirty="0"/>
              <a:t>字段：</a:t>
            </a:r>
            <a:r>
              <a:rPr lang="en-US" altLang="zh-CN" dirty="0"/>
              <a:t>YY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/>
            <a:r>
              <a:rPr lang="zh-CN" altLang="en-US" dirty="0"/>
              <a:t>范围：下：</a:t>
            </a:r>
            <a:r>
              <a:rPr lang="en-US" altLang="zh-CN" dirty="0"/>
              <a:t>0</a:t>
            </a:r>
            <a:r>
              <a:rPr lang="zh-CN" altLang="en-US" dirty="0"/>
              <a:t>，上：</a:t>
            </a:r>
            <a:r>
              <a:rPr lang="en-US" altLang="zh-CN" dirty="0"/>
              <a:t>500</a:t>
            </a:r>
          </a:p>
          <a:p>
            <a:pPr lvl="1"/>
            <a:r>
              <a:rPr lang="zh-CN" altLang="en-US" dirty="0"/>
              <a:t>浏览：选择篮球场场地图片</a:t>
            </a:r>
          </a:p>
          <a:p>
            <a:pPr lvl="1"/>
            <a:endParaRPr lang="en-US" altLang="zh-CN" dirty="0"/>
          </a:p>
        </p:txBody>
      </p:sp>
      <p:pic>
        <p:nvPicPr>
          <p:cNvPr id="1026" name="Picture 2" descr="C:\Users\Xiaochun\AppData\Local\Temp\SNAGHTML8d4f1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81" y="977025"/>
            <a:ext cx="6162675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Xiaochun\AppData\Local\Temp\SNAGHTML64d58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921" y="2390601"/>
            <a:ext cx="613410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4619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NBA</a:t>
            </a:r>
            <a:r>
              <a:rPr lang="zh-CN" altLang="en-US" dirty="0"/>
              <a:t>比赛数据面板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61" y="80923"/>
            <a:ext cx="8375171" cy="65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93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</a:t>
            </a:r>
            <a:r>
              <a:rPr lang="zh-CN" altLang="en-US" dirty="0"/>
              <a:t>制作投篮准确率波形图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）建立球员参数</a:t>
            </a:r>
            <a:endParaRPr lang="en-US" altLang="zh-CN" dirty="0"/>
          </a:p>
          <a:p>
            <a:pPr lvl="1"/>
            <a:r>
              <a:rPr lang="zh-CN" altLang="en-US" dirty="0"/>
              <a:t>参数名称：</a:t>
            </a:r>
            <a:r>
              <a:rPr lang="en-US" altLang="zh-CN" dirty="0" err="1"/>
              <a:t>player_arg</a:t>
            </a:r>
            <a:endParaRPr lang="en-US" altLang="zh-CN" dirty="0"/>
          </a:p>
          <a:p>
            <a:pPr lvl="1"/>
            <a:r>
              <a:rPr lang="zh-CN" altLang="en-US" dirty="0"/>
              <a:t>当前值：</a:t>
            </a:r>
            <a:r>
              <a:rPr lang="en-US" altLang="zh-CN" dirty="0"/>
              <a:t>LeBron James</a:t>
            </a:r>
          </a:p>
          <a:p>
            <a:pPr lvl="1"/>
            <a:r>
              <a:rPr lang="zh-CN" altLang="en-US" dirty="0"/>
              <a:t>允许值：列表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）构建参数球员投篮次数计算字段</a:t>
            </a:r>
            <a:endParaRPr lang="en-US" altLang="zh-CN" dirty="0"/>
          </a:p>
          <a:p>
            <a:pPr lvl="1"/>
            <a:r>
              <a:rPr lang="zh-CN" altLang="en-US" dirty="0"/>
              <a:t>计算字段名称：</a:t>
            </a:r>
            <a:r>
              <a:rPr lang="en-US" altLang="zh-CN" dirty="0" err="1"/>
              <a:t>attemptCount</a:t>
            </a:r>
            <a:endParaRPr lang="en-US" altLang="zh-CN" dirty="0"/>
          </a:p>
          <a:p>
            <a:pPr lvl="1"/>
            <a:r>
              <a:rPr lang="zh-CN" altLang="en-US" dirty="0"/>
              <a:t>程序代码：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447" y="0"/>
            <a:ext cx="6451356" cy="1645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330" y="1901953"/>
            <a:ext cx="3965011" cy="46966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44745" y="4075731"/>
            <a:ext cx="3990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[Shots By]==[</a:t>
            </a:r>
            <a:r>
              <a:rPr lang="en-US" altLang="zh-CN" dirty="0" err="1"/>
              <a:t>player_arg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then</a:t>
            </a:r>
          </a:p>
          <a:p>
            <a:r>
              <a:rPr lang="en-US" altLang="zh-CN" dirty="0"/>
              <a:t>    1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530" r="25013" b="39768"/>
          <a:stretch/>
        </p:blipFill>
        <p:spPr>
          <a:xfrm>
            <a:off x="4000870" y="4632252"/>
            <a:ext cx="3503457" cy="1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47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最终仪表板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828" y="532015"/>
            <a:ext cx="7355695" cy="588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3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</a:t>
            </a:r>
            <a:r>
              <a:rPr lang="zh-CN" altLang="en-US" dirty="0"/>
              <a:t>制作投篮准确率波形图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参数球员投中次数计算字段</a:t>
            </a:r>
            <a:endParaRPr lang="en-US" altLang="zh-CN" dirty="0"/>
          </a:p>
          <a:p>
            <a:pPr lvl="1"/>
            <a:r>
              <a:rPr lang="zh-CN" altLang="en-US" dirty="0"/>
              <a:t>名称：</a:t>
            </a:r>
            <a:r>
              <a:rPr lang="en-US" altLang="zh-CN" dirty="0" err="1"/>
              <a:t>madeCount</a:t>
            </a:r>
            <a:endParaRPr lang="en-US" altLang="zh-CN" dirty="0"/>
          </a:p>
          <a:p>
            <a:pPr lvl="1"/>
            <a:r>
              <a:rPr lang="zh-CN" altLang="en-US" dirty="0"/>
              <a:t>程序代码：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投篮准确率计算字段</a:t>
            </a:r>
            <a:endParaRPr lang="en-US" altLang="zh-CN" dirty="0"/>
          </a:p>
          <a:p>
            <a:pPr lvl="1"/>
            <a:r>
              <a:rPr lang="zh-CN" altLang="en-US" dirty="0"/>
              <a:t>名称：</a:t>
            </a:r>
            <a:r>
              <a:rPr lang="en-US" altLang="zh-CN" dirty="0" err="1"/>
              <a:t>shotsRate</a:t>
            </a:r>
            <a:endParaRPr lang="en-US" altLang="zh-CN" dirty="0"/>
          </a:p>
          <a:p>
            <a:pPr lvl="1"/>
            <a:r>
              <a:rPr lang="zh-CN" altLang="en-US" dirty="0"/>
              <a:t>程序代码：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87732" y="2252750"/>
            <a:ext cx="56348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if [Outcome] == "made" AND [Shots By]==[</a:t>
            </a:r>
            <a:r>
              <a:rPr lang="en-US" altLang="zh-CN" dirty="0" err="1"/>
              <a:t>player_arg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THEN</a:t>
            </a:r>
          </a:p>
          <a:p>
            <a:r>
              <a:rPr lang="en-US" altLang="zh-CN" dirty="0"/>
              <a:t>    1</a:t>
            </a:r>
          </a:p>
          <a:p>
            <a:r>
              <a:rPr lang="en-US" altLang="zh-CN" dirty="0"/>
              <a:t>ELSE</a:t>
            </a:r>
          </a:p>
          <a:p>
            <a:r>
              <a:rPr lang="en-US" altLang="zh-CN" dirty="0"/>
              <a:t>    0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608" y="795425"/>
            <a:ext cx="4705350" cy="2914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29789" y="5660968"/>
            <a:ext cx="4188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sum([</a:t>
            </a:r>
            <a:r>
              <a:rPr lang="en-US" altLang="zh-CN" dirty="0" err="1"/>
              <a:t>madeCount</a:t>
            </a:r>
            <a:r>
              <a:rPr lang="en-US" altLang="zh-CN" dirty="0"/>
              <a:t>])/sum([</a:t>
            </a:r>
            <a:r>
              <a:rPr lang="en-US" altLang="zh-CN" dirty="0" err="1"/>
              <a:t>attemptCount</a:t>
            </a:r>
            <a:r>
              <a:rPr lang="en-US" altLang="zh-CN" dirty="0"/>
              <a:t>])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422" y="4115130"/>
            <a:ext cx="4593536" cy="25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871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</a:t>
            </a:r>
            <a:r>
              <a:rPr lang="zh-CN" altLang="en-US" dirty="0"/>
              <a:t>制作投篮准确率波形图</a:t>
            </a:r>
            <a:r>
              <a:rPr lang="en-US" altLang="zh-CN" dirty="0"/>
              <a:t>-4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7025"/>
            <a:ext cx="7484533" cy="5199938"/>
          </a:xfrm>
        </p:spPr>
        <p:txBody>
          <a:bodyPr/>
          <a:lstStyle/>
          <a:p>
            <a:r>
              <a:rPr lang="zh-CN" altLang="en-US" dirty="0"/>
              <a:t>投篮准确率的负值计算字段</a:t>
            </a:r>
            <a:endParaRPr lang="en-US" altLang="zh-CN" dirty="0"/>
          </a:p>
          <a:p>
            <a:pPr lvl="1"/>
            <a:r>
              <a:rPr lang="zh-CN" altLang="en-US" dirty="0"/>
              <a:t>名称：</a:t>
            </a:r>
            <a:r>
              <a:rPr lang="en-US" altLang="zh-CN" dirty="0"/>
              <a:t>inverse</a:t>
            </a:r>
          </a:p>
          <a:p>
            <a:pPr lvl="1"/>
            <a:r>
              <a:rPr lang="zh-CN" altLang="en-US" dirty="0"/>
              <a:t>程序代码：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-1*[</a:t>
            </a:r>
            <a:r>
              <a:rPr lang="en-US" altLang="zh-CN" dirty="0" err="1"/>
              <a:t>shotsRate</a:t>
            </a:r>
            <a:r>
              <a:rPr lang="en-US" altLang="zh-CN" dirty="0"/>
              <a:t>]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【</a:t>
            </a:r>
            <a:r>
              <a:rPr lang="zh-CN" altLang="en-US" dirty="0"/>
              <a:t>度量值</a:t>
            </a:r>
            <a:r>
              <a:rPr lang="en-US" altLang="zh-CN" dirty="0"/>
              <a:t>】</a:t>
            </a:r>
            <a:r>
              <a:rPr lang="zh-CN" altLang="en-US" dirty="0"/>
              <a:t>拖入标记</a:t>
            </a:r>
            <a:endParaRPr lang="en-US" altLang="zh-CN" dirty="0"/>
          </a:p>
          <a:p>
            <a:r>
              <a:rPr lang="zh-CN" altLang="en-US" dirty="0"/>
              <a:t>将无关的计算字段及度量值均剔除，仅保留</a:t>
            </a:r>
            <a:r>
              <a:rPr lang="en-US" altLang="zh-CN" dirty="0"/>
              <a:t>[</a:t>
            </a:r>
            <a:r>
              <a:rPr lang="en-US" altLang="zh-CN" dirty="0" err="1"/>
              <a:t>shotsRate</a:t>
            </a:r>
            <a:r>
              <a:rPr lang="en-US" altLang="zh-CN" dirty="0"/>
              <a:t>]</a:t>
            </a:r>
            <a:r>
              <a:rPr lang="zh-CN" altLang="en-US" dirty="0"/>
              <a:t>、</a:t>
            </a:r>
            <a:r>
              <a:rPr lang="en-US" altLang="zh-CN" dirty="0"/>
              <a:t>[inverse]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Picture 2" descr="C:\Users\Xiaochun\AppData\Local\Temp\SNAGHTML821ed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" r="39950" b="1"/>
          <a:stretch/>
        </p:blipFill>
        <p:spPr bwMode="auto">
          <a:xfrm>
            <a:off x="8669867" y="113566"/>
            <a:ext cx="3234267" cy="667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375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</a:t>
            </a:r>
            <a:r>
              <a:rPr lang="zh-CN" altLang="en-US" dirty="0"/>
              <a:t>制作投篮准确率波形图</a:t>
            </a:r>
            <a:r>
              <a:rPr lang="en-US" altLang="zh-CN" dirty="0"/>
              <a:t>-5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5142" y="886788"/>
            <a:ext cx="6219305" cy="5199938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）将</a:t>
            </a:r>
            <a:r>
              <a:rPr lang="en-US" altLang="zh-CN" dirty="0"/>
              <a:t>【</a:t>
            </a:r>
            <a:r>
              <a:rPr lang="zh-CN" altLang="en-US" dirty="0"/>
              <a:t>度量值</a:t>
            </a:r>
            <a:r>
              <a:rPr lang="en-US" altLang="zh-CN" dirty="0"/>
              <a:t>】</a:t>
            </a:r>
            <a:r>
              <a:rPr lang="zh-CN" altLang="en-US" dirty="0"/>
              <a:t>拖至行，将</a:t>
            </a:r>
            <a:r>
              <a:rPr lang="en-US" altLang="zh-CN" dirty="0"/>
              <a:t>【</a:t>
            </a:r>
            <a:r>
              <a:rPr lang="en-US" altLang="zh-CN" dirty="0" err="1"/>
              <a:t>dist</a:t>
            </a:r>
            <a:r>
              <a:rPr lang="en-US" altLang="zh-CN" dirty="0"/>
              <a:t>(</a:t>
            </a:r>
            <a:r>
              <a:rPr lang="zh-CN" altLang="en-US" dirty="0"/>
              <a:t>组</a:t>
            </a:r>
            <a:r>
              <a:rPr lang="en-US" altLang="zh-CN" dirty="0"/>
              <a:t>)】</a:t>
            </a:r>
            <a:r>
              <a:rPr lang="zh-CN" altLang="en-US" dirty="0"/>
              <a:t>拖至列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）将标记改为线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）将度量名称设为路径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）将</a:t>
            </a:r>
            <a:r>
              <a:rPr lang="en-US" altLang="zh-CN" dirty="0" err="1"/>
              <a:t>shotsRate</a:t>
            </a:r>
            <a:r>
              <a:rPr lang="zh-CN" altLang="en-US" dirty="0"/>
              <a:t>设为颜色（离散</a:t>
            </a:r>
            <a:r>
              <a:rPr lang="en-US" altLang="zh-CN" dirty="0"/>
              <a:t>5</a:t>
            </a:r>
            <a:r>
              <a:rPr lang="zh-CN" altLang="en-US" dirty="0"/>
              <a:t>级）</a:t>
            </a:r>
            <a:endParaRPr lang="en-US" altLang="zh-CN" dirty="0"/>
          </a:p>
          <a:p>
            <a:r>
              <a:rPr lang="en-US" altLang="zh-CN" dirty="0"/>
              <a:t>  (5)   </a:t>
            </a:r>
            <a:r>
              <a:rPr lang="zh-CN" altLang="en-US" dirty="0"/>
              <a:t>调整大小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537" y="9561"/>
            <a:ext cx="5022026" cy="3662500"/>
          </a:xfrm>
          <a:prstGeom prst="rect">
            <a:avLst/>
          </a:prstGeom>
        </p:spPr>
      </p:pic>
      <p:pic>
        <p:nvPicPr>
          <p:cNvPr id="7" name="Picture 2" descr="C:\Users\Xiaochun\AppData\Local\Temp\SNAGHTML8eff6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" b="7869"/>
          <a:stretch/>
        </p:blipFill>
        <p:spPr bwMode="auto">
          <a:xfrm>
            <a:off x="7276148" y="3043151"/>
            <a:ext cx="4550667" cy="366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6578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43D53-3B6E-12E5-420F-2C58A342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编辑工作表标题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21BBC-BBA1-3F4D-A9BD-6D681E69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在标题编辑窗口中输入：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effectLst/>
                <a:latin typeface="Tableau Light"/>
              </a:rPr>
              <a:t>&lt;</a:t>
            </a:r>
            <a:r>
              <a:rPr lang="zh-CN" altLang="en-US" sz="1800" dirty="0">
                <a:solidFill>
                  <a:srgbClr val="333333"/>
                </a:solidFill>
                <a:effectLst/>
                <a:latin typeface="Tableau Light"/>
              </a:rPr>
              <a:t>参数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Tableau Light"/>
              </a:rPr>
              <a:t>.</a:t>
            </a:r>
            <a:r>
              <a:rPr lang="en-US" altLang="zh-CN" sz="1800" dirty="0" err="1">
                <a:solidFill>
                  <a:srgbClr val="333333"/>
                </a:solidFill>
                <a:effectLst/>
                <a:latin typeface="Tableau Light"/>
              </a:rPr>
              <a:t>player_arg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Tableau Light"/>
              </a:rPr>
              <a:t>&gt;</a:t>
            </a:r>
            <a:r>
              <a:rPr lang="zh-CN" altLang="en-US" sz="1800" dirty="0">
                <a:solidFill>
                  <a:srgbClr val="333333"/>
                </a:solidFill>
                <a:effectLst/>
                <a:latin typeface="Tableau Light"/>
              </a:rPr>
              <a:t>得分率波形图</a:t>
            </a:r>
            <a:endParaRPr lang="en-US" altLang="zh-CN" sz="1800" dirty="0">
              <a:solidFill>
                <a:srgbClr val="333333"/>
              </a:solidFill>
              <a:effectLst/>
              <a:latin typeface="Tableau Light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333333"/>
              </a:solidFill>
              <a:latin typeface="Tableau Light"/>
            </a:endParaRPr>
          </a:p>
          <a:p>
            <a:r>
              <a:rPr lang="zh-CN" altLang="en-US" dirty="0"/>
              <a:t>最终得到得分率波形图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7C0C66-B124-C05E-3CB6-23F76304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" t="1817" r="8991" b="2365"/>
          <a:stretch/>
        </p:blipFill>
        <p:spPr>
          <a:xfrm>
            <a:off x="6671511" y="84620"/>
            <a:ext cx="4174957" cy="24935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70A22A-966E-B09B-CA8B-60DE65F5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13"/>
          <a:stretch/>
        </p:blipFill>
        <p:spPr>
          <a:xfrm>
            <a:off x="5918441" y="2772880"/>
            <a:ext cx="5769782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120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1D296-6E8B-A5D9-7547-0B7559B1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team_arg</a:t>
            </a:r>
            <a:r>
              <a:rPr lang="zh-CN" altLang="en-US" dirty="0"/>
              <a:t>参数</a:t>
            </a:r>
          </a:p>
        </p:txBody>
      </p:sp>
      <p:pic>
        <p:nvPicPr>
          <p:cNvPr id="7" name="内容占位符 6" descr="图形用户界面, 应用程序&#10;&#10;AI-generated content may be incorrect.">
            <a:extLst>
              <a:ext uri="{FF2B5EF4-FFF2-40B4-BE49-F238E27FC236}">
                <a16:creationId xmlns:a16="http://schemas.microsoft.com/office/drawing/2014/main" id="{DC536200-1F21-EFCD-25E5-F35E41F5D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697" y="1072565"/>
            <a:ext cx="6077416" cy="5200650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815D65-D359-7238-3163-2B8DA6ADC09A}"/>
              </a:ext>
            </a:extLst>
          </p:cNvPr>
          <p:cNvSpPr txBox="1"/>
          <p:nvPr/>
        </p:nvSpPr>
        <p:spPr>
          <a:xfrm>
            <a:off x="499311" y="1010653"/>
            <a:ext cx="38026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 </a:t>
            </a:r>
            <a:r>
              <a:rPr lang="zh-CN" altLang="en-US" sz="2800" dirty="0"/>
              <a:t>参数名称：</a:t>
            </a:r>
            <a:r>
              <a:rPr lang="en-US" altLang="zh-CN" sz="2800" dirty="0" err="1"/>
              <a:t>team_arg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当前值：</a:t>
            </a:r>
            <a:r>
              <a:rPr lang="en-US" altLang="zh-CN" sz="2800" dirty="0"/>
              <a:t>Houston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允许值：列表</a:t>
            </a:r>
          </a:p>
        </p:txBody>
      </p:sp>
    </p:spTree>
    <p:extLst>
      <p:ext uri="{BB962C8B-B14F-4D97-AF65-F5344CB8AC3E}">
        <p14:creationId xmlns:p14="http://schemas.microsoft.com/office/powerpoint/2010/main" val="38630799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536F8-B5D2-5C59-A051-B16CE174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 err="1"/>
              <a:t>team_arg</a:t>
            </a:r>
            <a:r>
              <a:rPr lang="zh-CN" altLang="en-US" dirty="0"/>
              <a:t>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1493C-82BF-6446-3957-E2E77AEEB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7012405" cy="5199938"/>
          </a:xfrm>
        </p:spPr>
        <p:txBody>
          <a:bodyPr/>
          <a:lstStyle/>
          <a:p>
            <a:r>
              <a:rPr lang="zh-CN" altLang="en-US" dirty="0"/>
              <a:t>名称：</a:t>
            </a:r>
            <a:r>
              <a:rPr lang="en-US" altLang="zh-CN" dirty="0"/>
              <a:t>team-</a:t>
            </a:r>
            <a:r>
              <a:rPr lang="en-US" altLang="zh-CN" dirty="0" err="1"/>
              <a:t>arg</a:t>
            </a:r>
            <a:endParaRPr lang="en-US" altLang="zh-CN" dirty="0"/>
          </a:p>
          <a:p>
            <a:r>
              <a:rPr lang="zh-CN" altLang="en-US" dirty="0"/>
              <a:t>当前值：</a:t>
            </a:r>
            <a:r>
              <a:rPr lang="en-US" altLang="zh-CN" dirty="0"/>
              <a:t>Houston</a:t>
            </a:r>
          </a:p>
          <a:p>
            <a:r>
              <a:rPr lang="zh-CN" altLang="en-US" dirty="0"/>
              <a:t>建立该参数便于单独统计</a:t>
            </a:r>
            <a:r>
              <a:rPr lang="en-US" altLang="zh-CN" dirty="0"/>
              <a:t>Houston</a:t>
            </a:r>
            <a:r>
              <a:rPr lang="zh-CN" altLang="en-US" dirty="0"/>
              <a:t>平均每人每场得分值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3D7B27-A67B-32E8-386C-17D80C45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823" y="198520"/>
            <a:ext cx="3681013" cy="43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402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DF2C5-7F64-05DD-0255-59ACF92B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LOD</a:t>
            </a:r>
            <a:r>
              <a:rPr lang="zh-CN" altLang="en-US" dirty="0"/>
              <a:t>详细级别表达式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656C67-FCE6-AEFC-9A0B-6C2DD4795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59" y="703847"/>
            <a:ext cx="7110662" cy="54731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对每位球员进行分组，统计其每场球平均得分。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中，如果使用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Pandas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，可以采用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gruopby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().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agg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链式表达式分组进行聚合统计；或者采用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pivottab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函数，进行数据透视表统计；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Tableau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中，可以创建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LOD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表达式进行分组聚合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创建球队、球员（联合条件下）的平均得分计算表达式：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avgPoint_group_by_team_player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代码：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2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{ FIXED [Team],[Shots By]: sum([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made_points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])/COUNTD([Game Id])}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由于球员存在转会（一个赛季在两个球队打球，所以必须按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[Team]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[Shots By]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联合统计）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684B43-3849-515F-0152-4022C144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00" y="1022684"/>
            <a:ext cx="4478694" cy="23100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FAD2B1-8228-030C-2759-059A15D9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68" y="3716960"/>
            <a:ext cx="3139441" cy="25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005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63AEF-ACFA-A2AC-3491-EDB5654A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按球队分组统计，计算球队平均一场比赛得分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9816C-A1C2-020A-3709-6E3A4392F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8" y="829031"/>
            <a:ext cx="10515600" cy="5199938"/>
          </a:xfrm>
        </p:spPr>
        <p:txBody>
          <a:bodyPr/>
          <a:lstStyle/>
          <a:p>
            <a:r>
              <a:rPr lang="zh-CN" altLang="en-US" dirty="0"/>
              <a:t>对球队分组统计，计算球队</a:t>
            </a:r>
            <a:r>
              <a:rPr lang="en-US" altLang="zh-CN" dirty="0"/>
              <a:t>(</a:t>
            </a:r>
            <a:r>
              <a:rPr lang="zh-CN" altLang="en-US" dirty="0"/>
              <a:t>每个球员</a:t>
            </a:r>
            <a:r>
              <a:rPr lang="en-US" altLang="zh-CN" dirty="0"/>
              <a:t>)</a:t>
            </a:r>
            <a:r>
              <a:rPr lang="zh-CN" altLang="en-US" dirty="0"/>
              <a:t>一场球平均得分。</a:t>
            </a:r>
            <a:endParaRPr lang="en-US" altLang="zh-CN" dirty="0"/>
          </a:p>
          <a:p>
            <a:r>
              <a:rPr lang="zh-CN" altLang="en-US" dirty="0"/>
              <a:t>函数名：</a:t>
            </a:r>
            <a:r>
              <a:rPr lang="en-US" altLang="zh-CN" dirty="0" err="1"/>
              <a:t>team_avg_score</a:t>
            </a:r>
            <a:endParaRPr lang="en-US" altLang="zh-CN" dirty="0"/>
          </a:p>
          <a:p>
            <a:r>
              <a:rPr lang="zh-CN" altLang="en-US" dirty="0"/>
              <a:t>代码：</a:t>
            </a:r>
            <a:endParaRPr lang="en-US" altLang="zh-CN" dirty="0"/>
          </a:p>
          <a:p>
            <a:r>
              <a:rPr lang="en-US" altLang="zh-CN" sz="2000" dirty="0"/>
              <a:t>{ FIXED [Team]:avg([</a:t>
            </a:r>
            <a:r>
              <a:rPr lang="en-US" altLang="zh-CN" sz="2000" dirty="0" err="1"/>
              <a:t>avgPoint_groupby_team_player</a:t>
            </a:r>
            <a:r>
              <a:rPr lang="en-US" altLang="zh-CN" sz="2000" dirty="0"/>
              <a:t>])}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803D2E-48B2-30F1-7126-8B41B666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74" y="3000650"/>
            <a:ext cx="5284368" cy="27263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58794C1-E547-FA0F-CDDE-7A59F143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11" y="2944113"/>
            <a:ext cx="5540589" cy="35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957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2CEFC-9D26-7FD7-1DC4-51587F1D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Tableau </a:t>
            </a:r>
            <a:r>
              <a:rPr lang="zh-CN" altLang="en-US" dirty="0"/>
              <a:t>中加载自定义图标到工作表标记形状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D47E8-612D-8A93-60F9-D50512677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CN" altLang="en-US" sz="7200" dirty="0"/>
              <a:t>步骤</a:t>
            </a:r>
            <a:r>
              <a:rPr lang="en-US" altLang="zh-CN" sz="7200" dirty="0"/>
              <a:t>1</a:t>
            </a:r>
            <a:r>
              <a:rPr lang="zh-CN" altLang="en-US" sz="7200" dirty="0"/>
              <a:t>：准备自定义图标文件</a:t>
            </a:r>
          </a:p>
          <a:p>
            <a:r>
              <a:rPr lang="zh-CN" altLang="en-US" sz="7200" dirty="0"/>
              <a:t>获取图标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</a:t>
            </a:r>
            <a:r>
              <a:rPr lang="zh-CN" altLang="en-US" sz="7200" dirty="0"/>
              <a:t>从免费图标网站下载透明背景的图片（推荐 </a:t>
            </a:r>
            <a:r>
              <a:rPr lang="en-US" altLang="zh-CN" sz="7200" dirty="0"/>
              <a:t>`.</a:t>
            </a:r>
            <a:r>
              <a:rPr lang="en-US" altLang="zh-CN" sz="7200" dirty="0" err="1"/>
              <a:t>png</a:t>
            </a:r>
            <a:r>
              <a:rPr lang="en-US" altLang="zh-CN" sz="7200" dirty="0"/>
              <a:t>` </a:t>
            </a:r>
            <a:r>
              <a:rPr lang="zh-CN" altLang="en-US" sz="7200" dirty="0"/>
              <a:t>格式），例如：</a:t>
            </a:r>
          </a:p>
          <a:p>
            <a:pPr marL="0" indent="0">
              <a:buNone/>
            </a:pPr>
            <a:r>
              <a:rPr lang="zh-CN" altLang="en-US" sz="7200" dirty="0"/>
              <a:t>     </a:t>
            </a:r>
            <a:r>
              <a:rPr lang="en-US" altLang="zh-CN" sz="7200" dirty="0"/>
              <a:t>- https://www.iconfont.cn/)</a:t>
            </a:r>
            <a:r>
              <a:rPr lang="zh-CN" altLang="en-US" sz="7200" dirty="0"/>
              <a:t>（中文资源）</a:t>
            </a:r>
            <a:endParaRPr lang="en-US" altLang="zh-CN" sz="7200" dirty="0"/>
          </a:p>
          <a:p>
            <a:pPr marL="0" indent="0">
              <a:buNone/>
            </a:pPr>
            <a:r>
              <a:rPr lang="en-US" altLang="zh-CN" sz="7200" dirty="0"/>
              <a:t>     - https://www.flaticon.com/</a:t>
            </a:r>
            <a:r>
              <a:rPr lang="zh-CN" altLang="en-US" sz="7200" dirty="0"/>
              <a:t>（国际资源）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</a:t>
            </a:r>
            <a:r>
              <a:rPr lang="zh-CN" altLang="en-US" sz="7200" dirty="0"/>
              <a:t>确保图标尺寸适中，避免因过大或过小影响显示效果。</a:t>
            </a:r>
          </a:p>
          <a:p>
            <a:r>
              <a:rPr lang="zh-CN" altLang="en-US" sz="7200" dirty="0"/>
              <a:t>步骤</a:t>
            </a:r>
            <a:r>
              <a:rPr lang="en-US" altLang="zh-CN" sz="7200" dirty="0"/>
              <a:t>2</a:t>
            </a:r>
            <a:r>
              <a:rPr lang="zh-CN" altLang="en-US" sz="7200" dirty="0"/>
              <a:t>：将图标添加到 </a:t>
            </a:r>
            <a:r>
              <a:rPr lang="en-US" altLang="zh-CN" sz="7200" dirty="0"/>
              <a:t>Tableau </a:t>
            </a:r>
            <a:r>
              <a:rPr lang="zh-CN" altLang="en-US" sz="7200" dirty="0"/>
              <a:t>形状库</a:t>
            </a:r>
          </a:p>
          <a:p>
            <a:r>
              <a:rPr lang="en-US" altLang="zh-CN" sz="7200" dirty="0"/>
              <a:t>1. </a:t>
            </a:r>
            <a:r>
              <a:rPr lang="zh-CN" altLang="en-US" sz="7200" dirty="0"/>
              <a:t>找到形状文件夹路径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Windows </a:t>
            </a:r>
            <a:r>
              <a:rPr lang="zh-CN" altLang="en-US" sz="7200" dirty="0"/>
              <a:t>系统：默认路径为 ：我的文档</a:t>
            </a:r>
            <a:r>
              <a:rPr lang="en-US" altLang="zh-CN" sz="7200" dirty="0"/>
              <a:t>\</a:t>
            </a:r>
            <a:r>
              <a:rPr lang="zh-CN" altLang="en-US" sz="7200" dirty="0"/>
              <a:t>我的 </a:t>
            </a:r>
            <a:r>
              <a:rPr lang="en-US" altLang="zh-CN" sz="7200" dirty="0"/>
              <a:t>Tableau </a:t>
            </a:r>
            <a:r>
              <a:rPr lang="zh-CN" altLang="en-US" sz="7200" dirty="0"/>
              <a:t>存储库</a:t>
            </a:r>
            <a:r>
              <a:rPr lang="en-US" altLang="zh-CN" sz="7200" dirty="0"/>
              <a:t>\</a:t>
            </a:r>
            <a:r>
              <a:rPr lang="zh-CN" altLang="en-US" sz="7200" dirty="0"/>
              <a:t>形状。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Mac </a:t>
            </a:r>
            <a:r>
              <a:rPr lang="zh-CN" altLang="en-US" sz="7200" dirty="0"/>
              <a:t>系统：路径为：</a:t>
            </a:r>
            <a:r>
              <a:rPr lang="en-US" altLang="zh-CN" sz="7200" dirty="0"/>
              <a:t>~/</a:t>
            </a:r>
            <a:r>
              <a:rPr lang="zh-CN" altLang="en-US" sz="7200" dirty="0"/>
              <a:t>文档</a:t>
            </a:r>
            <a:r>
              <a:rPr lang="en-US" altLang="zh-CN" sz="7200" dirty="0"/>
              <a:t>/</a:t>
            </a:r>
            <a:r>
              <a:rPr lang="zh-CN" altLang="en-US" sz="7200" dirty="0"/>
              <a:t>我的 </a:t>
            </a:r>
            <a:r>
              <a:rPr lang="en-US" altLang="zh-CN" sz="7200" dirty="0"/>
              <a:t>Tableau </a:t>
            </a:r>
            <a:r>
              <a:rPr lang="zh-CN" altLang="en-US" sz="7200" dirty="0"/>
              <a:t>存储库</a:t>
            </a:r>
            <a:r>
              <a:rPr lang="en-US" altLang="zh-CN" sz="7200" dirty="0"/>
              <a:t>/</a:t>
            </a:r>
            <a:r>
              <a:rPr lang="zh-CN" altLang="en-US" sz="7200" dirty="0"/>
              <a:t>形状。</a:t>
            </a:r>
          </a:p>
          <a:p>
            <a:r>
              <a:rPr lang="en-US" altLang="zh-CN" sz="7200" dirty="0"/>
              <a:t>2. </a:t>
            </a:r>
            <a:r>
              <a:rPr lang="zh-CN" altLang="en-US" sz="7200" dirty="0"/>
              <a:t>创建自定义文件夹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</a:t>
            </a:r>
            <a:r>
              <a:rPr lang="zh-CN" altLang="en-US" sz="7200" dirty="0"/>
              <a:t>在“形状”</a:t>
            </a:r>
            <a:r>
              <a:rPr lang="en-US" altLang="zh-CN" sz="7200" dirty="0"/>
              <a:t> </a:t>
            </a:r>
            <a:r>
              <a:rPr lang="zh-CN" altLang="en-US" sz="7200" dirty="0"/>
              <a:t>文件夹内新建一个子文件夹（例如“自定义”或“</a:t>
            </a:r>
            <a:r>
              <a:rPr lang="en-US" altLang="zh-CN" sz="7200" dirty="0"/>
              <a:t>Flags”</a:t>
            </a:r>
            <a:r>
              <a:rPr lang="zh-CN" altLang="en-US" sz="7200" dirty="0"/>
              <a:t>），用于存放图标文件。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</a:t>
            </a:r>
            <a:r>
              <a:rPr lang="zh-CN" altLang="en-US" sz="7200" dirty="0"/>
              <a:t>将下载的图标文件复制到该文件夹中。  </a:t>
            </a:r>
          </a:p>
          <a:p>
            <a:pPr marL="0" indent="0"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- </a:t>
            </a:r>
            <a:r>
              <a:rPr lang="zh-CN" altLang="en-US" sz="7200" dirty="0"/>
              <a:t>注意：文件夹名称会作为形状分类显示在 </a:t>
            </a:r>
            <a:r>
              <a:rPr lang="en-US" altLang="zh-CN" sz="7200" dirty="0"/>
              <a:t>Tableau </a:t>
            </a:r>
            <a:r>
              <a:rPr lang="zh-CN" altLang="en-US" sz="7200" dirty="0"/>
              <a:t>中。</a:t>
            </a:r>
          </a:p>
        </p:txBody>
      </p:sp>
    </p:spTree>
    <p:extLst>
      <p:ext uri="{BB962C8B-B14F-4D97-AF65-F5344CB8AC3E}">
        <p14:creationId xmlns:p14="http://schemas.microsoft.com/office/powerpoint/2010/main" val="34272831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B503E-A0CA-2FC2-15FC-26065FF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Tableau </a:t>
            </a:r>
            <a:r>
              <a:rPr lang="zh-CN" altLang="en-US" dirty="0"/>
              <a:t>中加载自定义图标到工作表标记形状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E3E79-8B2F-4800-39F9-BAADC19B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3</a:t>
            </a:r>
            <a:r>
              <a:rPr lang="zh-CN" altLang="en-US" dirty="0"/>
              <a:t>：在 </a:t>
            </a:r>
            <a:r>
              <a:rPr lang="en-US" altLang="zh-CN" dirty="0"/>
              <a:t>Tableau </a:t>
            </a:r>
            <a:r>
              <a:rPr lang="zh-CN" altLang="en-US" dirty="0"/>
              <a:t>中加载自定义形状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重启 </a:t>
            </a:r>
            <a:r>
              <a:rPr lang="en-US" altLang="zh-CN" dirty="0"/>
              <a:t>Tableau</a:t>
            </a:r>
            <a:r>
              <a:rPr lang="zh-CN" altLang="en-US" dirty="0"/>
              <a:t>（可选）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部分版本需重启 </a:t>
            </a:r>
            <a:r>
              <a:rPr lang="en-US" altLang="zh-CN" dirty="0"/>
              <a:t>Tableau </a:t>
            </a:r>
            <a:r>
              <a:rPr lang="zh-CN" altLang="en-US" dirty="0"/>
              <a:t>才能识别新增形状。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重载形状库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在工作表中，将标记类型改为 “形状”。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点击“形状”按钮 → 选择 “更多形状” → 在弹出的窗口中找到自定义文件夹，点击 “重载形状” 刷新列表。  </a:t>
            </a:r>
          </a:p>
          <a:p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4</a:t>
            </a:r>
            <a:r>
              <a:rPr lang="zh-CN" altLang="en-US" dirty="0"/>
              <a:t>：应用自定义形状到标记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分配形状给数据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将维度字段（如“类别”“国家”）拖到“标记”卡的“形状” 上。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在形状选择界面，切换到自定义文件夹，为不同字段值分配对应的图标。  </a:t>
            </a:r>
          </a:p>
          <a:p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调整形状大小和颜色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通过“标记”卡的 “大小” 滑块调整图标尺寸。 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若需修改颜色，将字段拖到“颜色”按钮或手动选择颜色。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4401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4B86B-64EE-A662-DADC-F9DFE327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按球员分组统计，计算每场球平均得分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737A6-78EE-5ACB-44F7-3DB6B9CAB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6085974" cy="5199938"/>
          </a:xfrm>
        </p:spPr>
        <p:txBody>
          <a:bodyPr/>
          <a:lstStyle/>
          <a:p>
            <a:r>
              <a:rPr lang="zh-CN" altLang="en-US" dirty="0"/>
              <a:t>不考虑球队，仅考虑球员，创建计算字段</a:t>
            </a:r>
            <a:endParaRPr lang="en-US" altLang="zh-CN" dirty="0"/>
          </a:p>
          <a:p>
            <a:r>
              <a:rPr lang="zh-CN" altLang="en-US" dirty="0"/>
              <a:t>名称：</a:t>
            </a:r>
            <a:r>
              <a:rPr lang="en-US" altLang="zh-CN" dirty="0" err="1"/>
              <a:t>avgPoint_groupby_player</a:t>
            </a:r>
            <a:endParaRPr lang="en-US" altLang="zh-CN" dirty="0"/>
          </a:p>
          <a:p>
            <a:r>
              <a:rPr lang="zh-CN" altLang="en-US" dirty="0"/>
              <a:t>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{ FIXED [Shots By]: sum([</a:t>
            </a:r>
            <a:r>
              <a:rPr lang="en-US" altLang="zh-CN" dirty="0" err="1"/>
              <a:t>madePoint</a:t>
            </a:r>
            <a:r>
              <a:rPr lang="en-US" altLang="zh-CN" dirty="0"/>
              <a:t>])/COUNTD([Game Id])}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6CE356-3DAD-D3EE-DFF5-E42B2483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601" y="872315"/>
            <a:ext cx="4921804" cy="255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427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EC940-4591-C25B-8A4A-F14DF81E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17668" cy="638471"/>
          </a:xfrm>
        </p:spPr>
        <p:txBody>
          <a:bodyPr>
            <a:normAutofit/>
          </a:bodyPr>
          <a:lstStyle/>
          <a:p>
            <a:r>
              <a:rPr lang="zh-CN" altLang="en-US" dirty="0"/>
              <a:t>利用参数，统计某个球队每场球（每个球员）平均得分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EB7C9C-7CDD-61FF-8E5B-02B07D250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3422" y="1162831"/>
            <a:ext cx="5123384" cy="260840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86F1265-6E4B-686D-0E31-EA5F2FADA532}"/>
              </a:ext>
            </a:extLst>
          </p:cNvPr>
          <p:cNvSpPr txBox="1"/>
          <p:nvPr/>
        </p:nvSpPr>
        <p:spPr>
          <a:xfrm>
            <a:off x="535406" y="800102"/>
            <a:ext cx="58593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/>
              <a:t>名称：</a:t>
            </a:r>
            <a:r>
              <a:rPr lang="en-US" altLang="zh-CN" sz="2800" dirty="0" err="1"/>
              <a:t>a_team_avg_score</a:t>
            </a:r>
            <a:endParaRPr lang="en-US" altLang="zh-C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/>
              <a:t>代码：</a:t>
            </a:r>
            <a:endParaRPr lang="en-US" altLang="zh-CN" sz="2800" dirty="0"/>
          </a:p>
          <a:p>
            <a:r>
              <a:rPr lang="en-US" altLang="zh-CN" sz="2000" dirty="0"/>
              <a:t>IF  [Team]==[</a:t>
            </a:r>
            <a:r>
              <a:rPr lang="en-US" altLang="zh-CN" sz="2000" dirty="0" err="1"/>
              <a:t>team_arg</a:t>
            </a:r>
            <a:r>
              <a:rPr lang="en-US" altLang="zh-CN" sz="2000" dirty="0"/>
              <a:t>] then [</a:t>
            </a:r>
            <a:r>
              <a:rPr lang="en-US" altLang="zh-CN" sz="2000" dirty="0" err="1"/>
              <a:t>team_avg_score</a:t>
            </a:r>
            <a:r>
              <a:rPr lang="en-US" altLang="zh-CN" sz="2000" dirty="0"/>
              <a:t>]</a:t>
            </a:r>
          </a:p>
          <a:p>
            <a:r>
              <a:rPr lang="en-US" altLang="zh-CN" sz="2000" dirty="0"/>
              <a:t>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[</a:t>
            </a:r>
            <a:r>
              <a:rPr lang="en-US" altLang="zh-CN" sz="2000" dirty="0" err="1"/>
              <a:t>team_arg</a:t>
            </a:r>
            <a:r>
              <a:rPr lang="en-US" altLang="zh-CN" sz="2000" dirty="0"/>
              <a:t>]</a:t>
            </a:r>
            <a:r>
              <a:rPr lang="zh-CN" altLang="en-US" sz="2000" dirty="0"/>
              <a:t>为某个球队名称参数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/>
              <a:t>代码中不能添加</a:t>
            </a:r>
            <a:r>
              <a:rPr lang="en-US" altLang="zh-CN" sz="2800" dirty="0"/>
              <a:t>else 0 </a:t>
            </a:r>
            <a:r>
              <a:rPr lang="zh-CN" altLang="en-US" sz="2800" dirty="0"/>
              <a:t>否则后面使用聚合</a:t>
            </a:r>
            <a:r>
              <a:rPr lang="en-US" altLang="zh-CN" sz="2800" dirty="0"/>
              <a:t>AVG</a:t>
            </a:r>
            <a:r>
              <a:rPr lang="zh-CN" altLang="en-US" sz="2800" dirty="0"/>
              <a:t>函数调用此计算字段会造成错误（）</a:t>
            </a:r>
            <a:endParaRPr lang="en-US" altLang="zh-CN" sz="2800" dirty="0"/>
          </a:p>
          <a:p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82915B-EA3B-F3C1-E7EC-2B7EE25D8D18}"/>
              </a:ext>
            </a:extLst>
          </p:cNvPr>
          <p:cNvSpPr txBox="1"/>
          <p:nvPr/>
        </p:nvSpPr>
        <p:spPr>
          <a:xfrm>
            <a:off x="6800105" y="4174958"/>
            <a:ext cx="475001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错误代码：</a:t>
            </a:r>
            <a:endParaRPr lang="en-US" altLang="zh-CN" dirty="0"/>
          </a:p>
          <a:p>
            <a:r>
              <a:rPr lang="en-US" altLang="zh-CN" dirty="0"/>
              <a:t>IF [Team]==[</a:t>
            </a:r>
            <a:r>
              <a:rPr lang="en-US" altLang="zh-CN" dirty="0" err="1"/>
              <a:t>team_arg</a:t>
            </a:r>
            <a:r>
              <a:rPr lang="en-US" altLang="zh-CN" dirty="0"/>
              <a:t>] then [</a:t>
            </a:r>
            <a:r>
              <a:rPr lang="en-US" altLang="zh-CN" dirty="0" err="1"/>
              <a:t>team_avg_score</a:t>
            </a:r>
            <a:r>
              <a:rPr lang="en-US" altLang="zh-CN" dirty="0"/>
              <a:t>]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else 0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A87D89-B42E-268B-78E3-07BCBE7323F6}"/>
              </a:ext>
            </a:extLst>
          </p:cNvPr>
          <p:cNvSpPr txBox="1"/>
          <p:nvPr/>
        </p:nvSpPr>
        <p:spPr>
          <a:xfrm>
            <a:off x="6800105" y="5489913"/>
            <a:ext cx="475001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正确代码：</a:t>
            </a:r>
            <a:endParaRPr lang="en-US" altLang="zh-CN" dirty="0"/>
          </a:p>
          <a:p>
            <a:r>
              <a:rPr lang="en-US" altLang="zh-CN" dirty="0"/>
              <a:t>IF [Team]==[</a:t>
            </a:r>
            <a:r>
              <a:rPr lang="en-US" altLang="zh-CN" dirty="0" err="1"/>
              <a:t>team_arg</a:t>
            </a:r>
            <a:r>
              <a:rPr lang="en-US" altLang="zh-CN" dirty="0"/>
              <a:t>] then [</a:t>
            </a:r>
            <a:r>
              <a:rPr lang="en-US" altLang="zh-CN" dirty="0" err="1"/>
              <a:t>team_avg_score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5922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C92B3-F40E-864F-0F8C-E52DD10B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利用参数，统计某个球员每场比赛平均得分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9BB9F-1DEE-C086-AF3E-6F954376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5803232" cy="5199938"/>
          </a:xfrm>
        </p:spPr>
        <p:txBody>
          <a:bodyPr/>
          <a:lstStyle/>
          <a:p>
            <a:r>
              <a:rPr lang="zh-CN" altLang="en-US" dirty="0"/>
              <a:t>名称：</a:t>
            </a:r>
            <a:r>
              <a:rPr lang="en-US" altLang="zh-CN" dirty="0" err="1"/>
              <a:t>a_player_avg_score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对参数</a:t>
            </a:r>
            <a:r>
              <a:rPr lang="en-US" altLang="zh-CN" dirty="0"/>
              <a:t>[</a:t>
            </a:r>
            <a:r>
              <a:rPr lang="en-US" altLang="zh-CN" dirty="0" err="1"/>
              <a:t>player_arg</a:t>
            </a:r>
            <a:r>
              <a:rPr lang="en-US" altLang="zh-CN" dirty="0"/>
              <a:t>]</a:t>
            </a:r>
            <a:r>
              <a:rPr lang="zh-CN" altLang="en-US" dirty="0"/>
              <a:t>判断，是否为某个球员，如果是，则返回该球员平均得分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E63AE5-412F-0CBF-5AFD-D101EEF36EBA}"/>
              </a:ext>
            </a:extLst>
          </p:cNvPr>
          <p:cNvSpPr txBox="1"/>
          <p:nvPr/>
        </p:nvSpPr>
        <p:spPr>
          <a:xfrm>
            <a:off x="1149177" y="1616674"/>
            <a:ext cx="602921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代码</a:t>
            </a:r>
            <a:endParaRPr lang="en-US" altLang="zh-CN" dirty="0"/>
          </a:p>
          <a:p>
            <a:r>
              <a:rPr lang="en-US" altLang="zh-CN" dirty="0"/>
              <a:t>if [Shots By]==[</a:t>
            </a:r>
            <a:r>
              <a:rPr lang="en-US" altLang="zh-CN" dirty="0" err="1"/>
              <a:t>player_arg</a:t>
            </a:r>
            <a:r>
              <a:rPr lang="en-US" altLang="zh-CN" dirty="0"/>
              <a:t>] then [</a:t>
            </a:r>
            <a:r>
              <a:rPr lang="en-US" altLang="zh-CN" dirty="0" err="1"/>
              <a:t>avgPoint_groupby_player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B2888-809A-99A8-25E9-C7203B6A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17" y="806543"/>
            <a:ext cx="4557900" cy="234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776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74DCB-8272-3C2D-4795-0E5411A8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某球队与球员每场比赛得分对比图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D17A2-325D-E89B-AB16-74E86883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28898"/>
            <a:ext cx="5881437" cy="5199938"/>
          </a:xfrm>
        </p:spPr>
        <p:txBody>
          <a:bodyPr/>
          <a:lstStyle/>
          <a:p>
            <a:r>
              <a:rPr lang="zh-CN" altLang="en-US" dirty="0"/>
              <a:t>将计算字段</a:t>
            </a:r>
            <a:r>
              <a:rPr lang="en-US" altLang="zh-CN" dirty="0"/>
              <a:t>[</a:t>
            </a:r>
            <a:r>
              <a:rPr lang="en-US" altLang="zh-CN" dirty="0" err="1"/>
              <a:t>a_team_avg_score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dirty="0"/>
              <a:t>[</a:t>
            </a:r>
            <a:r>
              <a:rPr lang="en-US" altLang="zh-CN" dirty="0" err="1"/>
              <a:t>a_player_avg_score</a:t>
            </a:r>
            <a:r>
              <a:rPr lang="en-US" altLang="zh-CN" dirty="0"/>
              <a:t>]</a:t>
            </a:r>
            <a:r>
              <a:rPr lang="zh-CN" altLang="en-US" dirty="0"/>
              <a:t>拖到列，聚合采用</a:t>
            </a:r>
            <a:r>
              <a:rPr lang="en-US" altLang="zh-CN" dirty="0"/>
              <a:t>AVG</a:t>
            </a:r>
            <a:r>
              <a:rPr lang="zh-CN" altLang="en-US" dirty="0"/>
              <a:t>（）函数；</a:t>
            </a:r>
            <a:endParaRPr lang="en-US" altLang="zh-CN" dirty="0"/>
          </a:p>
          <a:p>
            <a:r>
              <a:rPr lang="zh-CN" altLang="en-US" dirty="0"/>
              <a:t>用度量名称进行色彩区分；</a:t>
            </a:r>
            <a:endParaRPr lang="en-US" altLang="zh-CN" dirty="0"/>
          </a:p>
          <a:p>
            <a:r>
              <a:rPr lang="zh-CN" altLang="en-US" dirty="0"/>
              <a:t>对图的横轴选择双轴、同步</a:t>
            </a:r>
            <a:endParaRPr lang="en-US" altLang="zh-CN" dirty="0"/>
          </a:p>
          <a:p>
            <a:r>
              <a:rPr lang="zh-CN" altLang="en-US" dirty="0"/>
              <a:t>调整条形图的宽度，使得两个图的条形宽窄不同；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95E84E-B969-A8E8-ADF6-4C8897919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61" y="856709"/>
            <a:ext cx="5360039" cy="257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171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4C1A0-4040-FE73-E282-F8382D51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Excel</a:t>
            </a:r>
            <a:r>
              <a:rPr lang="zh-CN" altLang="en-US" dirty="0"/>
              <a:t>数据透视表实现每个球队球员平均得分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99A690-DF22-61D0-5656-FF41D5C5B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4040605" cy="5199938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Excel</a:t>
            </a:r>
            <a:r>
              <a:rPr lang="zh-CN" altLang="en-US" dirty="0"/>
              <a:t>中，首先要对</a:t>
            </a:r>
            <a:r>
              <a:rPr lang="en-US" altLang="zh-CN" dirty="0"/>
              <a:t>attempt</a:t>
            </a:r>
            <a:r>
              <a:rPr lang="zh-CN" altLang="en-US" dirty="0"/>
              <a:t>进行数据分列，将数据拆分为得分</a:t>
            </a:r>
            <a:r>
              <a:rPr lang="en-US" altLang="zh-CN" dirty="0"/>
              <a:t>attempt</a:t>
            </a:r>
          </a:p>
          <a:p>
            <a:r>
              <a:rPr lang="zh-CN" altLang="en-US" dirty="0"/>
              <a:t>新建一列，</a:t>
            </a:r>
            <a:r>
              <a:rPr lang="en-US" altLang="zh-CN" dirty="0"/>
              <a:t>points</a:t>
            </a:r>
            <a:r>
              <a:rPr lang="zh-CN" altLang="en-US" dirty="0"/>
              <a:t>，计算投篮得分，输入公式：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=IF([@outcome]=“made”,[@attempt],0)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Excel</a:t>
            </a:r>
            <a:r>
              <a:rPr lang="zh-CN" altLang="en-US" dirty="0"/>
              <a:t>中，打开</a:t>
            </a:r>
            <a:r>
              <a:rPr lang="en-US" altLang="zh-CN" dirty="0">
                <a:solidFill>
                  <a:srgbClr val="FF0000"/>
                </a:solidFill>
              </a:rPr>
              <a:t>Power Pivot</a:t>
            </a:r>
            <a:r>
              <a:rPr lang="en-US" altLang="zh-CN" dirty="0"/>
              <a:t>/</a:t>
            </a:r>
            <a:r>
              <a:rPr lang="zh-CN" altLang="en-US" dirty="0"/>
              <a:t>添加到数据模型，只有</a:t>
            </a:r>
            <a:r>
              <a:rPr lang="en-US" altLang="zh-CN" dirty="0"/>
              <a:t>Power Pivot</a:t>
            </a:r>
            <a:r>
              <a:rPr lang="zh-CN" altLang="en-US" dirty="0"/>
              <a:t>支持非重复计数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377509-D38B-944F-0F94-D5DD7AFA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95" y="3382088"/>
            <a:ext cx="6627814" cy="31334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84D916-75C4-0099-15FB-558109AB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806" y="738690"/>
            <a:ext cx="6549307" cy="240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661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D8976-4C17-DB94-4D34-91E6A03F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PowerPivot</a:t>
            </a:r>
            <a:r>
              <a:rPr lang="zh-CN" altLang="en-US" dirty="0"/>
              <a:t>中构建数据透视表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384D2-0F87-8947-1109-531D51E11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25"/>
            <a:ext cx="7132721" cy="5199938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Power Pivot</a:t>
            </a:r>
            <a:r>
              <a:rPr lang="zh-CN" altLang="en-US" dirty="0"/>
              <a:t>中构建数据透视表，字段设置如图：</a:t>
            </a:r>
            <a:endParaRPr lang="en-US" altLang="zh-CN" dirty="0"/>
          </a:p>
          <a:p>
            <a:r>
              <a:rPr lang="zh-CN" altLang="en-US" dirty="0"/>
              <a:t>行：</a:t>
            </a:r>
            <a:r>
              <a:rPr lang="en-US" altLang="zh-CN" dirty="0"/>
              <a:t>team, </a:t>
            </a:r>
            <a:r>
              <a:rPr lang="en-US" altLang="zh-CN" dirty="0" err="1"/>
              <a:t>shots_by</a:t>
            </a:r>
            <a:endParaRPr lang="en-US" altLang="zh-CN" dirty="0"/>
          </a:p>
          <a:p>
            <a:r>
              <a:rPr lang="zh-CN" altLang="en-US" dirty="0"/>
              <a:t>值：</a:t>
            </a:r>
            <a:r>
              <a:rPr lang="en-US" altLang="zh-CN" dirty="0" err="1"/>
              <a:t>game_id</a:t>
            </a:r>
            <a:r>
              <a:rPr lang="zh-CN" altLang="en-US" dirty="0"/>
              <a:t>，值字段设置为“非重复计数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       points</a:t>
            </a:r>
            <a:r>
              <a:rPr lang="zh-CN" altLang="en-US" dirty="0"/>
              <a:t>，值字段设置为“求和”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127A54-265F-3100-4EAB-5F2D97025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916" y="178007"/>
            <a:ext cx="3827703" cy="570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934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EBAB3-9FD6-54E4-E88B-8F0E20BC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根据数据透视表，计算平均得分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69A48-9630-C89F-6530-7739AB351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935753"/>
            <a:ext cx="5869405" cy="5199938"/>
          </a:xfrm>
        </p:spPr>
        <p:txBody>
          <a:bodyPr/>
          <a:lstStyle/>
          <a:p>
            <a:r>
              <a:rPr lang="en-US" altLang="zh-CN" dirty="0"/>
              <a:t>points</a:t>
            </a:r>
            <a:r>
              <a:rPr lang="zh-CN" altLang="en-US" dirty="0"/>
              <a:t>求和项</a:t>
            </a:r>
            <a:r>
              <a:rPr lang="en-US" altLang="zh-CN" dirty="0"/>
              <a:t>/</a:t>
            </a:r>
            <a:r>
              <a:rPr lang="en-US" altLang="zh-CN" dirty="0" err="1"/>
              <a:t>game_id</a:t>
            </a:r>
            <a:r>
              <a:rPr lang="zh-CN" altLang="en-US" dirty="0"/>
              <a:t>计数项，即可得到球员平均得分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404C1A-B3DC-EAB6-4F74-714371DC4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66389"/>
              </p:ext>
            </p:extLst>
          </p:nvPr>
        </p:nvGraphicFramePr>
        <p:xfrm>
          <a:off x="4962525" y="2420601"/>
          <a:ext cx="6718300" cy="3615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9898">
                  <a:extLst>
                    <a:ext uri="{9D8B030D-6E8A-4147-A177-3AD203B41FA5}">
                      <a16:colId xmlns:a16="http://schemas.microsoft.com/office/drawing/2014/main" val="1419458968"/>
                    </a:ext>
                  </a:extLst>
                </a:gridCol>
                <a:gridCol w="1637526">
                  <a:extLst>
                    <a:ext uri="{9D8B030D-6E8A-4147-A177-3AD203B41FA5}">
                      <a16:colId xmlns:a16="http://schemas.microsoft.com/office/drawing/2014/main" val="3821934341"/>
                    </a:ext>
                  </a:extLst>
                </a:gridCol>
                <a:gridCol w="2275400">
                  <a:extLst>
                    <a:ext uri="{9D8B030D-6E8A-4147-A177-3AD203B41FA5}">
                      <a16:colId xmlns:a16="http://schemas.microsoft.com/office/drawing/2014/main" val="514888750"/>
                    </a:ext>
                  </a:extLst>
                </a:gridCol>
                <a:gridCol w="685476">
                  <a:extLst>
                    <a:ext uri="{9D8B030D-6E8A-4147-A177-3AD203B41FA5}">
                      <a16:colId xmlns:a16="http://schemas.microsoft.com/office/drawing/2014/main" val="111601245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Boston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7.240285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856059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Al Horford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8.196721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11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Dalano Banton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39218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Derrick White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940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13.62319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86563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Drew Peterson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29652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Jaden Springer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1.714286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436486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Jaylen Brown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20.12121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2182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Jayson Tatum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1513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21.61429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49107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JD Davison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692732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Jordan Walsh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70816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Jrue Holiday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747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11.67188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89931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lv-LV" sz="1100" u="none" strike="noStrike">
                          <a:effectLst/>
                        </a:rPr>
                        <a:t>Kristaps Porziņģis</a:t>
                      </a:r>
                      <a:endParaRPr lang="lv-LV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15.58491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58248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Lamar Stevens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3.214286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61490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Luke Kornet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244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4.979592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592561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Neemias Queta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4.636364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424204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Oshae Brissett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3.694444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01937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Payton Pritchard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8.013333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039484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Sam Hauser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619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8.597222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964187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Svi Mykhailiuk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3.703704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64773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Xavier Tillman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4966639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18AA3477-43F0-1EA3-8E3F-D4442FC68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25" y="2220576"/>
            <a:ext cx="67341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899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数据清洗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数据清洗是整个数据分析过程的第一步，也是数据分析项目中最耗费时间的一步。</a:t>
            </a:r>
            <a:endParaRPr lang="en-US" altLang="zh-CN" dirty="0"/>
          </a:p>
          <a:p>
            <a:r>
              <a:rPr lang="zh-CN" altLang="en-US" dirty="0"/>
              <a:t>数据清洗的过程决定了数据分析的准确性。</a:t>
            </a:r>
            <a:endParaRPr lang="en-US" altLang="zh-CN" dirty="0"/>
          </a:p>
          <a:p>
            <a:r>
              <a:rPr lang="zh-CN" altLang="en-US" dirty="0"/>
              <a:t>随着大数据的越来越普及，数据清洗是必备的技能之一。</a:t>
            </a:r>
            <a:endParaRPr lang="en-US" altLang="zh-CN" dirty="0"/>
          </a:p>
          <a:p>
            <a:r>
              <a:rPr lang="zh-CN" altLang="en-US" dirty="0"/>
              <a:t>数据清洗工作内容：</a:t>
            </a:r>
            <a:endParaRPr lang="en-US" altLang="zh-CN" dirty="0"/>
          </a:p>
          <a:p>
            <a:pPr lvl="1"/>
            <a:r>
              <a:rPr lang="en-US" altLang="zh-CN" dirty="0"/>
              <a:t>Standardize empty values</a:t>
            </a:r>
            <a:r>
              <a:rPr lang="zh-CN" altLang="en-US" dirty="0"/>
              <a:t>（空值数据处理）</a:t>
            </a:r>
            <a:endParaRPr lang="en-US" altLang="zh-CN" dirty="0"/>
          </a:p>
          <a:p>
            <a:pPr lvl="1"/>
            <a:r>
              <a:rPr lang="en-US" altLang="zh-CN" dirty="0"/>
              <a:t>Remove duplicate records</a:t>
            </a:r>
            <a:r>
              <a:rPr lang="zh-CN" altLang="en-US" dirty="0"/>
              <a:t>（重复数据去除）</a:t>
            </a:r>
            <a:endParaRPr lang="en-US" altLang="zh-CN" dirty="0"/>
          </a:p>
          <a:p>
            <a:pPr lvl="1"/>
            <a:r>
              <a:rPr lang="en-US" altLang="zh-CN" dirty="0"/>
              <a:t>Highly missing fields</a:t>
            </a:r>
            <a:r>
              <a:rPr lang="zh-CN" altLang="en-US" dirty="0"/>
              <a:t>（高度缺失数据的字段剔除）</a:t>
            </a:r>
            <a:endParaRPr lang="en-US" altLang="zh-CN" dirty="0"/>
          </a:p>
          <a:p>
            <a:pPr lvl="1"/>
            <a:r>
              <a:rPr lang="en-US" altLang="zh-CN" dirty="0"/>
              <a:t>Missing value imputation </a:t>
            </a:r>
            <a:r>
              <a:rPr lang="zh-CN" altLang="en-US" dirty="0"/>
              <a:t>（缺失数据的替换）</a:t>
            </a:r>
            <a:endParaRPr lang="en-US" altLang="zh-CN" dirty="0"/>
          </a:p>
          <a:p>
            <a:pPr lvl="1"/>
            <a:r>
              <a:rPr lang="en-US" altLang="zh-CN" dirty="0"/>
              <a:t>Redundant fields </a:t>
            </a:r>
            <a:r>
              <a:rPr lang="zh-CN" altLang="en-US" dirty="0"/>
              <a:t>（剔除冗余字段）</a:t>
            </a:r>
            <a:endParaRPr lang="en-US" altLang="zh-CN" dirty="0"/>
          </a:p>
          <a:p>
            <a:pPr lvl="1"/>
            <a:r>
              <a:rPr lang="en-US" altLang="zh-CN" dirty="0"/>
              <a:t>Capping high float precision</a:t>
            </a:r>
            <a:r>
              <a:rPr lang="zh-CN" altLang="en-US" dirty="0"/>
              <a:t>（圆整过高精度浮点数）</a:t>
            </a:r>
            <a:endParaRPr lang="en-US" altLang="zh-CN" dirty="0"/>
          </a:p>
          <a:p>
            <a:pPr lvl="1"/>
            <a:r>
              <a:rPr lang="en-US" altLang="zh-CN" dirty="0"/>
              <a:t>Constant fields </a:t>
            </a:r>
            <a:r>
              <a:rPr lang="zh-CN" altLang="en-US" dirty="0"/>
              <a:t>（剔除常量字段）</a:t>
            </a:r>
            <a:endParaRPr lang="en-US" altLang="zh-CN" dirty="0"/>
          </a:p>
          <a:p>
            <a:pPr lvl="1"/>
            <a:r>
              <a:rPr lang="en-US" altLang="zh-CN" dirty="0"/>
              <a:t>Field level outliers</a:t>
            </a:r>
          </a:p>
          <a:p>
            <a:pPr lvl="1"/>
            <a:r>
              <a:rPr lang="en-US" altLang="zh-CN" dirty="0"/>
              <a:t>Record level outliers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6551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数据清洗常用工具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en-US" altLang="zh-CN" dirty="0" err="1"/>
              <a:t>Numpy</a:t>
            </a:r>
            <a:r>
              <a:rPr lang="zh-CN" altLang="en-US" dirty="0"/>
              <a:t>和</a:t>
            </a:r>
            <a:r>
              <a:rPr lang="en-US" altLang="zh-CN" dirty="0"/>
              <a:t>Pandas</a:t>
            </a:r>
            <a:r>
              <a:rPr lang="zh-CN" altLang="en-US" dirty="0"/>
              <a:t>是最主流的工具</a:t>
            </a:r>
          </a:p>
          <a:p>
            <a:r>
              <a:rPr lang="en-US" altLang="zh-CN" dirty="0" err="1"/>
              <a:t>Numpy</a:t>
            </a:r>
            <a:r>
              <a:rPr lang="zh-CN" altLang="en-US" dirty="0"/>
              <a:t>中的向量化运算使得数据处理变得高效</a:t>
            </a:r>
          </a:p>
          <a:p>
            <a:r>
              <a:rPr lang="en-US" altLang="zh-CN" dirty="0"/>
              <a:t>Pandas</a:t>
            </a:r>
            <a:r>
              <a:rPr lang="zh-CN" altLang="en-US" dirty="0"/>
              <a:t>提供了大量数据清洗的高效方法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安装其他工具包：</a:t>
            </a:r>
            <a:endParaRPr lang="en-US" altLang="zh-CN" dirty="0"/>
          </a:p>
          <a:p>
            <a:r>
              <a:rPr lang="en-US" altLang="zh-CN" dirty="0"/>
              <a:t>pip install </a:t>
            </a:r>
            <a:r>
              <a:rPr lang="en-US" altLang="zh-CN" dirty="0" err="1"/>
              <a:t>category_encoders</a:t>
            </a:r>
            <a:endParaRPr lang="en-US" altLang="zh-CN" dirty="0"/>
          </a:p>
          <a:p>
            <a:r>
              <a:rPr lang="en-US" altLang="zh-CN" dirty="0"/>
              <a:t>pip install </a:t>
            </a:r>
            <a:r>
              <a:rPr lang="en-US" altLang="zh-CN" dirty="0" err="1"/>
              <a:t>missingpy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9930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Step1. </a:t>
            </a:r>
            <a:r>
              <a:rPr lang="zh-CN" altLang="en-US" dirty="0"/>
              <a:t>数据读取及探索性数据描述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Pandas</a:t>
            </a:r>
            <a:r>
              <a:rPr lang="zh-CN" altLang="en-US" dirty="0"/>
              <a:t>可读取</a:t>
            </a:r>
            <a:r>
              <a:rPr lang="en-US" altLang="zh-CN" dirty="0"/>
              <a:t>csv</a:t>
            </a:r>
            <a:r>
              <a:rPr lang="zh-CN" altLang="en-US" dirty="0"/>
              <a:t>文件、</a:t>
            </a:r>
            <a:r>
              <a:rPr lang="en-US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/>
              <a:t>Pandas</a:t>
            </a:r>
            <a:r>
              <a:rPr lang="zh-CN" altLang="en-US" dirty="0"/>
              <a:t>读取数据文件，返回为</a:t>
            </a:r>
            <a:r>
              <a:rPr lang="en-US" altLang="zh-CN" dirty="0" err="1"/>
              <a:t>dataframe</a:t>
            </a:r>
            <a:r>
              <a:rPr lang="zh-CN" altLang="en-US" dirty="0"/>
              <a:t>格式变量</a:t>
            </a:r>
            <a:endParaRPr lang="en-US" altLang="zh-CN" dirty="0"/>
          </a:p>
          <a:p>
            <a:r>
              <a:rPr lang="zh-CN" altLang="en-US" dirty="0"/>
              <a:t>在读取</a:t>
            </a:r>
            <a:r>
              <a:rPr lang="en-US" altLang="zh-CN" dirty="0"/>
              <a:t>csv</a:t>
            </a:r>
            <a:r>
              <a:rPr lang="zh-CN" altLang="en-US" dirty="0"/>
              <a:t>文件时，文件名称尽量是英文</a:t>
            </a:r>
            <a:endParaRPr lang="en-US" altLang="zh-CN" dirty="0"/>
          </a:p>
          <a:p>
            <a:r>
              <a:rPr lang="en-US" altLang="zh-CN" dirty="0"/>
              <a:t>CSV</a:t>
            </a:r>
            <a:r>
              <a:rPr lang="zh-CN" altLang="en-US" dirty="0"/>
              <a:t>文件读取时注意编码，常用编码为</a:t>
            </a:r>
            <a:r>
              <a:rPr lang="en-US" altLang="zh-CN" dirty="0"/>
              <a:t>utf-8</a:t>
            </a:r>
            <a:r>
              <a:rPr lang="zh-CN" altLang="en-US" dirty="0"/>
              <a:t>、</a:t>
            </a:r>
            <a:r>
              <a:rPr lang="en-US" altLang="zh-CN" dirty="0" err="1"/>
              <a:t>gbk</a:t>
            </a:r>
            <a:r>
              <a:rPr lang="zh-CN" altLang="en-US" dirty="0"/>
              <a:t>（</a:t>
            </a:r>
            <a:r>
              <a:rPr lang="en-US" altLang="zh-CN" dirty="0"/>
              <a:t>gbk2312</a:t>
            </a:r>
            <a:r>
              <a:rPr lang="zh-CN" altLang="en-US" dirty="0"/>
              <a:t>、</a:t>
            </a:r>
            <a:r>
              <a:rPr lang="en-US" altLang="zh-CN" dirty="0"/>
              <a:t>gb18030</a:t>
            </a:r>
            <a:r>
              <a:rPr lang="zh-CN" altLang="en-US" dirty="0"/>
              <a:t>）等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(“csv</a:t>
            </a:r>
            <a:r>
              <a:rPr lang="zh-CN" altLang="en-US" dirty="0"/>
              <a:t>文件</a:t>
            </a:r>
            <a:r>
              <a:rPr lang="en-US" altLang="zh-CN" dirty="0"/>
              <a:t>”, encoding=‘</a:t>
            </a:r>
            <a:r>
              <a:rPr lang="en-US" altLang="zh-CN" dirty="0" err="1"/>
              <a:t>gbk</a:t>
            </a:r>
            <a:r>
              <a:rPr lang="en-US" altLang="zh-CN" dirty="0"/>
              <a:t>’)</a:t>
            </a:r>
          </a:p>
          <a:p>
            <a:r>
              <a:rPr lang="zh-CN" altLang="en-US" dirty="0"/>
              <a:t>如果数据是压缩包的形式</a:t>
            </a:r>
            <a:r>
              <a:rPr lang="zh-CN" altLang="en-US"/>
              <a:t>，可以直接用压缩</a:t>
            </a:r>
            <a:r>
              <a:rPr lang="zh-CN" altLang="en-US" dirty="0"/>
              <a:t>包的读取方式。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(“</a:t>
            </a:r>
            <a:r>
              <a:rPr lang="zh-CN" altLang="en-US" dirty="0"/>
              <a:t>文件</a:t>
            </a:r>
            <a:r>
              <a:rPr lang="en-US" altLang="zh-CN" dirty="0"/>
              <a:t>.zip”, encoding=‘</a:t>
            </a:r>
            <a:r>
              <a:rPr lang="en-US" altLang="zh-CN" dirty="0" err="1"/>
              <a:t>gbk</a:t>
            </a:r>
            <a:r>
              <a:rPr lang="en-US" altLang="zh-CN" dirty="0"/>
              <a:t>’, compression=“zip”)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1046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二手摩托车数据集字段含义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1600"/>
            <a:ext cx="5992091" cy="48053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Condition</a:t>
            </a:r>
            <a:r>
              <a:rPr lang="zh-CN" altLang="en-US" dirty="0"/>
              <a:t>：摩托车新旧情况，</a:t>
            </a:r>
            <a:r>
              <a:rPr lang="en-US" altLang="zh-CN" dirty="0"/>
              <a:t>new-</a:t>
            </a:r>
            <a:r>
              <a:rPr lang="zh-CN" altLang="en-US" dirty="0"/>
              <a:t>新车， </a:t>
            </a:r>
            <a:r>
              <a:rPr lang="en-US" altLang="zh-CN" dirty="0"/>
              <a:t>used-</a:t>
            </a:r>
            <a:r>
              <a:rPr lang="zh-CN" altLang="en-US" dirty="0"/>
              <a:t>旧车）</a:t>
            </a:r>
          </a:p>
          <a:p>
            <a:r>
              <a:rPr lang="en-US" altLang="zh-CN" dirty="0" err="1"/>
              <a:t>Condition_Desc</a:t>
            </a:r>
            <a:r>
              <a:rPr lang="zh-CN" altLang="en-US" dirty="0"/>
              <a:t>：车辆描述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Price</a:t>
            </a:r>
            <a:r>
              <a:rPr lang="zh-CN" altLang="en-US" dirty="0">
                <a:solidFill>
                  <a:srgbClr val="FF0000"/>
                </a:solidFill>
              </a:rPr>
              <a:t>：价格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Location</a:t>
            </a:r>
            <a:r>
              <a:rPr lang="zh-CN" altLang="en-US" dirty="0">
                <a:solidFill>
                  <a:srgbClr val="FF0000"/>
                </a:solidFill>
              </a:rPr>
              <a:t>：地址</a:t>
            </a:r>
          </a:p>
          <a:p>
            <a:r>
              <a:rPr lang="en-US" altLang="zh-CN" dirty="0" err="1"/>
              <a:t>Model_Year</a:t>
            </a:r>
            <a:r>
              <a:rPr lang="zh-CN" altLang="en-US" dirty="0"/>
              <a:t>：车型年份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Mileage</a:t>
            </a:r>
            <a:r>
              <a:rPr lang="zh-CN" altLang="en-US" dirty="0">
                <a:solidFill>
                  <a:srgbClr val="FF0000"/>
                </a:solidFill>
              </a:rPr>
              <a:t>：里程（英里）</a:t>
            </a:r>
          </a:p>
          <a:p>
            <a:r>
              <a:rPr lang="en-US" altLang="zh-CN" dirty="0" err="1"/>
              <a:t>Exterior_Color</a:t>
            </a:r>
            <a:r>
              <a:rPr lang="zh-CN" altLang="en-US" dirty="0"/>
              <a:t>：车的颜色</a:t>
            </a:r>
          </a:p>
          <a:p>
            <a:r>
              <a:rPr lang="en-US" altLang="zh-CN" dirty="0"/>
              <a:t>Make</a:t>
            </a:r>
            <a:r>
              <a:rPr lang="zh-CN" altLang="en-US" dirty="0"/>
              <a:t>：制造商</a:t>
            </a:r>
          </a:p>
          <a:p>
            <a:r>
              <a:rPr lang="en-US" altLang="zh-CN" dirty="0"/>
              <a:t>Warranty</a:t>
            </a:r>
            <a:r>
              <a:rPr lang="zh-CN" altLang="en-US" dirty="0"/>
              <a:t>：保修</a:t>
            </a:r>
          </a:p>
          <a:p>
            <a:r>
              <a:rPr lang="en-US" altLang="zh-CN" dirty="0"/>
              <a:t>Model</a:t>
            </a:r>
            <a:r>
              <a:rPr lang="zh-CN" altLang="en-US" dirty="0"/>
              <a:t>：型号</a:t>
            </a:r>
            <a:endParaRPr lang="en-US" altLang="zh-CN" dirty="0"/>
          </a:p>
          <a:p>
            <a:r>
              <a:rPr lang="en-US" altLang="zh-CN" dirty="0" err="1"/>
              <a:t>Sub_Model</a:t>
            </a:r>
            <a:r>
              <a:rPr lang="zh-CN" altLang="en-US" dirty="0"/>
              <a:t>：车辆类型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49708" y="1367522"/>
            <a:ext cx="4310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Seller_Status</a:t>
            </a:r>
            <a:r>
              <a:rPr lang="zh-CN" altLang="en-US" dirty="0"/>
              <a:t>：销售状况，</a:t>
            </a:r>
            <a:r>
              <a:rPr lang="en-US" altLang="zh-CN" dirty="0"/>
              <a:t>dealer-</a:t>
            </a:r>
            <a:r>
              <a:rPr lang="zh-CN" altLang="en-US" dirty="0"/>
              <a:t>销售商，</a:t>
            </a:r>
            <a:r>
              <a:rPr lang="en-US" altLang="zh-CN" dirty="0"/>
              <a:t>Private Seller-</a:t>
            </a:r>
            <a:r>
              <a:rPr lang="zh-CN" altLang="en-US" dirty="0"/>
              <a:t>个人，</a:t>
            </a:r>
            <a:r>
              <a:rPr lang="en-US" altLang="zh-CN" dirty="0"/>
              <a:t>Owner-</a:t>
            </a:r>
            <a:r>
              <a:rPr lang="zh-CN" altLang="en-US" dirty="0"/>
              <a:t>车主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Bid_Count</a:t>
            </a:r>
            <a:r>
              <a:rPr lang="zh-CN" altLang="en-US" dirty="0"/>
              <a:t>：竞价次数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N_reviews</a:t>
            </a:r>
            <a:r>
              <a:rPr lang="zh-CN" altLang="en-US" dirty="0"/>
              <a:t>：评论数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OBO</a:t>
            </a:r>
            <a:r>
              <a:rPr lang="zh-CN" altLang="en-US" dirty="0"/>
              <a:t>：是否可还价（是否为一口价）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Watch_Count</a:t>
            </a:r>
            <a:r>
              <a:rPr lang="zh-CN" altLang="en-US" dirty="0"/>
              <a:t>：表数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Type</a:t>
            </a:r>
            <a:r>
              <a:rPr lang="zh-CN" altLang="en-US" dirty="0"/>
              <a:t>：种类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Vehicle_Title</a:t>
            </a:r>
            <a:r>
              <a:rPr lang="zh-CN" altLang="en-US" dirty="0"/>
              <a:t>：车辆状况：</a:t>
            </a:r>
            <a:r>
              <a:rPr lang="en-US" altLang="zh-CN" dirty="0"/>
              <a:t>Clear-</a:t>
            </a:r>
            <a:r>
              <a:rPr lang="zh-CN" altLang="en-US" dirty="0"/>
              <a:t>无事故，</a:t>
            </a:r>
            <a:r>
              <a:rPr lang="en-US" altLang="zh-CN" dirty="0"/>
              <a:t>Rebuilt-</a:t>
            </a:r>
            <a:r>
              <a:rPr lang="zh-CN" altLang="en-US" dirty="0"/>
              <a:t>有事故，但维修得到认证，</a:t>
            </a:r>
            <a:r>
              <a:rPr lang="en-US" altLang="zh-CN" dirty="0"/>
              <a:t>Salvage-</a:t>
            </a:r>
            <a:r>
              <a:rPr lang="zh-CN" altLang="en-US" dirty="0"/>
              <a:t>事故车，维修无认证</a:t>
            </a:r>
          </a:p>
        </p:txBody>
      </p:sp>
    </p:spTree>
    <p:extLst>
      <p:ext uri="{BB962C8B-B14F-4D97-AF65-F5344CB8AC3E}">
        <p14:creationId xmlns:p14="http://schemas.microsoft.com/office/powerpoint/2010/main" val="2801354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/>
          <a:lstStyle/>
          <a:p>
            <a:r>
              <a:rPr lang="en-US" altLang="zh-CN" dirty="0"/>
              <a:t>Pandas</a:t>
            </a:r>
            <a:r>
              <a:rPr lang="zh-CN" altLang="en-US" dirty="0"/>
              <a:t>探索性数据描述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902345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探索性数据描述（</a:t>
            </a:r>
            <a:r>
              <a:rPr lang="en-US" altLang="zh-CN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Exploratory Data Analysis</a:t>
            </a:r>
            <a:r>
              <a:rPr lang="zh-CN" altLang="en-US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3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）是对数据总体情况有一个初步了解</a:t>
            </a:r>
            <a:endParaRPr lang="en-US" altLang="zh-CN" sz="3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/>
              <a:t>代码示例：使用</a:t>
            </a:r>
            <a:r>
              <a:rPr lang="en-US" altLang="zh-CN" dirty="0" err="1"/>
              <a:t>pandas_profiling</a:t>
            </a:r>
            <a:r>
              <a:rPr lang="zh-CN" altLang="en-US" dirty="0"/>
              <a:t>对二手摩托车数据</a:t>
            </a:r>
            <a:r>
              <a:rPr lang="en-US" altLang="zh-CN" dirty="0"/>
              <a:t>EDA</a:t>
            </a:r>
          </a:p>
          <a:p>
            <a:pPr marL="0" indent="0">
              <a:buNone/>
            </a:pPr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pandas_profiling</a:t>
            </a:r>
            <a:r>
              <a:rPr lang="en-US" altLang="zh-CN" dirty="0"/>
              <a:t> import </a:t>
            </a:r>
            <a:r>
              <a:rPr lang="en-US" altLang="zh-CN" dirty="0" err="1"/>
              <a:t>ProfileReport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#EDA using pandas-profiling</a:t>
            </a:r>
            <a:r>
              <a:rPr lang="zh-CN" altLang="en-US" dirty="0"/>
              <a:t>，采用</a:t>
            </a:r>
            <a:r>
              <a:rPr lang="en-US" altLang="zh-CN" dirty="0"/>
              <a:t>’</a:t>
            </a:r>
            <a:r>
              <a:rPr lang="en-US" altLang="zh-CN" dirty="0" err="1"/>
              <a:t>gbk</a:t>
            </a:r>
            <a:r>
              <a:rPr lang="en-US" altLang="zh-CN" dirty="0"/>
              <a:t>’</a:t>
            </a:r>
            <a:r>
              <a:rPr lang="zh-CN" altLang="en-US" dirty="0"/>
              <a:t>解码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(‘MotorcycleData.csv’, encoding=‘</a:t>
            </a:r>
            <a:r>
              <a:rPr lang="en-US" altLang="zh-CN" dirty="0" err="1"/>
              <a:t>gbk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# </a:t>
            </a:r>
            <a:r>
              <a:rPr lang="zh-CN" altLang="en-US" dirty="0"/>
              <a:t>不做</a:t>
            </a:r>
            <a:r>
              <a:rPr lang="en-US" altLang="zh-CN" dirty="0" err="1"/>
              <a:t>cramers</a:t>
            </a:r>
            <a:r>
              <a:rPr lang="zh-CN" altLang="en-US" dirty="0"/>
              <a:t>相关性分析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profile = </a:t>
            </a:r>
            <a:r>
              <a:rPr lang="en-US" altLang="zh-CN" dirty="0" err="1"/>
              <a:t>ProfileReport</a:t>
            </a:r>
            <a:r>
              <a:rPr lang="en-US" altLang="zh-CN" dirty="0"/>
              <a:t>(</a:t>
            </a:r>
            <a:r>
              <a:rPr lang="en-US" altLang="zh-CN" dirty="0" err="1"/>
              <a:t>df</a:t>
            </a:r>
            <a:r>
              <a:rPr lang="en-US" altLang="zh-CN" dirty="0"/>
              <a:t>, correlations={"</a:t>
            </a:r>
            <a:r>
              <a:rPr lang="en-US" altLang="zh-CN" dirty="0" err="1"/>
              <a:t>cramers</a:t>
            </a:r>
            <a:r>
              <a:rPr lang="en-US" altLang="zh-CN" dirty="0"/>
              <a:t>": False})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#Saving results to a HTML file</a:t>
            </a:r>
          </a:p>
          <a:p>
            <a:pPr marL="0" indent="0">
              <a:buNone/>
            </a:pPr>
            <a:r>
              <a:rPr lang="en-US" altLang="zh-CN" dirty="0" err="1"/>
              <a:t>profile.to_file</a:t>
            </a:r>
            <a:r>
              <a:rPr lang="en-US" altLang="zh-CN" dirty="0"/>
              <a:t>(""MotorcycleEDAOutput.html"")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4201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64256"/>
            <a:ext cx="1071715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964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Step2. </a:t>
            </a:r>
            <a:r>
              <a:rPr lang="zh-CN" altLang="en-US" dirty="0"/>
              <a:t>对数据列进行整理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6389" y="1024832"/>
            <a:ext cx="10515600" cy="4351338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数据列的拆分</a:t>
            </a:r>
            <a:endParaRPr lang="en-US" altLang="zh-CN" dirty="0"/>
          </a:p>
          <a:p>
            <a:pPr lvl="1"/>
            <a:r>
              <a:rPr lang="zh-CN" altLang="en-US" dirty="0"/>
              <a:t>示例：使用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/>
              <a:t>apply</a:t>
            </a:r>
            <a:r>
              <a:rPr lang="zh-CN" altLang="en-US" dirty="0"/>
              <a:t>函数，对数据</a:t>
            </a:r>
            <a:r>
              <a:rPr lang="en-US" altLang="zh-CN" dirty="0"/>
              <a:t>Location</a:t>
            </a:r>
            <a:r>
              <a:rPr lang="zh-CN" altLang="en-US" dirty="0"/>
              <a:t>分列，拆分出</a:t>
            </a:r>
            <a:r>
              <a:rPr lang="en-US" altLang="zh-CN" dirty="0"/>
              <a:t>city, state</a:t>
            </a:r>
            <a:r>
              <a:rPr lang="zh-CN" altLang="en-US" dirty="0"/>
              <a:t>，并且替换州名称中的空格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26159" y="2445321"/>
            <a:ext cx="925606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get_cityState</a:t>
            </a:r>
            <a:r>
              <a:rPr lang="en-US" altLang="zh-CN" sz="2400" dirty="0"/>
              <a:t>(row):</a:t>
            </a:r>
          </a:p>
          <a:p>
            <a:r>
              <a:rPr lang="en-US" altLang="zh-CN" sz="2400" dirty="0"/>
              <a:t>    city = ""</a:t>
            </a:r>
          </a:p>
          <a:p>
            <a:r>
              <a:rPr lang="en-US" altLang="zh-CN" sz="2400" dirty="0"/>
              <a:t>    state = ""    </a:t>
            </a:r>
          </a:p>
          <a:p>
            <a:r>
              <a:rPr lang="en-US" altLang="zh-CN" sz="2400" dirty="0"/>
              <a:t>    location = row['Location']</a:t>
            </a:r>
          </a:p>
          <a:p>
            <a:r>
              <a:rPr lang="en-US" altLang="zh-CN" sz="2400" dirty="0"/>
              <a:t>    if (not location is </a:t>
            </a:r>
            <a:r>
              <a:rPr lang="en-US" altLang="zh-CN" sz="2400" dirty="0" err="1"/>
              <a:t>np.nan</a:t>
            </a:r>
            <a:r>
              <a:rPr lang="en-US" altLang="zh-CN" sz="2400" dirty="0"/>
              <a:t>) and ('United States' in location):        </a:t>
            </a:r>
          </a:p>
          <a:p>
            <a:r>
              <a:rPr lang="en-US" altLang="zh-CN" sz="2400" dirty="0"/>
              <a:t>        city, state = </a:t>
            </a:r>
            <a:r>
              <a:rPr lang="en-US" altLang="zh-CN" sz="2400" dirty="0" err="1"/>
              <a:t>location.split</a:t>
            </a:r>
            <a:r>
              <a:rPr lang="en-US" altLang="zh-CN" sz="2400" dirty="0"/>
              <a:t>(",")[:2]</a:t>
            </a:r>
          </a:p>
          <a:p>
            <a:r>
              <a:rPr lang="en-US" altLang="zh-CN" sz="2400" dirty="0"/>
              <a:t>        city = </a:t>
            </a:r>
            <a:r>
              <a:rPr lang="en-US" altLang="zh-CN" sz="2400" dirty="0" err="1"/>
              <a:t>city.replace</a:t>
            </a:r>
            <a:r>
              <a:rPr lang="en-US" altLang="zh-CN" sz="2400" dirty="0"/>
              <a:t>(“ “,””)</a:t>
            </a:r>
          </a:p>
          <a:p>
            <a:r>
              <a:rPr lang="en-US" altLang="zh-CN" sz="2400" dirty="0"/>
              <a:t>         state = </a:t>
            </a:r>
            <a:r>
              <a:rPr lang="en-US" altLang="zh-CN" sz="2400" dirty="0" err="1"/>
              <a:t>state.replace</a:t>
            </a:r>
            <a:r>
              <a:rPr lang="en-US" altLang="zh-CN" sz="2400" dirty="0"/>
              <a:t>(“ ”, “”)</a:t>
            </a:r>
          </a:p>
          <a:p>
            <a:r>
              <a:rPr lang="en-US" altLang="zh-CN" sz="2400" dirty="0"/>
              <a:t>    return (</a:t>
            </a:r>
            <a:r>
              <a:rPr lang="en-US" altLang="zh-CN" sz="2400" dirty="0" err="1"/>
              <a:t>city,state</a:t>
            </a:r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df</a:t>
            </a:r>
            <a:r>
              <a:rPr lang="en-US" altLang="zh-CN" sz="2400" dirty="0">
                <a:solidFill>
                  <a:srgbClr val="FF0000"/>
                </a:solidFill>
              </a:rPr>
              <a:t>[['</a:t>
            </a:r>
            <a:r>
              <a:rPr lang="en-US" altLang="zh-CN" sz="2400" dirty="0" err="1">
                <a:solidFill>
                  <a:srgbClr val="FF0000"/>
                </a:solidFill>
              </a:rPr>
              <a:t>city','state</a:t>
            </a:r>
            <a:r>
              <a:rPr lang="en-US" altLang="zh-CN" sz="2400" dirty="0">
                <a:solidFill>
                  <a:srgbClr val="FF0000"/>
                </a:solidFill>
              </a:rPr>
              <a:t>']] </a:t>
            </a:r>
            <a:r>
              <a:rPr lang="en-US" altLang="zh-CN" sz="2400" dirty="0"/>
              <a:t>= </a:t>
            </a:r>
            <a:r>
              <a:rPr lang="en-US" altLang="zh-CN" sz="2400" dirty="0" err="1"/>
              <a:t>df.apply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get_cityState,</a:t>
            </a:r>
            <a:r>
              <a:rPr lang="en-US" altLang="zh-CN" sz="2400" dirty="0" err="1">
                <a:solidFill>
                  <a:srgbClr val="FF0000"/>
                </a:solidFill>
              </a:rPr>
              <a:t>axis</a:t>
            </a:r>
            <a:r>
              <a:rPr lang="en-US" altLang="zh-CN" sz="2400" dirty="0">
                <a:solidFill>
                  <a:srgbClr val="FF0000"/>
                </a:solidFill>
              </a:rPr>
              <a:t>=1</a:t>
            </a:r>
            <a:r>
              <a:rPr lang="en-US" altLang="zh-CN" sz="2400" dirty="0"/>
              <a:t>,result_type='expand')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933468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Pandas axis = 0 </a:t>
            </a:r>
            <a:r>
              <a:rPr lang="zh-CN" altLang="en-US" dirty="0"/>
              <a:t>及 </a:t>
            </a:r>
            <a:r>
              <a:rPr lang="en-US" altLang="zh-CN" dirty="0"/>
              <a:t>1 </a:t>
            </a:r>
            <a:r>
              <a:rPr lang="zh-CN" altLang="en-US" dirty="0"/>
              <a:t>的含义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axis = 0 </a:t>
            </a:r>
            <a:r>
              <a:rPr lang="zh-CN" altLang="en-US" dirty="0"/>
              <a:t>沿着列方向，一行行执行</a:t>
            </a:r>
            <a:endParaRPr lang="en-US" altLang="zh-CN" dirty="0"/>
          </a:p>
          <a:p>
            <a:r>
              <a:rPr lang="en-US" altLang="zh-CN" dirty="0"/>
              <a:t>axis = 1 </a:t>
            </a:r>
            <a:r>
              <a:rPr lang="zh-CN" altLang="en-US" dirty="0"/>
              <a:t>沿着行方向，一列一列执行</a:t>
            </a:r>
            <a:endParaRPr lang="en-US" altLang="zh-CN" dirty="0"/>
          </a:p>
          <a:p>
            <a:r>
              <a:rPr lang="en-US" altLang="zh-CN" dirty="0"/>
              <a:t>Pandas</a:t>
            </a:r>
            <a:r>
              <a:rPr lang="zh-CN" altLang="en-US" dirty="0"/>
              <a:t>应用</a:t>
            </a:r>
            <a:r>
              <a:rPr lang="en-US" altLang="zh-CN" dirty="0"/>
              <a:t>apply</a:t>
            </a:r>
            <a:r>
              <a:rPr lang="zh-CN" altLang="en-US" dirty="0"/>
              <a:t>函数时，如果增加新列，参数</a:t>
            </a:r>
            <a:r>
              <a:rPr lang="en-US" altLang="zh-CN" dirty="0"/>
              <a:t>axis=1</a:t>
            </a:r>
            <a:r>
              <a:rPr lang="zh-CN" altLang="en-US" dirty="0"/>
              <a:t>，</a:t>
            </a:r>
            <a:r>
              <a:rPr lang="en-US" altLang="zh-CN" dirty="0" err="1"/>
              <a:t>result_type</a:t>
            </a:r>
            <a:r>
              <a:rPr lang="en-US" altLang="zh-CN" dirty="0"/>
              <a:t>=‘expand’</a:t>
            </a:r>
            <a:endParaRPr lang="zh-CN" altLang="en-US" dirty="0"/>
          </a:p>
        </p:txBody>
      </p:sp>
      <p:pic>
        <p:nvPicPr>
          <p:cNvPr id="1026" name="Picture 2" descr="https://upload-images.jianshu.io/upload_images/2233157-b77105789e36c84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3109276"/>
            <a:ext cx="621030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116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数据多列拆分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更加简单的方法：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 err="1"/>
              <a:t>str.split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Location</a:t>
            </a:r>
            <a:r>
              <a:rPr lang="zh-CN" altLang="en-US" dirty="0"/>
              <a:t>列拆分为</a:t>
            </a:r>
            <a:r>
              <a:rPr lang="en-US" altLang="zh-CN" dirty="0"/>
              <a:t>’</a:t>
            </a:r>
            <a:r>
              <a:rPr lang="en-US" altLang="zh-CN" dirty="0" err="1"/>
              <a:t>city’,’state’,’country</a:t>
            </a:r>
            <a:r>
              <a:rPr lang="en-US" altLang="zh-CN" dirty="0"/>
              <a:t>’</a:t>
            </a:r>
          </a:p>
          <a:p>
            <a:r>
              <a:rPr lang="en-US" altLang="zh-CN" dirty="0" err="1"/>
              <a:t>Str.split</a:t>
            </a:r>
            <a:r>
              <a:rPr lang="zh-CN" altLang="en-US" dirty="0"/>
              <a:t>函数参数含义：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：拆分列数，列索引从</a:t>
            </a:r>
            <a:r>
              <a:rPr lang="en-US" altLang="zh-CN" dirty="0"/>
              <a:t>0</a:t>
            </a:r>
            <a:r>
              <a:rPr lang="zh-CN" altLang="en-US" dirty="0"/>
              <a:t>开始计算，所以</a:t>
            </a:r>
            <a:r>
              <a:rPr lang="en-US" altLang="zh-CN" dirty="0"/>
              <a:t>n=2</a:t>
            </a:r>
            <a:r>
              <a:rPr lang="zh-CN" altLang="en-US" dirty="0"/>
              <a:t>，拆分出</a:t>
            </a:r>
            <a:r>
              <a:rPr lang="en-US" altLang="zh-CN" dirty="0"/>
              <a:t>3</a:t>
            </a:r>
            <a:r>
              <a:rPr lang="zh-CN" altLang="en-US" dirty="0"/>
              <a:t>列</a:t>
            </a:r>
            <a:endParaRPr lang="en-US" altLang="zh-CN" dirty="0"/>
          </a:p>
          <a:p>
            <a:pPr lvl="1"/>
            <a:r>
              <a:rPr lang="en-US" altLang="zh-CN" dirty="0"/>
              <a:t>Expand=True</a:t>
            </a:r>
            <a:r>
              <a:rPr lang="zh-CN" altLang="en-US" dirty="0"/>
              <a:t>：按</a:t>
            </a:r>
            <a:r>
              <a:rPr lang="en-US" altLang="zh-CN" dirty="0" err="1"/>
              <a:t>dataframe</a:t>
            </a:r>
            <a:r>
              <a:rPr lang="zh-CN" altLang="en-US" dirty="0"/>
              <a:t>拆分，拆分出多列；</a:t>
            </a:r>
            <a:endParaRPr lang="en-US" altLang="zh-CN" dirty="0"/>
          </a:p>
          <a:p>
            <a:pPr lvl="1"/>
            <a:r>
              <a:rPr lang="en-US" altLang="zh-CN" dirty="0"/>
              <a:t>expand=False: </a:t>
            </a:r>
            <a:r>
              <a:rPr lang="zh-CN" altLang="en-US" dirty="0"/>
              <a:t>按</a:t>
            </a:r>
            <a:r>
              <a:rPr lang="en-US" altLang="zh-CN" dirty="0"/>
              <a:t>Series</a:t>
            </a:r>
            <a:r>
              <a:rPr lang="zh-CN" altLang="en-US" dirty="0"/>
              <a:t>拆分，按行拆分数据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df</a:t>
            </a:r>
            <a:r>
              <a:rPr lang="en-US" altLang="zh-CN" dirty="0"/>
              <a:t>[['</a:t>
            </a:r>
            <a:r>
              <a:rPr lang="en-US" altLang="zh-CN" dirty="0" err="1"/>
              <a:t>city','state','country</a:t>
            </a:r>
            <a:r>
              <a:rPr lang="en-US" altLang="zh-CN" dirty="0"/>
              <a:t>']]= </a:t>
            </a:r>
            <a:r>
              <a:rPr lang="en-US" altLang="zh-CN" dirty="0" err="1"/>
              <a:t>df.Location.str.split</a:t>
            </a:r>
            <a:r>
              <a:rPr lang="en-US" altLang="zh-CN" dirty="0"/>
              <a:t>(',',expand=True, n=2 )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39884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数据转化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5182" y="1493115"/>
            <a:ext cx="10515600" cy="4351338"/>
          </a:xfrm>
        </p:spPr>
        <p:txBody>
          <a:bodyPr/>
          <a:lstStyle/>
          <a:p>
            <a:r>
              <a:rPr lang="zh-CN" altLang="en-US" dirty="0"/>
              <a:t>方法一：采用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/>
              <a:t>apply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Apply</a:t>
            </a:r>
            <a:r>
              <a:rPr lang="zh-CN" altLang="en-US" dirty="0"/>
              <a:t>函数，将</a:t>
            </a:r>
            <a:r>
              <a:rPr lang="en-US" altLang="zh-CN" dirty="0"/>
              <a:t>String</a:t>
            </a:r>
            <a:r>
              <a:rPr lang="zh-CN" altLang="en-US" dirty="0"/>
              <a:t>类型转化为</a:t>
            </a:r>
            <a:r>
              <a:rPr lang="en-US" altLang="zh-CN" dirty="0"/>
              <a:t>float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zh-CN" altLang="en-US" dirty="0"/>
              <a:t>示例：</a:t>
            </a:r>
            <a:r>
              <a:rPr lang="en-US" altLang="zh-CN" dirty="0"/>
              <a:t>Price</a:t>
            </a:r>
            <a:r>
              <a:rPr lang="zh-CN" altLang="en-US" dirty="0"/>
              <a:t>原始数据为含有</a:t>
            </a:r>
            <a:r>
              <a:rPr lang="en-US" altLang="zh-CN" dirty="0"/>
              <a:t>”$”</a:t>
            </a:r>
            <a:r>
              <a:rPr lang="zh-CN" altLang="en-US" dirty="0"/>
              <a:t>，为</a:t>
            </a:r>
            <a:r>
              <a:rPr lang="en-US" altLang="zh-CN" dirty="0"/>
              <a:t>String</a:t>
            </a:r>
            <a:r>
              <a:rPr lang="zh-CN" altLang="en-US" dirty="0"/>
              <a:t>类型</a:t>
            </a:r>
            <a:r>
              <a:rPr lang="en-US" altLang="zh-CN" dirty="0"/>
              <a:t>,</a:t>
            </a:r>
            <a:r>
              <a:rPr lang="zh-CN" altLang="en-US" dirty="0"/>
              <a:t>需要转化为小数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85110" y="3144983"/>
            <a:ext cx="58396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convertPrice</a:t>
            </a:r>
            <a:r>
              <a:rPr lang="en-US" altLang="zh-CN" sz="2000" dirty="0"/>
              <a:t>(price):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 = -10000.0</a:t>
            </a:r>
          </a:p>
          <a:p>
            <a:r>
              <a:rPr lang="en-US" altLang="zh-CN" sz="2000" dirty="0"/>
              <a:t>    if price is </a:t>
            </a:r>
            <a:r>
              <a:rPr lang="en-US" altLang="zh-CN" sz="2000" dirty="0" err="1"/>
              <a:t>np.nan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        return </a:t>
            </a:r>
            <a:r>
              <a:rPr lang="en-US" altLang="zh-CN" sz="2000" dirty="0" err="1"/>
              <a:t>val</a:t>
            </a:r>
            <a:endParaRPr lang="en-US" altLang="zh-CN" sz="2000" dirty="0"/>
          </a:p>
          <a:p>
            <a:r>
              <a:rPr lang="en-US" altLang="zh-CN" sz="2000" dirty="0"/>
              <a:t>    if '$' in price:</a:t>
            </a:r>
          </a:p>
          <a:p>
            <a:r>
              <a:rPr lang="en-US" altLang="zh-CN" sz="2000" dirty="0"/>
              <a:t>        price = </a:t>
            </a:r>
            <a:r>
              <a:rPr lang="en-US" altLang="zh-CN" sz="2000" dirty="0" err="1"/>
              <a:t>price.replace</a:t>
            </a:r>
            <a:r>
              <a:rPr lang="en-US" altLang="zh-CN" sz="2000" dirty="0"/>
              <a:t>("$","")</a:t>
            </a:r>
          </a:p>
          <a:p>
            <a:r>
              <a:rPr lang="en-US" altLang="zh-CN" sz="2000" dirty="0"/>
              <a:t>        price = </a:t>
            </a:r>
            <a:r>
              <a:rPr lang="en-US" altLang="zh-CN" sz="2000" dirty="0" err="1"/>
              <a:t>price.replace</a:t>
            </a:r>
            <a:r>
              <a:rPr lang="en-US" altLang="zh-CN" sz="2000" dirty="0"/>
              <a:t>(",","")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 = float(price)</a:t>
            </a:r>
          </a:p>
          <a:p>
            <a:r>
              <a:rPr lang="en-US" altLang="zh-CN" sz="2000" dirty="0"/>
              <a:t>    return </a:t>
            </a:r>
            <a:r>
              <a:rPr lang="en-US" altLang="zh-CN" sz="2000" dirty="0" err="1"/>
              <a:t>val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df</a:t>
            </a:r>
            <a:r>
              <a:rPr lang="en-US" altLang="zh-CN" sz="2000" dirty="0"/>
              <a:t>['Price'] = </a:t>
            </a:r>
            <a:r>
              <a:rPr lang="en-US" altLang="zh-CN" sz="2000" dirty="0" err="1"/>
              <a:t>df</a:t>
            </a:r>
            <a:r>
              <a:rPr lang="en-US" altLang="zh-CN" sz="2000" dirty="0"/>
              <a:t>['Price'].apply(</a:t>
            </a:r>
            <a:r>
              <a:rPr lang="en-US" altLang="zh-CN" sz="2000" dirty="0" err="1"/>
              <a:t>convertPrice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24880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数据转化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zh-CN" altLang="en-US" dirty="0"/>
              <a:t>采用</a:t>
            </a:r>
            <a:r>
              <a:rPr lang="en-US" altLang="zh-CN" dirty="0"/>
              <a:t>drop</a:t>
            </a:r>
            <a:r>
              <a:rPr lang="zh-CN" altLang="en-US" dirty="0"/>
              <a:t>函数删除无效数据；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）采用</a:t>
            </a:r>
            <a:r>
              <a:rPr lang="en-US" altLang="zh-CN" dirty="0" err="1"/>
              <a:t>apply+lambda</a:t>
            </a:r>
            <a:r>
              <a:rPr lang="zh-CN" altLang="en-US" dirty="0"/>
              <a:t>函数对数据转化</a:t>
            </a:r>
            <a:endParaRPr lang="en-US" altLang="zh-CN" dirty="0"/>
          </a:p>
          <a:p>
            <a:r>
              <a:rPr lang="zh-CN" altLang="en-US" dirty="0"/>
              <a:t>示例：用</a:t>
            </a:r>
            <a:r>
              <a:rPr lang="en-US" altLang="zh-CN" dirty="0"/>
              <a:t>drop</a:t>
            </a:r>
            <a:r>
              <a:rPr lang="zh-CN" altLang="en-US" dirty="0"/>
              <a:t>函数，对</a:t>
            </a:r>
            <a:r>
              <a:rPr lang="en-US" altLang="zh-CN" dirty="0"/>
              <a:t>Mileage</a:t>
            </a:r>
            <a:r>
              <a:rPr lang="zh-CN" altLang="en-US" dirty="0"/>
              <a:t>里程中数据为</a:t>
            </a:r>
            <a:r>
              <a:rPr lang="en-US" altLang="zh-CN" dirty="0"/>
              <a:t>’Na’</a:t>
            </a:r>
            <a:r>
              <a:rPr lang="zh-CN" altLang="en-US" dirty="0"/>
              <a:t>的数据删除，并将</a:t>
            </a:r>
            <a:r>
              <a:rPr lang="en-US" altLang="zh-CN" dirty="0" err="1"/>
              <a:t>str</a:t>
            </a:r>
            <a:r>
              <a:rPr lang="zh-CN" altLang="en-US" dirty="0"/>
              <a:t>转化为</a:t>
            </a:r>
            <a:r>
              <a:rPr lang="en-US" altLang="zh-CN" dirty="0"/>
              <a:t>float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72432" y="4361081"/>
            <a:ext cx="103813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df.drop</a:t>
            </a:r>
            <a:r>
              <a:rPr lang="en-US" altLang="zh-CN" sz="2800" dirty="0"/>
              <a:t>(index=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[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['Mileage']=='Na'].index, axis=1, </a:t>
            </a:r>
          </a:p>
          <a:p>
            <a:r>
              <a:rPr lang="en-US" altLang="zh-CN" sz="2800" dirty="0"/>
              <a:t>			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</a:p>
          <a:p>
            <a:r>
              <a:rPr lang="en-US" altLang="zh-CN" sz="2800" dirty="0" err="1"/>
              <a:t>df</a:t>
            </a:r>
            <a:r>
              <a:rPr lang="en-US" altLang="zh-CN" sz="2800" dirty="0"/>
              <a:t>['Mileage'] = 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['Mileage'].apply(lambda x :(float(</a:t>
            </a:r>
            <a:r>
              <a:rPr lang="en-US" altLang="zh-CN" sz="2800" dirty="0" err="1"/>
              <a:t>x.replace</a:t>
            </a:r>
            <a:r>
              <a:rPr lang="en-US" altLang="zh-CN" sz="2800" dirty="0"/>
              <a:t>(",","")) </a:t>
            </a:r>
          </a:p>
          <a:p>
            <a:r>
              <a:rPr lang="en-US" altLang="zh-CN" sz="2800" dirty="0"/>
              <a:t>                                               if type(x)==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 else float(x)) 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146388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Step 3. </a:t>
            </a:r>
            <a:r>
              <a:rPr lang="zh-CN" altLang="en-US" dirty="0"/>
              <a:t>数据统计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数据统计的两种方法：</a:t>
            </a:r>
            <a:r>
              <a:rPr lang="en-US" altLang="zh-CN" dirty="0" err="1"/>
              <a:t>groupby</a:t>
            </a:r>
            <a:r>
              <a:rPr lang="en-US" altLang="zh-CN" dirty="0"/>
              <a:t> </a:t>
            </a:r>
            <a:r>
              <a:rPr lang="zh-CN" altLang="en-US" dirty="0"/>
              <a:t>及 数据透视表（</a:t>
            </a:r>
            <a:r>
              <a:rPr lang="en-US" altLang="zh-CN" dirty="0" err="1"/>
              <a:t>pivot_table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例：统计二手摩托各个州的销售数据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）将前面的工作写成相应的函数，完成数据清洗；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）将清洗后的数据保存到</a:t>
            </a:r>
            <a:r>
              <a:rPr lang="en-US" altLang="zh-CN" dirty="0"/>
              <a:t>CSV</a:t>
            </a:r>
            <a:r>
              <a:rPr lang="zh-CN" altLang="en-US" dirty="0"/>
              <a:t>文件，保存清洗结果；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Pandas</a:t>
            </a:r>
            <a:r>
              <a:rPr lang="zh-CN" altLang="en-US" dirty="0"/>
              <a:t>读取清洗后的</a:t>
            </a:r>
            <a:r>
              <a:rPr lang="en-US" altLang="zh-CN" dirty="0"/>
              <a:t>CSV</a:t>
            </a:r>
            <a:r>
              <a:rPr lang="zh-CN" altLang="en-US" dirty="0"/>
              <a:t>文件；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）对缩写的州名替换为全称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）采用</a:t>
            </a:r>
            <a:r>
              <a:rPr lang="en-US" altLang="zh-CN" dirty="0" err="1"/>
              <a:t>groupby</a:t>
            </a:r>
            <a:r>
              <a:rPr lang="en-US" altLang="zh-CN" dirty="0"/>
              <a:t>(), </a:t>
            </a:r>
            <a:r>
              <a:rPr lang="en-US" altLang="zh-CN" dirty="0" err="1"/>
              <a:t>agg</a:t>
            </a:r>
            <a:r>
              <a:rPr lang="en-US" altLang="zh-CN" dirty="0"/>
              <a:t>()</a:t>
            </a:r>
            <a:r>
              <a:rPr lang="zh-CN" altLang="en-US" dirty="0"/>
              <a:t>链式表达式对各个州售卖摩托统计；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）采用</a:t>
            </a:r>
            <a:r>
              <a:rPr lang="en-US" altLang="zh-CN" dirty="0" err="1"/>
              <a:t>pivot_table</a:t>
            </a:r>
            <a:r>
              <a:rPr lang="zh-CN" altLang="en-US" dirty="0"/>
              <a:t>对各州售卖摩托统计；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03738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空值、</a:t>
            </a:r>
            <a:r>
              <a:rPr lang="en-US" altLang="zh-CN" dirty="0"/>
              <a:t>N/A</a:t>
            </a:r>
            <a:r>
              <a:rPr lang="zh-CN" altLang="en-US" dirty="0"/>
              <a:t>等缺失值替换 </a:t>
            </a:r>
            <a:r>
              <a:rPr lang="en-US" altLang="zh-CN" dirty="0"/>
              <a:t>Standardize empty values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将数据 </a:t>
            </a:r>
            <a:r>
              <a:rPr lang="en-US" altLang="zh-CN" dirty="0"/>
              <a:t>"?", "Missing", N/A, </a:t>
            </a:r>
            <a:r>
              <a:rPr lang="zh-CN" altLang="en-US" dirty="0"/>
              <a:t>替换为 </a:t>
            </a:r>
            <a:r>
              <a:rPr lang="en-US" altLang="zh-CN" dirty="0" err="1"/>
              <a:t>np.nan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45" y="1649427"/>
            <a:ext cx="9641178" cy="366524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15245" y="5530632"/>
            <a:ext cx="93650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df</a:t>
            </a:r>
            <a:r>
              <a:rPr lang="en-US" altLang="zh-CN" sz="2400" dirty="0"/>
              <a:t>['</a:t>
            </a:r>
            <a:r>
              <a:rPr lang="en-US" altLang="zh-CN" sz="2400" dirty="0" err="1"/>
              <a:t>workclass</a:t>
            </a:r>
            <a:r>
              <a:rPr lang="en-US" altLang="zh-CN" sz="2400" dirty="0"/>
              <a:t>']= </a:t>
            </a:r>
            <a:r>
              <a:rPr lang="en-US" altLang="zh-CN" sz="2400" dirty="0" err="1"/>
              <a:t>np.where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df</a:t>
            </a:r>
            <a:r>
              <a:rPr lang="en-US" altLang="zh-CN" sz="2400" dirty="0"/>
              <a:t>['</a:t>
            </a:r>
            <a:r>
              <a:rPr lang="en-US" altLang="zh-CN" sz="2400" dirty="0" err="1"/>
              <a:t>workclass</a:t>
            </a:r>
            <a:r>
              <a:rPr lang="en-US" altLang="zh-CN" sz="2400" dirty="0"/>
              <a:t>']=='?', </a:t>
            </a:r>
            <a:r>
              <a:rPr lang="en-US" altLang="zh-CN" sz="2400" dirty="0" err="1"/>
              <a:t>np.nan</a:t>
            </a:r>
            <a:r>
              <a:rPr lang="en-US" altLang="zh-CN" sz="2400" dirty="0"/>
              <a:t>,  </a:t>
            </a:r>
            <a:r>
              <a:rPr lang="en-US" altLang="zh-CN" sz="2400" dirty="0" err="1"/>
              <a:t>df</a:t>
            </a:r>
            <a:r>
              <a:rPr lang="en-US" altLang="zh-CN" sz="2400" dirty="0"/>
              <a:t>['</a:t>
            </a:r>
            <a:r>
              <a:rPr lang="en-US" altLang="zh-CN" sz="2400" dirty="0" err="1"/>
              <a:t>workclass</a:t>
            </a:r>
            <a:r>
              <a:rPr lang="en-US" altLang="zh-CN" sz="2400" dirty="0"/>
              <a:t>'])</a:t>
            </a:r>
          </a:p>
          <a:p>
            <a:r>
              <a:rPr lang="en-US" altLang="zh-CN" sz="2400" dirty="0" err="1"/>
              <a:t>df.occupation.replace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to_replace</a:t>
            </a:r>
            <a:r>
              <a:rPr lang="en-US" altLang="zh-CN" sz="2400" dirty="0"/>
              <a:t>='?', value=</a:t>
            </a:r>
            <a:r>
              <a:rPr lang="en-US" altLang="zh-CN" sz="2400" dirty="0" err="1"/>
              <a:t>np.nan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inplace</a:t>
            </a:r>
            <a:r>
              <a:rPr lang="en-US" altLang="zh-CN" sz="2400" dirty="0"/>
              <a:t>=True)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64582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去重 </a:t>
            </a:r>
            <a:r>
              <a:rPr lang="en-US" altLang="zh-CN" dirty="0"/>
              <a:t>Duplicated records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检查重复值</a:t>
            </a:r>
            <a:endParaRPr lang="en-US" altLang="zh-CN" dirty="0"/>
          </a:p>
          <a:p>
            <a:r>
              <a:rPr lang="en-US" altLang="zh-CN" dirty="0"/>
              <a:t>duplicate = </a:t>
            </a:r>
            <a:r>
              <a:rPr lang="en-US" altLang="zh-CN" dirty="0" err="1"/>
              <a:t>df</a:t>
            </a:r>
            <a:r>
              <a:rPr lang="en-US" altLang="zh-CN" dirty="0"/>
              <a:t>[</a:t>
            </a:r>
            <a:r>
              <a:rPr lang="en-US" altLang="zh-CN" dirty="0" err="1"/>
              <a:t>data.duplicated</a:t>
            </a:r>
            <a:r>
              <a:rPr lang="en-US" altLang="zh-CN" dirty="0"/>
              <a:t>()] </a:t>
            </a:r>
          </a:p>
          <a:p>
            <a:r>
              <a:rPr lang="en-US" altLang="zh-CN" dirty="0"/>
              <a:t>print(“Duplicate Rows :”,duplicate 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4416"/>
            <a:ext cx="10704762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664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US" altLang="zh-CN" dirty="0" err="1"/>
              <a:t>df.drop_duplicates</a:t>
            </a:r>
            <a:r>
              <a:rPr lang="en-US" altLang="zh-CN" dirty="0"/>
              <a:t>().</a:t>
            </a:r>
            <a:r>
              <a:rPr lang="en-US" altLang="zh-CN" dirty="0" err="1"/>
              <a:t>reset_index</a:t>
            </a:r>
            <a:r>
              <a:rPr lang="en-US" altLang="zh-CN" dirty="0"/>
              <a:t>(drop=True)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28" y="1668407"/>
            <a:ext cx="7105086" cy="463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614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对缩写的州名称替换为全称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构建一个 </a:t>
            </a:r>
            <a:r>
              <a:rPr lang="en-US" altLang="zh-CN" dirty="0"/>
              <a:t>{</a:t>
            </a:r>
            <a:r>
              <a:rPr lang="zh-CN" altLang="en-US" dirty="0"/>
              <a:t>缩写</a:t>
            </a:r>
            <a:r>
              <a:rPr lang="en-US" altLang="zh-CN" dirty="0"/>
              <a:t>: </a:t>
            </a:r>
            <a:r>
              <a:rPr lang="zh-CN" altLang="en-US" dirty="0"/>
              <a:t>全称</a:t>
            </a:r>
            <a:r>
              <a:rPr lang="en-US" altLang="zh-CN" dirty="0"/>
              <a:t>} </a:t>
            </a:r>
            <a:r>
              <a:rPr lang="zh-CN" altLang="en-US" dirty="0"/>
              <a:t>字典 </a:t>
            </a:r>
            <a:r>
              <a:rPr lang="en-US" altLang="zh-CN" dirty="0" err="1"/>
              <a:t>state_abb</a:t>
            </a:r>
            <a:r>
              <a:rPr lang="zh-CN" altLang="en-US" dirty="0"/>
              <a:t>，便于替换操作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在二手摩托的</a:t>
            </a:r>
            <a:r>
              <a:rPr lang="en-US" altLang="zh-CN" dirty="0" err="1"/>
              <a:t>dataframe</a:t>
            </a:r>
            <a:r>
              <a:rPr lang="zh-CN" altLang="en-US" dirty="0"/>
              <a:t>中，找到‘</a:t>
            </a:r>
            <a:r>
              <a:rPr lang="en-US" altLang="zh-CN" dirty="0"/>
              <a:t>state</a:t>
            </a:r>
            <a:r>
              <a:rPr lang="zh-CN" altLang="en-US" dirty="0"/>
              <a:t>’列中含有缩写的索引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74472" y="1562398"/>
            <a:ext cx="33112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state_abb</a:t>
            </a:r>
            <a:r>
              <a:rPr lang="en-US" altLang="zh-CN" sz="2000" dirty="0"/>
              <a:t> = {'</a:t>
            </a:r>
            <a:r>
              <a:rPr lang="en-US" altLang="zh-CN" sz="2000" dirty="0" err="1"/>
              <a:t>AR':'Arkansas</a:t>
            </a:r>
            <a:r>
              <a:rPr lang="en-US" altLang="zh-CN" sz="2000" dirty="0"/>
              <a:t>',</a:t>
            </a:r>
          </a:p>
          <a:p>
            <a:r>
              <a:rPr lang="en-US" altLang="zh-CN" sz="2000" dirty="0"/>
              <a:t> '</a:t>
            </a:r>
            <a:r>
              <a:rPr lang="en-US" altLang="zh-CN" sz="2000" dirty="0" err="1"/>
              <a:t>CT':'Connecticut</a:t>
            </a:r>
            <a:r>
              <a:rPr lang="en-US" altLang="zh-CN" sz="2000" dirty="0"/>
              <a:t>', </a:t>
            </a:r>
          </a:p>
          <a:p>
            <a:r>
              <a:rPr lang="en-US" altLang="zh-CN" sz="2000" dirty="0"/>
              <a:t> '</a:t>
            </a:r>
            <a:r>
              <a:rPr lang="en-US" altLang="zh-CN" sz="2000" dirty="0" err="1"/>
              <a:t>FL':'Florida</a:t>
            </a:r>
            <a:r>
              <a:rPr lang="en-US" altLang="zh-CN" sz="2000" dirty="0"/>
              <a:t>', </a:t>
            </a:r>
          </a:p>
          <a:p>
            <a:r>
              <a:rPr lang="en-US" altLang="zh-CN" sz="2000" dirty="0"/>
              <a:t> '</a:t>
            </a:r>
            <a:r>
              <a:rPr lang="en-US" altLang="zh-CN" sz="2000" dirty="0" err="1"/>
              <a:t>IL':'Illinois</a:t>
            </a:r>
            <a:r>
              <a:rPr lang="en-US" altLang="zh-CN" sz="2000" dirty="0"/>
              <a:t>', </a:t>
            </a:r>
          </a:p>
          <a:p>
            <a:r>
              <a:rPr lang="en-US" altLang="zh-CN" sz="2000" dirty="0"/>
              <a:t> '</a:t>
            </a:r>
            <a:r>
              <a:rPr lang="en-US" altLang="zh-CN" sz="2000" dirty="0" err="1"/>
              <a:t>IL.':'Illinois</a:t>
            </a:r>
            <a:r>
              <a:rPr lang="en-US" altLang="zh-CN" sz="2000" dirty="0"/>
              <a:t>',</a:t>
            </a:r>
          </a:p>
          <a:p>
            <a:r>
              <a:rPr lang="en-US" altLang="zh-CN" sz="2000" dirty="0"/>
              <a:t>'</a:t>
            </a:r>
            <a:r>
              <a:rPr lang="en-US" altLang="zh-CN" sz="2000" dirty="0" err="1"/>
              <a:t>TX':'Texas</a:t>
            </a:r>
            <a:r>
              <a:rPr lang="en-US" altLang="zh-CN" sz="2000" dirty="0"/>
              <a:t>',</a:t>
            </a:r>
          </a:p>
          <a:p>
            <a:r>
              <a:rPr lang="en-US" altLang="zh-CN" sz="2000" dirty="0"/>
              <a:t> '</a:t>
            </a:r>
            <a:r>
              <a:rPr lang="en-US" altLang="zh-CN" sz="2000" dirty="0" err="1"/>
              <a:t>VA':'Virginia</a:t>
            </a:r>
            <a:r>
              <a:rPr lang="en-US" altLang="zh-CN" sz="2000" dirty="0"/>
              <a:t>'}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375789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查找</a:t>
            </a:r>
            <a:r>
              <a:rPr lang="en-US" altLang="zh-CN" dirty="0" err="1"/>
              <a:t>dataframe</a:t>
            </a:r>
            <a:r>
              <a:rPr lang="zh-CN" altLang="en-US" dirty="0"/>
              <a:t>列中的州名称缩写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）得到州缩写的列表：</a:t>
            </a:r>
            <a:r>
              <a:rPr lang="en-US" altLang="zh-CN" dirty="0" err="1"/>
              <a:t>state_list</a:t>
            </a:r>
            <a:r>
              <a:rPr lang="en-US" altLang="zh-CN" dirty="0"/>
              <a:t> = list(</a:t>
            </a:r>
            <a:r>
              <a:rPr lang="en-US" altLang="zh-CN" dirty="0" err="1"/>
              <a:t>state_abb.keys</a:t>
            </a:r>
            <a:r>
              <a:rPr lang="en-US" altLang="zh-CN" dirty="0"/>
              <a:t>())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）方法一：使用</a:t>
            </a:r>
            <a:r>
              <a:rPr lang="en-US" altLang="zh-CN" dirty="0" err="1"/>
              <a:t>isin</a:t>
            </a:r>
            <a:r>
              <a:rPr lang="en-US" altLang="zh-CN" dirty="0"/>
              <a:t>(), index()</a:t>
            </a:r>
            <a:r>
              <a:rPr lang="zh-CN" altLang="en-US" dirty="0"/>
              <a:t>链式表达式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）方法二：使用</a:t>
            </a:r>
            <a:r>
              <a:rPr lang="en-US" altLang="zh-CN" dirty="0"/>
              <a:t>query(), index()</a:t>
            </a:r>
            <a:r>
              <a:rPr lang="zh-CN" altLang="en-US" dirty="0"/>
              <a:t>链式表达式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query</a:t>
            </a:r>
            <a:r>
              <a:rPr lang="zh-CN" altLang="en-US" dirty="0"/>
              <a:t>表达式：</a:t>
            </a:r>
            <a:r>
              <a:rPr lang="en-US" altLang="zh-CN" dirty="0"/>
              <a:t>@ </a:t>
            </a:r>
            <a:r>
              <a:rPr lang="zh-CN" altLang="en-US" dirty="0"/>
              <a:t>变量名称修饰符</a:t>
            </a:r>
            <a:r>
              <a:rPr lang="en-US" altLang="zh-CN" dirty="0"/>
              <a:t>; </a:t>
            </a:r>
            <a:r>
              <a:rPr lang="zh-CN" altLang="en-US" dirty="0"/>
              <a:t>列名如果有空格或者符号，需要用引号，如查找列</a:t>
            </a:r>
            <a:r>
              <a:rPr lang="en-US" altLang="zh-CN" dirty="0"/>
              <a:t>a </a:t>
            </a:r>
            <a:r>
              <a:rPr lang="en-US" altLang="zh-CN" dirty="0" err="1"/>
              <a:t>a</a:t>
            </a:r>
            <a:r>
              <a:rPr lang="en-US" altLang="zh-CN" dirty="0"/>
              <a:t>+</a:t>
            </a:r>
            <a:r>
              <a:rPr lang="zh-CN" altLang="en-US" dirty="0"/>
              <a:t>列</a:t>
            </a:r>
            <a:r>
              <a:rPr lang="en-US" altLang="zh-CN" dirty="0"/>
              <a:t>b&gt;0</a:t>
            </a:r>
            <a:r>
              <a:rPr lang="zh-CN" altLang="en-US" dirty="0"/>
              <a:t>，表达式为 </a:t>
            </a:r>
            <a:r>
              <a:rPr lang="en-US" altLang="zh-CN" dirty="0"/>
              <a:t>“’a </a:t>
            </a:r>
            <a:r>
              <a:rPr lang="en-US" altLang="zh-CN" dirty="0" err="1"/>
              <a:t>a’+b</a:t>
            </a:r>
            <a:r>
              <a:rPr lang="en-US" altLang="zh-CN" dirty="0"/>
              <a:t>&gt;0”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157754" y="3877527"/>
            <a:ext cx="7516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index_list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df.query</a:t>
            </a:r>
            <a:r>
              <a:rPr lang="en-US" altLang="zh-CN" sz="2800" dirty="0"/>
              <a:t>("state in @</a:t>
            </a:r>
            <a:r>
              <a:rPr lang="en-US" altLang="zh-CN" sz="2800" dirty="0" err="1"/>
              <a:t>state_list</a:t>
            </a:r>
            <a:r>
              <a:rPr lang="en-US" altLang="zh-CN" sz="2800" dirty="0"/>
              <a:t>").index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2157754" y="2231203"/>
            <a:ext cx="798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index_list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[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['state'].</a:t>
            </a:r>
            <a:r>
              <a:rPr lang="en-US" altLang="zh-CN" sz="2800" dirty="0" err="1"/>
              <a:t>isin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state_list</a:t>
            </a:r>
            <a:r>
              <a:rPr lang="en-US" altLang="zh-CN" sz="2800" dirty="0"/>
              <a:t>)].index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654201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州名缩写改为全称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对某行数据进行修改，需要使用</a:t>
            </a:r>
            <a:r>
              <a:rPr lang="en-US" altLang="zh-CN" dirty="0" err="1"/>
              <a:t>dataframe</a:t>
            </a:r>
            <a:r>
              <a:rPr lang="zh-CN" altLang="en-US" dirty="0"/>
              <a:t>的 </a:t>
            </a:r>
            <a:r>
              <a:rPr lang="en-US" altLang="zh-CN" dirty="0" err="1"/>
              <a:t>loc</a:t>
            </a:r>
            <a:r>
              <a:rPr lang="en-US" altLang="zh-CN" dirty="0"/>
              <a:t>[</a:t>
            </a:r>
            <a:r>
              <a:rPr lang="zh-CN" altLang="en-US" dirty="0"/>
              <a:t>行索引，列名称</a:t>
            </a:r>
            <a:r>
              <a:rPr lang="en-US" altLang="zh-CN" dirty="0"/>
              <a:t>] </a:t>
            </a:r>
            <a:r>
              <a:rPr lang="zh-CN" altLang="en-US" dirty="0"/>
              <a:t>修改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39788" y="2346690"/>
            <a:ext cx="72652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for </a:t>
            </a:r>
            <a:r>
              <a:rPr lang="en-US" altLang="zh-CN" sz="2800" dirty="0" err="1"/>
              <a:t>idx</a:t>
            </a:r>
            <a:r>
              <a:rPr lang="en-US" altLang="zh-CN" sz="2800" dirty="0"/>
              <a:t> in </a:t>
            </a:r>
            <a:r>
              <a:rPr lang="en-US" altLang="zh-CN" sz="2800" dirty="0" err="1"/>
              <a:t>index_list</a:t>
            </a:r>
            <a:r>
              <a:rPr lang="en-US" altLang="zh-CN" sz="2800" dirty="0"/>
              <a:t>: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abb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df.loc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idx</a:t>
            </a:r>
            <a:r>
              <a:rPr lang="en-US" altLang="zh-CN" sz="2800" dirty="0"/>
              <a:t>,'state']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df.loc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idx</a:t>
            </a:r>
            <a:r>
              <a:rPr lang="en-US" altLang="zh-CN" sz="2800" dirty="0"/>
              <a:t>, 'state'] = </a:t>
            </a:r>
            <a:r>
              <a:rPr lang="en-US" altLang="zh-CN" sz="2800" dirty="0" err="1"/>
              <a:t>state_abb.get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abb</a:t>
            </a:r>
            <a:r>
              <a:rPr lang="en-US" altLang="zh-CN" sz="2800" dirty="0"/>
              <a:t>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633306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Groupby</a:t>
            </a:r>
            <a:r>
              <a:rPr lang="zh-CN" altLang="en-US" dirty="0"/>
              <a:t>对</a:t>
            </a:r>
            <a:r>
              <a:rPr lang="en-US" altLang="zh-CN" dirty="0"/>
              <a:t>’state’</a:t>
            </a:r>
            <a:r>
              <a:rPr lang="zh-CN" altLang="en-US" dirty="0"/>
              <a:t>列统计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统计各州二手摩托车售卖数量、平均价格；</a:t>
            </a:r>
            <a:endParaRPr lang="en-US" altLang="zh-CN" dirty="0"/>
          </a:p>
          <a:p>
            <a:r>
              <a:rPr lang="en-US" altLang="zh-CN" dirty="0" err="1"/>
              <a:t>Groupby</a:t>
            </a:r>
            <a:r>
              <a:rPr lang="en-US" altLang="zh-CN" dirty="0"/>
              <a:t>(), </a:t>
            </a:r>
            <a:r>
              <a:rPr lang="en-US" altLang="zh-CN" dirty="0" err="1"/>
              <a:t>agg</a:t>
            </a:r>
            <a:r>
              <a:rPr lang="en-US" altLang="zh-CN" dirty="0"/>
              <a:t>()</a:t>
            </a:r>
            <a:r>
              <a:rPr lang="zh-CN" altLang="en-US" dirty="0"/>
              <a:t>链式表达式的统计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2472839"/>
            <a:ext cx="96814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# </a:t>
            </a:r>
            <a:r>
              <a:rPr lang="en-US" altLang="zh-CN" sz="2800" dirty="0" err="1"/>
              <a:t>groupby</a:t>
            </a:r>
            <a:r>
              <a:rPr lang="zh-CN" altLang="en-US" sz="2800" dirty="0"/>
              <a:t>， </a:t>
            </a:r>
            <a:r>
              <a:rPr lang="en-US" altLang="zh-CN" sz="2800" dirty="0" err="1"/>
              <a:t>agg</a:t>
            </a:r>
            <a:r>
              <a:rPr lang="en-US" altLang="zh-CN" sz="2800" dirty="0"/>
              <a:t> </a:t>
            </a:r>
            <a:r>
              <a:rPr lang="zh-CN" altLang="en-US" sz="2800" dirty="0"/>
              <a:t>统计各州售卖的二手摩托数量及平均价格</a:t>
            </a:r>
          </a:p>
          <a:p>
            <a:r>
              <a:rPr lang="en-US" altLang="zh-CN" sz="2800" dirty="0" err="1"/>
              <a:t>df_motor_st_count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df.groupby</a:t>
            </a:r>
            <a:r>
              <a:rPr lang="en-US" altLang="zh-CN" sz="2800" dirty="0"/>
              <a:t>(by=['state'])[['</a:t>
            </a:r>
            <a:r>
              <a:rPr lang="en-US" altLang="zh-CN" sz="2800" dirty="0" err="1"/>
              <a:t>Price','state</a:t>
            </a:r>
            <a:r>
              <a:rPr lang="en-US" altLang="zh-CN" sz="2800" dirty="0"/>
              <a:t>']].</a:t>
            </a:r>
            <a:r>
              <a:rPr lang="en-US" altLang="zh-CN" sz="2800" dirty="0" err="1"/>
              <a:t>agg</a:t>
            </a:r>
            <a:r>
              <a:rPr lang="en-US" altLang="zh-CN" sz="2800" dirty="0"/>
              <a:t>(</a:t>
            </a:r>
          </a:p>
          <a:p>
            <a:r>
              <a:rPr lang="en-US" altLang="zh-CN" sz="2800" dirty="0"/>
              <a:t>						{'</a:t>
            </a:r>
            <a:r>
              <a:rPr lang="en-US" altLang="zh-CN" sz="2800" dirty="0" err="1"/>
              <a:t>Price':’mean’,'state':'count</a:t>
            </a:r>
            <a:r>
              <a:rPr lang="en-US" altLang="zh-CN" sz="2800" dirty="0"/>
              <a:t>'})</a:t>
            </a:r>
          </a:p>
          <a:p>
            <a:r>
              <a:rPr lang="en-US" altLang="zh-CN" sz="2800" dirty="0" err="1"/>
              <a:t>df_motor_st_count.rename</a:t>
            </a:r>
            <a:r>
              <a:rPr lang="en-US" altLang="zh-CN" sz="2800" dirty="0"/>
              <a:t>(columns={'</a:t>
            </a:r>
            <a:r>
              <a:rPr lang="en-US" altLang="zh-CN" sz="2800" dirty="0" err="1"/>
              <a:t>state':'motors</a:t>
            </a:r>
            <a:r>
              <a:rPr lang="en-US" altLang="zh-CN" sz="2800" dirty="0"/>
              <a:t>'},</a:t>
            </a:r>
          </a:p>
          <a:p>
            <a:r>
              <a:rPr lang="en-US" altLang="zh-CN" sz="2800" dirty="0"/>
              <a:t>				 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</a:p>
          <a:p>
            <a:r>
              <a:rPr lang="en-US" altLang="zh-CN" sz="2800" dirty="0" err="1"/>
              <a:t>df_motor_st_count.reset_index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644932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数据透视表</a:t>
            </a:r>
            <a:r>
              <a:rPr lang="en-US" altLang="zh-CN" dirty="0" err="1"/>
              <a:t>pivot_table</a:t>
            </a:r>
            <a:r>
              <a:rPr lang="zh-CN" altLang="en-US" dirty="0"/>
              <a:t>对</a:t>
            </a:r>
            <a:r>
              <a:rPr lang="en-US" altLang="zh-CN" dirty="0"/>
              <a:t>’state’</a:t>
            </a:r>
            <a:r>
              <a:rPr lang="zh-CN" altLang="en-US" dirty="0"/>
              <a:t>列统计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Pivot_table</a:t>
            </a:r>
            <a:r>
              <a:rPr lang="zh-CN" altLang="en-US" dirty="0"/>
              <a:t>参数：</a:t>
            </a:r>
            <a:endParaRPr lang="en-US" altLang="zh-CN" dirty="0"/>
          </a:p>
          <a:p>
            <a:r>
              <a:rPr lang="en-US" altLang="zh-CN" dirty="0"/>
              <a:t>index</a:t>
            </a:r>
            <a:r>
              <a:rPr lang="zh-CN" altLang="en-US" dirty="0"/>
              <a:t>设定透视表的行；不可省略</a:t>
            </a:r>
            <a:endParaRPr lang="en-US" altLang="zh-CN" dirty="0"/>
          </a:p>
          <a:p>
            <a:r>
              <a:rPr lang="en-US" altLang="zh-CN" dirty="0"/>
              <a:t>values</a:t>
            </a:r>
            <a:r>
              <a:rPr lang="zh-CN" altLang="en-US" dirty="0"/>
              <a:t>设定透视表的值，如果不设定</a:t>
            </a:r>
            <a:r>
              <a:rPr lang="en-US" altLang="zh-CN" dirty="0"/>
              <a:t>values</a:t>
            </a:r>
            <a:r>
              <a:rPr lang="zh-CN" altLang="en-US" dirty="0"/>
              <a:t>，则计算各个列的均值；</a:t>
            </a:r>
            <a:endParaRPr lang="en-US" altLang="zh-CN" dirty="0"/>
          </a:p>
          <a:p>
            <a:r>
              <a:rPr lang="en-US" altLang="zh-CN" dirty="0"/>
              <a:t>Columns</a:t>
            </a:r>
            <a:r>
              <a:rPr lang="zh-CN" altLang="en-US" dirty="0"/>
              <a:t>设定列，可以省略</a:t>
            </a:r>
            <a:endParaRPr lang="en-US" altLang="zh-CN" dirty="0"/>
          </a:p>
          <a:p>
            <a:r>
              <a:rPr lang="en-US" altLang="zh-CN" dirty="0" err="1"/>
              <a:t>Aggfunc</a:t>
            </a:r>
            <a:r>
              <a:rPr lang="en-US" altLang="zh-CN" dirty="0"/>
              <a:t> </a:t>
            </a:r>
            <a:r>
              <a:rPr lang="zh-CN" altLang="en-US" dirty="0"/>
              <a:t>设定值计算方法，默认</a:t>
            </a:r>
            <a:r>
              <a:rPr lang="en-US" altLang="zh-CN" dirty="0"/>
              <a:t>mean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4318121"/>
            <a:ext cx="1064265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df_motor_st_count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df.pivot_table</a:t>
            </a:r>
            <a:r>
              <a:rPr lang="en-US" altLang="zh-CN" sz="2800" dirty="0"/>
              <a:t>(index='state',</a:t>
            </a:r>
          </a:p>
          <a:p>
            <a:r>
              <a:rPr lang="en-US" altLang="zh-CN" sz="2800" dirty="0"/>
              <a:t>                                       values=['Price'] ,</a:t>
            </a:r>
          </a:p>
          <a:p>
            <a:r>
              <a:rPr lang="en-US" altLang="zh-CN" sz="2800" dirty="0"/>
              <a:t>                                       </a:t>
            </a:r>
            <a:r>
              <a:rPr lang="en-US" altLang="zh-CN" sz="2800" dirty="0" err="1"/>
              <a:t>aggfunc</a:t>
            </a:r>
            <a:r>
              <a:rPr lang="en-US" altLang="zh-CN" sz="2800" dirty="0"/>
              <a:t>={'</a:t>
            </a:r>
            <a:r>
              <a:rPr lang="en-US" altLang="zh-CN" sz="2800" dirty="0" err="1"/>
              <a:t>Price':'mean','state':'count</a:t>
            </a:r>
            <a:r>
              <a:rPr lang="en-US" altLang="zh-CN" sz="2800" dirty="0"/>
              <a:t>'})</a:t>
            </a:r>
          </a:p>
          <a:p>
            <a:r>
              <a:rPr lang="en-US" altLang="zh-CN" sz="2800" dirty="0" err="1"/>
              <a:t>df_motor_st_count.rename</a:t>
            </a:r>
            <a:r>
              <a:rPr lang="en-US" altLang="zh-CN" sz="2800" dirty="0"/>
              <a:t>(columns={'</a:t>
            </a:r>
            <a:r>
              <a:rPr lang="en-US" altLang="zh-CN" sz="2800" dirty="0" err="1"/>
              <a:t>state':'motors</a:t>
            </a:r>
            <a:r>
              <a:rPr lang="en-US" altLang="zh-CN" sz="2800" dirty="0"/>
              <a:t>'}, 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</a:p>
          <a:p>
            <a:r>
              <a:rPr lang="en-US" altLang="zh-CN" sz="2800" dirty="0" err="1"/>
              <a:t>df_motor_st_count.reset_index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088233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数据可视化</a:t>
            </a:r>
            <a:r>
              <a:rPr lang="en-US" altLang="zh-CN" dirty="0"/>
              <a:t>-</a:t>
            </a:r>
            <a:r>
              <a:rPr lang="zh-CN" altLang="en-US" dirty="0"/>
              <a:t>常见</a:t>
            </a:r>
            <a:r>
              <a:rPr lang="en-US" altLang="zh-CN" dirty="0"/>
              <a:t>Python</a:t>
            </a:r>
            <a:r>
              <a:rPr lang="zh-CN" altLang="en-US" dirty="0"/>
              <a:t>可视化工具包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Matplotlib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 err="1"/>
              <a:t>Seaborn</a:t>
            </a:r>
            <a:r>
              <a:rPr lang="zh-CN" altLang="en-US" dirty="0"/>
              <a:t>、</a:t>
            </a:r>
            <a:r>
              <a:rPr lang="en-US" altLang="zh-CN" dirty="0"/>
              <a:t>pandas</a:t>
            </a:r>
            <a:r>
              <a:rPr lang="zh-CN" altLang="en-US" dirty="0"/>
              <a:t>可视化包：底层采用</a:t>
            </a:r>
            <a:r>
              <a:rPr lang="en-US" altLang="zh-CN" dirty="0" err="1"/>
              <a:t>matplotlib</a:t>
            </a:r>
            <a:endParaRPr lang="en-US" altLang="zh-CN" dirty="0"/>
          </a:p>
          <a:p>
            <a:r>
              <a:rPr lang="en-US" altLang="zh-CN" dirty="0" err="1"/>
              <a:t>Bokeh</a:t>
            </a:r>
            <a:r>
              <a:rPr lang="zh-CN" altLang="en-US" dirty="0"/>
              <a:t>可视化包</a:t>
            </a:r>
            <a:r>
              <a:rPr lang="en-US" altLang="zh-CN" dirty="0"/>
              <a:t>(https://docs.bokeh.org/en/latest/index.html)</a:t>
            </a:r>
          </a:p>
          <a:p>
            <a:r>
              <a:rPr lang="en-US" altLang="zh-CN" dirty="0" err="1"/>
              <a:t>Plotly</a:t>
            </a:r>
            <a:r>
              <a:rPr lang="zh-CN" altLang="en-US" dirty="0"/>
              <a:t>可视化包</a:t>
            </a:r>
            <a:r>
              <a:rPr lang="en-US" altLang="zh-CN" dirty="0"/>
              <a:t>(https://plotly.com/python/)</a:t>
            </a:r>
          </a:p>
          <a:p>
            <a:r>
              <a:rPr lang="en-US" altLang="zh-CN" dirty="0" err="1"/>
              <a:t>Pyecharts</a:t>
            </a:r>
            <a:r>
              <a:rPr lang="en-US" altLang="zh-CN" dirty="0"/>
              <a:t> </a:t>
            </a:r>
            <a:r>
              <a:rPr lang="zh-CN" altLang="en-US" dirty="0"/>
              <a:t>（百度）可视化包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8" y="4214951"/>
            <a:ext cx="3415145" cy="8196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33" y="4015076"/>
            <a:ext cx="7705067" cy="20969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8606" y="3060989"/>
            <a:ext cx="2857500" cy="819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18" y="5058975"/>
            <a:ext cx="3093461" cy="88718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09" y="6074912"/>
            <a:ext cx="5530018" cy="60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979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数据可视化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766" y="909711"/>
            <a:ext cx="4413775" cy="5860473"/>
          </a:xfrm>
        </p:spPr>
      </p:pic>
      <p:sp>
        <p:nvSpPr>
          <p:cNvPr id="5" name="文本框 4"/>
          <p:cNvSpPr txBox="1"/>
          <p:nvPr/>
        </p:nvSpPr>
        <p:spPr>
          <a:xfrm>
            <a:off x="7264101" y="4459100"/>
            <a:ext cx="461665" cy="216982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科学技术发展时间线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02" y="1359626"/>
            <a:ext cx="6219033" cy="54105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935" y="1012666"/>
            <a:ext cx="47529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613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5534"/>
            <a:ext cx="10857143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724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 err="1"/>
              <a:t>seaborn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matplotlib</a:t>
            </a:r>
            <a:r>
              <a:rPr lang="zh-CN" altLang="en-US" dirty="0"/>
              <a:t>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 err="1"/>
              <a:t>seaborn</a:t>
            </a:r>
            <a:r>
              <a:rPr lang="zh-CN" altLang="en-US" dirty="0"/>
              <a:t>底层使用的是</a:t>
            </a:r>
            <a:r>
              <a:rPr lang="en-US" altLang="zh-CN" dirty="0" err="1"/>
              <a:t>matplotlib</a:t>
            </a:r>
            <a:r>
              <a:rPr lang="zh-CN" altLang="en-US" dirty="0"/>
              <a:t>，因此，这三类包可以混用，底层的概念与</a:t>
            </a:r>
            <a:r>
              <a:rPr lang="en-US" altLang="zh-CN" dirty="0" err="1"/>
              <a:t>matplotlib</a:t>
            </a:r>
            <a:r>
              <a:rPr lang="en-US" altLang="zh-CN" dirty="0"/>
              <a:t> </a:t>
            </a:r>
            <a:r>
              <a:rPr lang="zh-CN" altLang="en-US" dirty="0"/>
              <a:t>一致</a:t>
            </a:r>
            <a:endParaRPr lang="en-US" altLang="zh-CN" dirty="0"/>
          </a:p>
          <a:p>
            <a:r>
              <a:rPr lang="en-US" altLang="zh-CN" dirty="0" err="1"/>
              <a:t>Pandas.plot</a:t>
            </a:r>
            <a:r>
              <a:rPr lang="zh-CN" altLang="en-US" dirty="0"/>
              <a:t>（）可以调用绘图函数，实现可视化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90954" y="3295051"/>
            <a:ext cx="4196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import </a:t>
            </a:r>
            <a:r>
              <a:rPr lang="en-US" altLang="zh-CN" sz="2400" dirty="0" err="1"/>
              <a:t>matplotlib.pyplot</a:t>
            </a:r>
            <a:r>
              <a:rPr lang="en-US" altLang="zh-CN" sz="2400" dirty="0"/>
              <a:t> as </a:t>
            </a:r>
            <a:r>
              <a:rPr lang="en-US" altLang="zh-CN" sz="2400" dirty="0" err="1"/>
              <a:t>plt</a:t>
            </a:r>
            <a:endParaRPr lang="en-US" altLang="zh-CN" sz="2400" dirty="0"/>
          </a:p>
          <a:p>
            <a:r>
              <a:rPr lang="en-US" altLang="zh-CN" sz="2400" dirty="0"/>
              <a:t>import pandas as </a:t>
            </a:r>
            <a:r>
              <a:rPr lang="en-US" altLang="zh-CN" sz="2400" dirty="0" err="1"/>
              <a:t>pd</a:t>
            </a:r>
            <a:endParaRPr lang="en-US" altLang="zh-CN" sz="2400" dirty="0"/>
          </a:p>
          <a:p>
            <a:r>
              <a:rPr lang="en-US" altLang="zh-CN" sz="2400" dirty="0"/>
              <a:t>%</a:t>
            </a:r>
            <a:r>
              <a:rPr lang="en-US" altLang="zh-CN" sz="2400" dirty="0" err="1"/>
              <a:t>matplotlib</a:t>
            </a:r>
            <a:r>
              <a:rPr lang="en-US" altLang="zh-CN" sz="2400" dirty="0"/>
              <a:t> inline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87930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设置中文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8534"/>
            <a:ext cx="10515600" cy="4351338"/>
          </a:xfrm>
        </p:spPr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font_manager</a:t>
            </a:r>
            <a:r>
              <a:rPr lang="zh-CN" altLang="en-US" dirty="0"/>
              <a:t>，</a:t>
            </a:r>
            <a:r>
              <a:rPr lang="en-US" altLang="zh-CN" dirty="0" err="1"/>
              <a:t>Matplotlib</a:t>
            </a:r>
            <a:r>
              <a:rPr lang="zh-CN" altLang="en-US" dirty="0"/>
              <a:t>字体管理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 err="1"/>
              <a:t>Matplotlib</a:t>
            </a:r>
            <a:r>
              <a:rPr lang="zh-CN" altLang="en-US" dirty="0"/>
              <a:t>字库是自有字库，不使用操作系统字库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from </a:t>
            </a:r>
            <a:r>
              <a:rPr lang="en-US" altLang="zh-CN" dirty="0" err="1"/>
              <a:t>matplotlib</a:t>
            </a:r>
            <a:r>
              <a:rPr lang="en-US" altLang="zh-CN" dirty="0"/>
              <a:t> import </a:t>
            </a:r>
            <a:r>
              <a:rPr lang="en-US" altLang="zh-CN" dirty="0" err="1"/>
              <a:t>font_manager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302325" y="3324427"/>
            <a:ext cx="9365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import </a:t>
            </a:r>
            <a:r>
              <a:rPr lang="en-US" altLang="zh-CN" sz="2400" dirty="0" err="1"/>
              <a:t>matplotlib.pyplot</a:t>
            </a:r>
            <a:r>
              <a:rPr lang="en-US" altLang="zh-CN" sz="2400" dirty="0"/>
              <a:t> as </a:t>
            </a:r>
            <a:r>
              <a:rPr lang="en-US" altLang="zh-CN" sz="2400" dirty="0" err="1"/>
              <a:t>plt</a:t>
            </a:r>
            <a:endParaRPr lang="en-US" altLang="zh-CN" sz="2400" dirty="0"/>
          </a:p>
          <a:p>
            <a:r>
              <a:rPr lang="en-US" altLang="zh-CN" sz="2400" dirty="0"/>
              <a:t>from </a:t>
            </a:r>
            <a:r>
              <a:rPr lang="en-US" altLang="zh-CN" sz="2400" dirty="0" err="1"/>
              <a:t>matplotlib</a:t>
            </a:r>
            <a:r>
              <a:rPr lang="en-US" altLang="zh-CN" sz="2400" dirty="0"/>
              <a:t> import </a:t>
            </a:r>
            <a:r>
              <a:rPr lang="en-US" altLang="zh-CN" sz="2400" dirty="0" err="1"/>
              <a:t>font_manager</a:t>
            </a:r>
            <a:endParaRPr lang="en-US" altLang="zh-CN" sz="2400" dirty="0"/>
          </a:p>
          <a:p>
            <a:r>
              <a:rPr lang="en-US" altLang="zh-CN" sz="2400" dirty="0"/>
              <a:t>import pandas as </a:t>
            </a:r>
            <a:r>
              <a:rPr lang="en-US" altLang="zh-CN" sz="2400" dirty="0" err="1"/>
              <a:t>pd</a:t>
            </a:r>
            <a:endParaRPr lang="en-US" altLang="zh-CN" sz="2400" dirty="0"/>
          </a:p>
          <a:p>
            <a:r>
              <a:rPr lang="en-US" altLang="zh-CN" sz="2400" dirty="0"/>
              <a:t>%</a:t>
            </a:r>
            <a:r>
              <a:rPr lang="en-US" altLang="zh-CN" sz="2400" dirty="0" err="1"/>
              <a:t>matplotlib</a:t>
            </a:r>
            <a:r>
              <a:rPr lang="en-US" altLang="zh-CN" sz="2400" dirty="0"/>
              <a:t> inline</a:t>
            </a:r>
          </a:p>
          <a:p>
            <a:r>
              <a:rPr lang="en-US" altLang="zh-CN" sz="2400" dirty="0"/>
              <a:t>%</a:t>
            </a:r>
            <a:r>
              <a:rPr lang="en-US" altLang="zh-CN" sz="2400" dirty="0" err="1"/>
              <a:t>config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InlineBackend.figure_format</a:t>
            </a:r>
            <a:r>
              <a:rPr lang="en-US" altLang="zh-CN" sz="2400" dirty="0"/>
              <a:t>=‘</a:t>
            </a:r>
            <a:r>
              <a:rPr lang="en-US" altLang="zh-CN" sz="2400" dirty="0" err="1"/>
              <a:t>svg</a:t>
            </a:r>
            <a:r>
              <a:rPr lang="en-US" altLang="zh-CN" sz="2400" dirty="0"/>
              <a:t>‘ #</a:t>
            </a:r>
            <a:r>
              <a:rPr lang="en-US" altLang="zh-CN" sz="2400" dirty="0" err="1"/>
              <a:t>jupyter</a:t>
            </a:r>
            <a:r>
              <a:rPr lang="zh-CN" altLang="en-US" sz="2400" dirty="0"/>
              <a:t>用</a:t>
            </a:r>
            <a:r>
              <a:rPr lang="en-US" altLang="zh-CN" sz="2400" dirty="0" err="1"/>
              <a:t>svg</a:t>
            </a:r>
            <a:r>
              <a:rPr lang="zh-CN" altLang="en-US" sz="2400" dirty="0"/>
              <a:t>格式显示图形</a:t>
            </a:r>
          </a:p>
        </p:txBody>
      </p:sp>
    </p:spTree>
    <p:extLst>
      <p:ext uri="{BB962C8B-B14F-4D97-AF65-F5344CB8AC3E}">
        <p14:creationId xmlns:p14="http://schemas.microsoft.com/office/powerpoint/2010/main" val="38783496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设置中文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47860" cy="435133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font_manager.fontManager.ttflist</a:t>
            </a:r>
            <a:r>
              <a:rPr lang="en-US" altLang="zh-CN" dirty="0"/>
              <a:t> </a:t>
            </a:r>
            <a:r>
              <a:rPr lang="zh-CN" altLang="en-US" dirty="0"/>
              <a:t>显示当前可使用字体，找到中文字体，如</a:t>
            </a:r>
            <a:r>
              <a:rPr lang="en-US" altLang="zh-CN" dirty="0"/>
              <a:t>’</a:t>
            </a:r>
            <a:r>
              <a:rPr lang="en-US" altLang="zh-CN" dirty="0" err="1"/>
              <a:t>STSong</a:t>
            </a:r>
            <a:r>
              <a:rPr lang="en-US" altLang="zh-CN" dirty="0"/>
              <a:t>’</a:t>
            </a:r>
          </a:p>
          <a:p>
            <a:r>
              <a:rPr lang="en-US" altLang="zh-CN" dirty="0" err="1"/>
              <a:t>plt.rcParams</a:t>
            </a:r>
            <a:r>
              <a:rPr lang="en-US" altLang="zh-CN" dirty="0"/>
              <a:t> </a:t>
            </a:r>
            <a:r>
              <a:rPr lang="zh-CN" altLang="en-US" dirty="0"/>
              <a:t>为字典，可以查看</a:t>
            </a:r>
            <a:r>
              <a:rPr lang="en-US" altLang="zh-CN" dirty="0" err="1"/>
              <a:t>matplotlib</a:t>
            </a:r>
            <a:r>
              <a:rPr lang="zh-CN" altLang="en-US" dirty="0"/>
              <a:t>的参数</a:t>
            </a:r>
            <a:endParaRPr lang="en-US" altLang="zh-CN" dirty="0"/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[‘</a:t>
            </a:r>
            <a:r>
              <a:rPr lang="en-US" altLang="zh-CN" dirty="0" err="1"/>
              <a:t>font.sans</a:t>
            </a:r>
            <a:r>
              <a:rPr lang="en-US" altLang="zh-CN" dirty="0"/>
              <a:t>-serif’]=‘</a:t>
            </a:r>
            <a:r>
              <a:rPr lang="en-US" altLang="zh-CN" dirty="0" err="1"/>
              <a:t>STSong</a:t>
            </a:r>
            <a:r>
              <a:rPr lang="en-US" altLang="zh-CN" dirty="0"/>
              <a:t>‘ # </a:t>
            </a:r>
            <a:r>
              <a:rPr lang="zh-CN" altLang="en-US" dirty="0"/>
              <a:t>设置宋体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49587" y="5092212"/>
            <a:ext cx="8672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display(</a:t>
            </a:r>
            <a:r>
              <a:rPr lang="en-US" altLang="zh-CN" sz="3200" dirty="0" err="1"/>
              <a:t>font_manager.fontManager.ttflist</a:t>
            </a:r>
            <a:r>
              <a:rPr lang="en-US" altLang="zh-CN" sz="3200" dirty="0"/>
              <a:t>)</a:t>
            </a:r>
          </a:p>
          <a:p>
            <a:endParaRPr lang="en-US" altLang="zh-CN" sz="3200" dirty="0"/>
          </a:p>
          <a:p>
            <a:r>
              <a:rPr lang="en-US" altLang="zh-CN" sz="3200" dirty="0" err="1"/>
              <a:t>plt.rcParams</a:t>
            </a:r>
            <a:r>
              <a:rPr lang="en-US" altLang="zh-CN" sz="3200" dirty="0"/>
              <a:t>['</a:t>
            </a:r>
            <a:r>
              <a:rPr lang="en-US" altLang="zh-CN" sz="3200" dirty="0" err="1"/>
              <a:t>font.sans</a:t>
            </a:r>
            <a:r>
              <a:rPr lang="en-US" altLang="zh-CN" sz="3200" dirty="0"/>
              <a:t>-serif']='</a:t>
            </a:r>
            <a:r>
              <a:rPr lang="en-US" altLang="zh-CN" sz="3200" dirty="0" err="1"/>
              <a:t>STSong</a:t>
            </a:r>
            <a:r>
              <a:rPr lang="en-US" altLang="zh-CN" sz="3200" dirty="0"/>
              <a:t>'</a:t>
            </a: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2089" r="20337"/>
          <a:stretch/>
        </p:blipFill>
        <p:spPr>
          <a:xfrm>
            <a:off x="5586060" y="365125"/>
            <a:ext cx="6024050" cy="221932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50" y="2863199"/>
            <a:ext cx="4285714" cy="227619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5306291" y="3394363"/>
            <a:ext cx="223058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306291" y="1969433"/>
            <a:ext cx="1115291" cy="4551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2401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Pandas</a:t>
            </a:r>
            <a:r>
              <a:rPr lang="zh-CN" altLang="en-US" dirty="0"/>
              <a:t>数据可视化</a:t>
            </a:r>
            <a:r>
              <a:rPr lang="en-US" altLang="zh-CN" dirty="0"/>
              <a:t>-</a:t>
            </a:r>
            <a:r>
              <a:rPr lang="zh-CN" altLang="en-US" dirty="0"/>
              <a:t>散点图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df.plot.scatter</a:t>
            </a:r>
            <a:r>
              <a:rPr lang="en-US" altLang="zh-CN" dirty="0"/>
              <a:t>(x= ‘x</a:t>
            </a:r>
            <a:r>
              <a:rPr lang="zh-CN" altLang="en-US" dirty="0"/>
              <a:t>轴数据列</a:t>
            </a:r>
            <a:r>
              <a:rPr lang="en-US" altLang="zh-CN" dirty="0"/>
              <a:t>’, y = ‘y</a:t>
            </a:r>
            <a:r>
              <a:rPr lang="zh-CN" altLang="en-US" dirty="0"/>
              <a:t>轴数据列</a:t>
            </a:r>
            <a:r>
              <a:rPr lang="en-US" altLang="zh-CN" dirty="0"/>
              <a:t>’)</a:t>
            </a:r>
          </a:p>
          <a:p>
            <a:r>
              <a:rPr lang="en-US" altLang="zh-CN" dirty="0" err="1"/>
              <a:t>Pandas.plot</a:t>
            </a:r>
            <a:r>
              <a:rPr lang="zh-CN" altLang="en-US" dirty="0"/>
              <a:t>底层使用</a:t>
            </a:r>
            <a:r>
              <a:rPr lang="en-US" altLang="zh-CN" dirty="0" err="1"/>
              <a:t>matplotlib</a:t>
            </a:r>
            <a:r>
              <a:rPr lang="zh-CN" altLang="en-US" dirty="0"/>
              <a:t>，因此可以使用</a:t>
            </a:r>
            <a:r>
              <a:rPr lang="en-US" altLang="zh-CN" dirty="0" err="1"/>
              <a:t>matplotlib</a:t>
            </a:r>
            <a:r>
              <a:rPr lang="zh-CN" altLang="en-US" dirty="0"/>
              <a:t>函数设置图的参数，如</a:t>
            </a:r>
            <a:r>
              <a:rPr lang="en-US" altLang="zh-CN" dirty="0" err="1"/>
              <a:t>xlabel</a:t>
            </a:r>
            <a:r>
              <a:rPr lang="zh-CN" altLang="en-US" dirty="0"/>
              <a:t>设置</a:t>
            </a:r>
            <a:r>
              <a:rPr lang="en-US" altLang="zh-CN" dirty="0"/>
              <a:t>x</a:t>
            </a:r>
            <a:r>
              <a:rPr lang="zh-CN" altLang="en-US" dirty="0"/>
              <a:t>轴标签</a:t>
            </a:r>
            <a:endParaRPr lang="en-US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(“x</a:t>
            </a:r>
            <a:r>
              <a:rPr lang="zh-CN" altLang="en-US" dirty="0"/>
              <a:t>轴标签”）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3930194"/>
            <a:ext cx="5791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from </a:t>
            </a:r>
            <a:r>
              <a:rPr lang="en-US" altLang="zh-CN" sz="2800" dirty="0" err="1"/>
              <a:t>datastat</a:t>
            </a:r>
            <a:r>
              <a:rPr lang="en-US" altLang="zh-CN" sz="2800" dirty="0"/>
              <a:t> import </a:t>
            </a:r>
            <a:r>
              <a:rPr lang="en-US" altLang="zh-CN" sz="2800" dirty="0" err="1"/>
              <a:t>motorSaleStat</a:t>
            </a:r>
            <a:endParaRPr lang="en-US" altLang="zh-CN" sz="2800" dirty="0"/>
          </a:p>
          <a:p>
            <a:r>
              <a:rPr lang="en-US" altLang="zh-CN" sz="2800" dirty="0" err="1"/>
              <a:t>df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motorSaleStat</a:t>
            </a:r>
            <a:r>
              <a:rPr lang="en-US" altLang="zh-CN" sz="2800" dirty="0"/>
              <a:t>()</a:t>
            </a:r>
          </a:p>
          <a:p>
            <a:r>
              <a:rPr lang="en-US" altLang="zh-CN" sz="2800" dirty="0" err="1"/>
              <a:t>df.plot.scatter</a:t>
            </a:r>
            <a:r>
              <a:rPr lang="en-US" altLang="zh-CN" sz="2800" dirty="0"/>
              <a:t>(x='motors', y='Price')</a:t>
            </a:r>
          </a:p>
          <a:p>
            <a:r>
              <a:rPr lang="en-US" altLang="zh-CN" sz="2800" dirty="0" err="1"/>
              <a:t>plt.xlabel</a:t>
            </a:r>
            <a:r>
              <a:rPr lang="en-US" altLang="zh-CN" sz="2800" dirty="0"/>
              <a:t>("</a:t>
            </a:r>
            <a:r>
              <a:rPr lang="zh-CN" altLang="en-US" sz="2800" dirty="0"/>
              <a:t>售卖数</a:t>
            </a:r>
            <a:r>
              <a:rPr lang="en-US" altLang="zh-CN" sz="2800" dirty="0"/>
              <a:t>")</a:t>
            </a:r>
          </a:p>
          <a:p>
            <a:r>
              <a:rPr lang="en-US" altLang="zh-CN" sz="2800" dirty="0" err="1"/>
              <a:t>plt.ylabel</a:t>
            </a:r>
            <a:r>
              <a:rPr lang="en-US" altLang="zh-CN" sz="2800" dirty="0"/>
              <a:t>("</a:t>
            </a:r>
            <a:r>
              <a:rPr lang="zh-CN" altLang="en-US" sz="2800" dirty="0"/>
              <a:t>价格（美元）</a:t>
            </a:r>
            <a:r>
              <a:rPr lang="en-US" altLang="zh-CN" sz="2800" dirty="0"/>
              <a:t>")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630" y="3172691"/>
            <a:ext cx="4666913" cy="324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85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Pandas</a:t>
            </a:r>
            <a:r>
              <a:rPr lang="zh-CN" altLang="en-US" dirty="0"/>
              <a:t>数据可视化</a:t>
            </a:r>
            <a:r>
              <a:rPr lang="en-US" altLang="zh-CN" dirty="0"/>
              <a:t>-</a:t>
            </a:r>
            <a:r>
              <a:rPr lang="zh-CN" altLang="en-US" dirty="0"/>
              <a:t>直方图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Dataframe.plot.hist</a:t>
            </a:r>
            <a:r>
              <a:rPr lang="en-US" altLang="zh-CN" dirty="0"/>
              <a:t>(bins=</a:t>
            </a:r>
            <a:r>
              <a:rPr lang="zh-CN" altLang="en-US" dirty="0"/>
              <a:t>直方图分组数）绘制直方图</a:t>
            </a:r>
            <a:endParaRPr lang="en-US" altLang="zh-CN" dirty="0"/>
          </a:p>
          <a:p>
            <a:r>
              <a:rPr lang="en-US" altLang="zh-CN" dirty="0"/>
              <a:t>Bins</a:t>
            </a:r>
            <a:r>
              <a:rPr lang="zh-CN" altLang="en-US" dirty="0"/>
              <a:t>设置</a:t>
            </a:r>
            <a:r>
              <a:rPr lang="en-US" altLang="zh-CN" dirty="0"/>
              <a:t>10~20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75088" y="2478143"/>
            <a:ext cx="43685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df</a:t>
            </a:r>
            <a:r>
              <a:rPr lang="en-US" altLang="zh-CN" sz="2800" dirty="0"/>
              <a:t>['Price'].</a:t>
            </a:r>
            <a:r>
              <a:rPr lang="en-US" altLang="zh-CN" sz="2800" dirty="0" err="1"/>
              <a:t>plot.hist</a:t>
            </a:r>
            <a:r>
              <a:rPr lang="en-US" altLang="zh-CN" sz="2800" dirty="0"/>
              <a:t>(bins=15)</a:t>
            </a:r>
          </a:p>
          <a:p>
            <a:r>
              <a:rPr lang="en-US" altLang="zh-CN" sz="2800" dirty="0" err="1"/>
              <a:t>plt.xlabel</a:t>
            </a:r>
            <a:r>
              <a:rPr lang="en-US" altLang="zh-CN" sz="2800" dirty="0"/>
              <a:t>('</a:t>
            </a:r>
            <a:r>
              <a:rPr lang="zh-CN" altLang="en-US" sz="2800" dirty="0"/>
              <a:t>价格</a:t>
            </a:r>
            <a:r>
              <a:rPr lang="en-US" altLang="zh-CN" sz="2800" dirty="0"/>
              <a:t>')</a:t>
            </a:r>
          </a:p>
          <a:p>
            <a:r>
              <a:rPr lang="en-US" altLang="zh-CN" sz="2800" dirty="0" err="1"/>
              <a:t>plt.ylabel</a:t>
            </a:r>
            <a:r>
              <a:rPr lang="en-US" altLang="zh-CN" sz="2800" dirty="0"/>
              <a:t>('</a:t>
            </a:r>
            <a:r>
              <a:rPr lang="zh-CN" altLang="en-US" sz="2800" dirty="0"/>
              <a:t>频次</a:t>
            </a:r>
            <a:r>
              <a:rPr lang="en-US" altLang="zh-CN" sz="2800" dirty="0"/>
              <a:t>')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411" y="1844984"/>
            <a:ext cx="6493078" cy="43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438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图结构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69873" cy="4351338"/>
          </a:xfrm>
        </p:spPr>
        <p:txBody>
          <a:bodyPr/>
          <a:lstStyle/>
          <a:p>
            <a:r>
              <a:rPr lang="en-US" altLang="zh-CN" dirty="0"/>
              <a:t>Figure</a:t>
            </a:r>
            <a:r>
              <a:rPr lang="zh-CN" altLang="en-US" dirty="0"/>
              <a:t>为整个图</a:t>
            </a:r>
            <a:endParaRPr lang="en-US" altLang="zh-CN" dirty="0"/>
          </a:p>
          <a:p>
            <a:r>
              <a:rPr lang="en-US" altLang="zh-CN" dirty="0"/>
              <a:t>Axes </a:t>
            </a:r>
            <a:r>
              <a:rPr lang="zh-CN" altLang="en-US" dirty="0"/>
              <a:t>具体的子图对象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当画子图时，需通过</a:t>
            </a:r>
            <a:r>
              <a:rPr lang="en-US" altLang="zh-CN" dirty="0"/>
              <a:t>Axes</a:t>
            </a:r>
            <a:r>
              <a:rPr lang="zh-CN" altLang="en-US" dirty="0"/>
              <a:t>指定子图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The Figure keeps track of all the child Axes</a:t>
            </a:r>
          </a:p>
          <a:p>
            <a:r>
              <a:rPr lang="en-US" altLang="zh-CN" dirty="0"/>
              <a:t>Axes</a:t>
            </a:r>
            <a:r>
              <a:rPr lang="zh-CN" altLang="en-US" dirty="0"/>
              <a:t>（子图）不是</a:t>
            </a:r>
            <a:r>
              <a:rPr lang="en-US" altLang="zh-CN" dirty="0"/>
              <a:t>Axis</a:t>
            </a:r>
            <a:r>
              <a:rPr lang="zh-CN" altLang="en-US" dirty="0"/>
              <a:t>（轴）</a:t>
            </a:r>
            <a:endParaRPr lang="en-US" altLang="zh-CN" dirty="0"/>
          </a:p>
          <a:p>
            <a:r>
              <a:rPr lang="zh-CN" altLang="en-US" dirty="0"/>
              <a:t>每个</a:t>
            </a:r>
            <a:r>
              <a:rPr lang="en-US" altLang="zh-CN" dirty="0"/>
              <a:t>Axes</a:t>
            </a:r>
            <a:r>
              <a:rPr lang="zh-CN" altLang="en-US" dirty="0"/>
              <a:t>有两个轴：</a:t>
            </a:r>
            <a:r>
              <a:rPr lang="en-US" altLang="zh-CN" dirty="0"/>
              <a:t>x Axis</a:t>
            </a:r>
            <a:r>
              <a:rPr lang="zh-CN" altLang="en-US" dirty="0"/>
              <a:t>与</a:t>
            </a:r>
            <a:r>
              <a:rPr lang="en-US" altLang="zh-CN" dirty="0"/>
              <a:t>y Axis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6" name="Picture 2" descr="../../_images/anatom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25"/>
            <a:ext cx="6048952" cy="604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096000" y="6414077"/>
            <a:ext cx="5275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https://matplotlib.org/stable/_images/anatomy.png</a:t>
            </a:r>
            <a:endParaRPr lang="zh-CN" altLang="en-US" dirty="0"/>
          </a:p>
          <a:p>
            <a:endParaRPr lang="zh-CN" altLang="en-US" dirty="0"/>
          </a:p>
        </p:txBody>
      </p:sp>
      <p:cxnSp>
        <p:nvCxnSpPr>
          <p:cNvPr id="8" name="肘形连接符 7"/>
          <p:cNvCxnSpPr/>
          <p:nvPr/>
        </p:nvCxnSpPr>
        <p:spPr>
          <a:xfrm flipV="1">
            <a:off x="3629891" y="720436"/>
            <a:ext cx="7723909" cy="1371600"/>
          </a:xfrm>
          <a:prstGeom prst="bentConnector3">
            <a:avLst>
              <a:gd name="adj1" fmla="val 18072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/>
          <p:nvPr/>
        </p:nvCxnSpPr>
        <p:spPr>
          <a:xfrm>
            <a:off x="4835236" y="2563092"/>
            <a:ext cx="4835237" cy="223058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0644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子图</a:t>
            </a:r>
            <a:r>
              <a:rPr lang="en-US" altLang="zh-CN" dirty="0"/>
              <a:t>subplots</a:t>
            </a:r>
            <a:r>
              <a:rPr lang="zh-CN" altLang="en-US" dirty="0"/>
              <a:t>与</a:t>
            </a:r>
            <a:r>
              <a:rPr lang="en-US" altLang="zh-CN" dirty="0"/>
              <a:t>axes</a:t>
            </a:r>
            <a:r>
              <a:rPr lang="zh-CN" altLang="en-US" dirty="0"/>
              <a:t>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702"/>
            <a:ext cx="6213764" cy="4351338"/>
          </a:xfrm>
        </p:spPr>
        <p:txBody>
          <a:bodyPr/>
          <a:lstStyle/>
          <a:p>
            <a:r>
              <a:rPr lang="en-US" altLang="zh-CN" dirty="0"/>
              <a:t>Axes</a:t>
            </a:r>
            <a:r>
              <a:rPr lang="zh-CN" altLang="en-US" dirty="0"/>
              <a:t>是控制子图的画笔</a:t>
            </a:r>
            <a:endParaRPr lang="en-US" altLang="zh-CN" dirty="0"/>
          </a:p>
          <a:p>
            <a:r>
              <a:rPr lang="en-US" altLang="zh-CN" dirty="0"/>
              <a:t>fig, </a:t>
            </a:r>
            <a:r>
              <a:rPr lang="en-US" altLang="zh-CN" dirty="0" err="1"/>
              <a:t>axs</a:t>
            </a:r>
            <a:r>
              <a:rPr lang="en-US" altLang="zh-CN" dirty="0"/>
              <a:t> = </a:t>
            </a:r>
            <a:r>
              <a:rPr lang="en-US" altLang="zh-CN" dirty="0" err="1"/>
              <a:t>plt.subplots</a:t>
            </a:r>
            <a:r>
              <a:rPr lang="en-US" altLang="zh-CN" dirty="0"/>
              <a:t>(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nrow</a:t>
            </a:r>
            <a:r>
              <a:rPr lang="en-US" altLang="zh-CN" dirty="0"/>
              <a:t>=</a:t>
            </a:r>
            <a:r>
              <a:rPr lang="zh-CN" altLang="en-US" dirty="0"/>
              <a:t>行数</a:t>
            </a:r>
            <a:r>
              <a:rPr lang="en-US" altLang="zh-CN" dirty="0"/>
              <a:t>,</a:t>
            </a:r>
          </a:p>
          <a:p>
            <a:pPr marL="0" indent="0">
              <a:buNone/>
            </a:pPr>
            <a:r>
              <a:rPr lang="en-US" altLang="zh-CN" dirty="0"/>
              <a:t> 		</a:t>
            </a:r>
            <a:r>
              <a:rPr lang="en-US" altLang="zh-CN" dirty="0" err="1"/>
              <a:t>ncol</a:t>
            </a:r>
            <a:r>
              <a:rPr lang="en-US" altLang="zh-CN" dirty="0"/>
              <a:t>=</a:t>
            </a:r>
            <a:r>
              <a:rPr lang="zh-CN" altLang="en-US" dirty="0"/>
              <a:t>列数</a:t>
            </a:r>
            <a:r>
              <a:rPr lang="en-US" altLang="zh-CN" dirty="0"/>
              <a:t>, 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figsize</a:t>
            </a:r>
            <a:r>
              <a:rPr lang="en-US" altLang="zh-CN" dirty="0"/>
              <a:t>=(</a:t>
            </a:r>
            <a:r>
              <a:rPr lang="zh-CN" altLang="en-US" dirty="0"/>
              <a:t>横向尺寸</a:t>
            </a:r>
            <a:r>
              <a:rPr lang="en-US" altLang="zh-CN" dirty="0"/>
              <a:t>/</a:t>
            </a:r>
            <a:r>
              <a:rPr lang="zh-CN" altLang="en-US" dirty="0"/>
              <a:t>英寸</a:t>
            </a:r>
            <a:r>
              <a:rPr lang="en-US" altLang="zh-CN" dirty="0"/>
              <a:t>, 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en-US" dirty="0"/>
              <a:t>纵向尺寸</a:t>
            </a:r>
            <a:r>
              <a:rPr lang="en-US" altLang="zh-CN" dirty="0"/>
              <a:t>/</a:t>
            </a:r>
            <a:r>
              <a:rPr lang="zh-CN" altLang="en-US" dirty="0"/>
              <a:t>英寸</a:t>
            </a:r>
            <a:r>
              <a:rPr lang="en-US" altLang="zh-CN" dirty="0"/>
              <a:t>))</a:t>
            </a:r>
            <a:endParaRPr lang="zh-CN" altLang="en-US" dirty="0"/>
          </a:p>
        </p:txBody>
      </p:sp>
      <p:sp>
        <p:nvSpPr>
          <p:cNvPr id="4" name="AutoShape 2" descr="data:image/svg+xml,%3C%3Fxml%20version%3D%221.0%22%20encoding%3D%22utf-8%22%20standalone%3D%22no%22%3F%3E%0D%0A%3C!DOCTYPE%20svg%20PUBLIC%20%22-%2F%2FW3C%2F%2FDTD%20SVG%201.1%2F%2FEN%22%0D%0A%20%20%22http%3A%2F%2Fwww.w3.org%2FGraphics%2FSVG%2F1.1%2FDTD%2Fsvg11.dtd%22%3E%0D%0A%3C!--%20Created%20with%20matplotlib%20(https%3A%2F%2Fmatplotlib.org%2F)%20--%3E%0D%0A%3Csvg%20height%3D%22383.939375pt%22%20version%3D%221.1%22%20viewBox%3D%220%200%20378.248438%20383.939375%22%20width%3D%22378.248438pt%22%20xmlns%3D%22http%3A%2F%2Fwww.w3.org%2F2000%2Fsvg%22%20xmlns%3Axlink%3D%22http%3A%2F%2Fwww.w3.org%2F1999%2Fxlink%22%3E%0D%0A%20%3Cdefs%3E%0D%0A%20%20%3Cstyle%20type%3D%22text%2Fcss%22%3E%0D%0A*%7Bstroke-linecap%3Abutt%3Bstroke-linejoin%3Around%3B%7D%0D%0A%20%20%3C%2Fstyle%3E%0D%0A%20%3C%2Fdefs%3E%0D%0A%20%3Cg%20id%3D%22figure_1%22%3E%0D%0A%20%20%3Cg%20id%3D%22patch_1%22%3E%0D%0A%20%20%20%3Cpath%20d%3D%22M%200%20383.939375%20%0D%0AL%20378.248438%20383.939375%20%0D%0AL%20378.248438%200%20%0D%0AL%200%200%20%0D%0Az%0D%0A%22%20style%3D%22fill%3Anone%3B%22%2F%3E%0D%0A%20%20%3C%2Fg%3E%0D%0A%20%20%3Cg%20id%3D%22axes_1%22%3E%0D%0A%20%20%20%3Cg%20id%3D%22patch_2%22%3E%0D%0A%20%20%20%20%3Cpath%20d%3D%22M%2030.4625%20117.049412%20%0D%0AL%20128.933088%20117.049412%20%0D%0AL%20128.933088%2021.12%20%0D%0AL%2030.4625%2021.12%20%0D%0Az%0D%0A%22%20style%3D%22fill%3A%23ddddff%3B%22%2F%3E%0D%0A%20%20%20%3C%2Fg%3E%0D%0A%20%20%20%3Cg%20id%3D%22matplotlib.axis_1%22%3E%0D%0A%20%20%20%20%3Cg%20id%3D%22xtick_1%22%3E%0D%0A%20%20%20%20%20%3Cg%20id%3D%22line2d_1%22%3E%0D%0A%20%20%20%20%20%20%3Cdefs%3E%0D%0A%20%20%20%20%20%20%20%3Cpath%20d%3D%22M%200%200%20%0D%0AL%200%203.5%20%0D%0A%22%20id%3D%22m71c1e9f719%22%20style%3D%22stroke%3A%23000000%3Bstroke-width%3A0.8%3B%22%2F%3E%0D%0A%20%20%20%20%20%20%3C%2Fdefs%3E%0D%0A%20%20%20%20%20%20%3Cg%3E%0D%0A%20%20%20%20%20%20%20%3Cuse%20style%3D%22stroke%3A%23000000%3Bstroke-width%3A0.8%3B%22%20x%3D%2230.4625%22%20xlink%3Ahref%3D%22%23m71c1e9f719%22%20y%3D%22117.049412%22%2F%3E%0D%0A%20%20%20%20%20%20%3C%2Fg%3E%0D%0A%20%20%20%20%20%3C%2Fg%3E%0D%0A%20%20%20%20%20%3Cg%20id%3D%22text_1%22%3E%0D%0A%20%20%20%20%20%20%3C!--%200.0%20--%3E%0D%0A%20%20%20%20%20%20%3Cdefs%3E%0D%0A%20%20%20%20%20%20%20%3Cpath%20d%3D%22M%2023.703125%2063.5%20%0D%0AQ%2032%2063.5%2038.046875%2054.140625%20%0D%0AQ%2044.09375%2044.796875%2044.09375%2030.90625%20%0D%0AQ%2044.09375%2017.09375%2038.046875%207.75%20%0D%0AQ%2032%20-1.59375%2023.703125%20-1.59375%20%0D%0AQ%2015.703125%20-1.59375%209.5%207.65625%20%0D%0AQ%203.296875%2016.90625%203.296875%2030.90625%20%0D%0AQ%203.296875%2044.796875%209.34375%2054.140625%20%0D%0AQ%2015.40625%2063.5%2023.703125%2063.5%20%0D%0Az%0D%0AM%2023.703125%200.703125%20%0D%0AQ%2031.09375%200.703125%2033.9375%208.046875%20%0D%0AQ%2036.796875%2015.40625%2036.796875%2030.90625%20%0D%0AQ%2036.796875%2046.40625%2033.9375%2053.796875%20%0D%0AQ%2031.09375%2061.203125%2023.703125%2061.203125%20%0D%0AQ%2016.296875%2061.203125%2013.4375%2053.796875%20%0D%0AQ%2010.59375%2046.40625%2010.59375%2030.90625%20%0D%0AQ%2010.59375%200.703125%2023.703125%200.703125%20%0D%0Az%0D%0A%22%20id%3D%22STSong-48%22%2F%3E%0D%0A%20%20%20%20%20%20%20%3Cpath%20d%3D%22M%2011%20-1.59375%20%0D%0AQ%208.796875%20-1.59375%207.296875%20-0.09375%20%0D%0AQ%205.796875%201.40625%205.796875%203.59375%20%0D%0AQ%205.796875%205.796875%207.296875%207.296875%20%0D%0AQ%208.796875%208.796875%2011%208.796875%20%0D%0AQ%2013.203125%208.796875%2014.703125%207.296875%20%0D%0AQ%2016.203125%205.796875%2016.203125%203.59375%20%0D%0AQ%2016.203125%201.40625%2014.703125%20-0.09375%20%0D%0AQ%2013.203125%20-1.59375%2011%20-1.59375%20%0D%0Az%0D%0A%22%20id%3D%22STSong-46%22%2F%3E%0D%0A%20%20%20%20%20%20%3C%2Fdefs%3E%0D%0A%20%20%20%20%20%20%3Cg%20transform%3D%22translate(24.676562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2%22%3E%0D%0A%20%20%20%20%20%3Cg%20id%3D%22line2d_2%22%3E%0D%0A%20%20%20%20%20%20%3Cg%3E%0D%0A%20%20%20%20%20%20%20%3Cuse%20style%3D%22stroke%3A%23000000%3Bstroke-width%3A0.8%3B%22%20x%3D%2279.697794%22%20xlink%3Ahref%3D%22%23m71c1e9f719%22%20y%3D%22117.049412%22%2F%3E%0D%0A%20%20%20%20%20%20%3C%2Fg%3E%0D%0A%20%20%20%20%20%3C%2Fg%3E%0D%0A%20%20%20%20%20%3Cg%20id%3D%22text_2%22%3E%0D%0A%20%20%20%20%20%20%3C!--%200.5%20--%3E%0D%0A%20%20%20%20%20%20%3Cdefs%3E%0D%0A%20%20%20%20%20%20%20%3Cpath%20d%3D%22M%2038%2056.59375%20%0D%0AL%2024%2056.59375%20%0D%0AQ%2016.203125%2056.59375%2015.40625%2056.296875%20%0D%0AL%2014.09375%2038%20%0D%0AQ%2018.5%2040.09375%2023.09375%2040.09375%20%0D%0AQ%2031.296875%2040.09375%2037%2034.5%20%0D%0AQ%2042.703125%2028.90625%2042.703125%2019.90625%20%0D%0AQ%2042.703125%209.90625%2035.640625%204.15625%20%0D%0AQ%2028.59375%20-1.59375%2019.59375%20-1.59375%20%0D%0AQ%2014.59375%20-1.59375%2010.390625%200.15625%20%0D%0AQ%206.203125%201.90625%206.203125%204%20%0D%0AQ%206.203125%205%207.09375%206.046875%20%0D%0AQ%208%207.09375%209.59375%207.09375%20%0D%0AQ%2010.703125%207.09375%2011.40625%206.59375%20%0D%0AQ%2018.40625%201.296875%2022.703125%201.296875%20%0D%0AQ%2028.296875%201.296875%2032.59375%206.140625%20%0D%0AQ%2036.90625%2011%2036.90625%2017.59375%20%0D%0AQ%2036.90625%2024.59375%2032.546875%2029.25%20%0D%0AQ%2028.203125%2033.90625%2021.796875%2033.90625%20%0D%0AQ%2019%2033.90625%2016.546875%2033%20%0D%0AQ%2014.09375%2032.09375%2013%2030.5%20%0D%0AL%2011.296875%2030.5%20%0D%0AL%2013.203125%2062.5%20%0D%0AL%2024.09375%2062.5%20%0D%0AQ%2031.59375%2062.5%2034%2062.703125%20%0D%0AQ%2036.40625%2062.90625%2037.40625%2064.203125%20%0D%0AL%2038.90625%2064.203125%20%0D%0Az%0D%0A%22%20id%3D%22STSong-53%22%2F%3E%0D%0A%20%20%20%20%20%20%3C%2Fdefs%3E%0D%0A%20%20%20%20%20%20%3Cg%20transform%3D%22translate(73.911857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3%22%3E%0D%0A%20%20%20%20%20%3Cg%20id%3D%22line2d_3%22%3E%0D%0A%20%20%20%20%20%20%3Cg%3E%0D%0A%20%20%20%20%20%20%20%3Cuse%20style%3D%22stroke%3A%23000000%3Bstroke-width%3A0.8%3B%22%20x%3D%22128.933088%22%20xlink%3Ahref%3D%22%23m71c1e9f719%22%20y%3D%22117.049412%22%2F%3E%0D%0A%20%20%20%20%20%20%3C%2Fg%3E%0D%0A%20%20%20%20%20%3C%2Fg%3E%0D%0A%20%20%20%20%20%3Cg%20id%3D%22text_3%22%3E%0D%0A%20%20%20%20%20%20%3C!--%201.0%20--%3E%0D%0A%20%20%20%20%20%20%3Cdefs%3E%0D%0A%20%20%20%20%20%20%20%3Cpath%20d%3D%22M%2035.5%20-0.296875%20%0D%0AQ%2030.296875%200%2023.796875%200%20%0D%0AQ%2017.296875%200%2012.09375%20-0.296875%20%0D%0AL%2012.09375%201.296875%20%0D%0AL%2017.296875%202.203125%20%0D%0AQ%2020.796875%202.90625%2020.796875%206.09375%20%0D%0AL%2020.796875%2055.5%20%0D%0AL%208.90625%2047.796875%20%0D%0AL%207.5%2049.703125%20%0D%0AQ%2014.40625%2054.203125%2024.09375%2063.5%20%0D%0AL%2027.40625%2063.5%20%0D%0AL%2027.40625%206.09375%20%0D%0AQ%2027.40625%202.703125%2030.90625%202.09375%20%0D%0AL%2035.5%201.296875%20%0D%0Az%0D%0A%22%20id%3D%22STSong-49%22%2F%3E%0D%0A%20%20%20%20%20%20%3C%2Fdefs%3E%0D%0A%20%20%20%20%20%20%3Cg%20transform%3D%22translate(123.147151%20130.64941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2%22%3E%0D%0A%20%20%20%20%3Cg%20id%3D%22ytick_1%22%3E%0D%0A%20%20%20%20%20%3Cg%20id%3D%22line2d_4%22%3E%0D%0A%20%20%20%20%20%20%3Cdefs%3E%0D%0A%20%20%20%20%20%20%20%3Cpath%20d%3D%22M%200%200%20%0D%0AL%20-3.5%200%20%0D%0A%22%20id%3D%22med470e38ed%22%20style%3D%22stroke%3A%23000000%3Bstroke-width%3A0.8%3B%22%2F%3E%0D%0A%20%20%20%20%20%20%3C%2Fdefs%3E%0D%0A%20%20%20%20%20%20%3Cg%3E%0D%0A%20%20%20%20%20%20%20%3Cuse%20style%3D%22stroke%3A%23000000%3Bstroke-width%3A0.8%3B%22%20x%3D%2230.4625%22%20xlink%3Ahref%3D%22%23med470e38ed%22%20y%3D%22117.049412%22%2F%3E%0D%0A%20%20%20%20%20%20%3C%2Fg%3E%0D%0A%20%20%20%20%20%3C%2Fg%3E%0D%0A%20%20%20%20%20%3Cg%20id%3D%22text_4%22%3E%0D%0A%20%20%20%20%20%20%3C!--%200.00%20--%3E%0D%0A%20%20%20%20%20%20%3Cg%20transform%3D%22translate(7.2%20120.3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2%22%3E%0D%0A%20%20%20%20%20%3Cg%20id%3D%22line2d_5%22%3E%0D%0A%20%20%20%20%20%20%3Cg%3E%0D%0A%20%20%20%20%20%20%20%3Cuse%20style%3D%22stroke%3A%23000000%3Bstroke-width%3A0.8%3B%22%20x%3D%2230.4625%22%20xlink%3Ahref%3D%22%23med470e38ed%22%20y%3D%2293.067059%22%2F%3E%0D%0A%20%20%20%20%20%20%3C%2Fg%3E%0D%0A%20%20%20%20%20%3C%2Fg%3E%0D%0A%20%20%20%20%20%3Cg%20id%3D%22text_5%22%3E%0D%0A%20%20%20%20%20%20%3C!--%200.25%20--%3E%0D%0A%20%20%20%20%20%20%3Cdefs%3E%0D%0A%20%20%20%20%20%20%20%3Cpath%20d%3D%22M%2042.59375%20-0.296875%20%0D%0AQ%2035.40625%200%2022.203125%200%20%0D%0AQ%209.296875%200%202.203125%20-0.296875%20%0D%0AQ%204.09375%203.59375%207%207.09375%20%0D%0AQ%209.90625%2010.59375%2016.296875%2017%20%0D%0AQ%2025.59375%2026.296875%2029.890625%2032.84375%20%0D%0AQ%2034.203125%2039.40625%2034.203125%2046.09375%20%0D%0AQ%2034.203125%2051.59375%2030.75%2055%20%0D%0AQ%2027.296875%2058.40625%2022.203125%2058.40625%20%0D%0AQ%2017.203125%2058.40625%2013.09375%2054.953125%20%0D%0AQ%209%2051.5%207.40625%2045.203125%20%0D%0AL%205.09375%2045.59375%20%0D%0AQ%206.703125%2054.09375%2011.796875%2058.796875%20%0D%0AQ%2016.90625%2063.5%2024.203125%2063.5%20%0D%0AQ%2031.5%2063.5%2036.59375%2058.640625%20%0D%0AQ%2041.703125%2053.796875%2041.703125%2047%20%0D%0AQ%2041.703125%2040.203125%2036.953125%2034.25%20%0D%0AQ%2032.203125%2028.296875%2022.59375%2019.40625%20%0D%0AQ%2017.5%2014.703125%209.90625%205.296875%20%0D%0AL%2033.40625%205.296875%20%0D%0AQ%2037.203125%205.296875%2038.75%206.640625%20%0D%0AQ%2040.296875%208%2042%2012.5%20%0D%0AL%2044.09375%2012.5%20%0D%0Az%0D%0A%22%20id%3D%22STSong-50%22%2F%3E%0D%0A%20%20%20%20%20%20%3C%2Fdefs%3E%0D%0A%20%20%20%20%20%20%3Cg%20transform%3D%22translate(7.2%2096.367059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3%22%3E%0D%0A%20%20%20%20%20%3Cg%20id%3D%22line2d_6%22%3E%0D%0A%20%20%20%20%20%20%3Cg%3E%0D%0A%20%20%20%20%20%20%20%3Cuse%20style%3D%22stroke%3A%23000000%3Bstroke-width%3A0.8%3B%22%20x%3D%2230.4625%22%20xlink%3Ahref%3D%22%23med470e38ed%22%20y%3D%2269.084706%22%2F%3E%0D%0A%20%20%20%20%20%20%3C%2Fg%3E%0D%0A%20%20%20%20%20%3C%2Fg%3E%0D%0A%20%20%20%20%20%3Cg%20id%3D%22text_6%22%3E%0D%0A%20%20%20%20%20%20%3C!--%200.50%20--%3E%0D%0A%20%20%20%20%20%20%3Cg%20transform%3D%22translate(7.2%2072.38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4%22%3E%0D%0A%20%20%20%20%20%3Cg%20id%3D%22line2d_7%22%3E%0D%0A%20%20%20%20%20%20%3Cg%3E%0D%0A%20%20%20%20%20%20%20%3Cuse%20style%3D%22stroke%3A%23000000%3Bstroke-width%3A0.8%3B%22%20x%3D%2230.4625%22%20xlink%3Ahref%3D%22%23med470e38ed%22%20y%3D%2245.102353%22%2F%3E%0D%0A%20%20%20%20%20%20%3C%2Fg%3E%0D%0A%20%20%20%20%20%3C%2Fg%3E%0D%0A%20%20%20%20%20%3Cg%20id%3D%22text_7%22%3E%0D%0A%20%20%20%20%20%20%3C!--%200.75%20--%3E%0D%0A%20%20%20%20%20%20%3Cdefs%3E%0D%0A%20%20%20%20%20%20%20%3Cpath%20d%3D%22M%204.59375%2062.5%20%0D%0AL%2043.09375%2062.5%20%0D%0AL%2043.09375%2060.796875%20%0D%0AQ%2039.703125%2054.796875%2030.953125%2030.140625%20%0D%0AQ%2022.203125%205.5%2021.296875%200%20%0D%0AL%2018%200%20%0D%0AQ%2022.796875%2020.703125%2037.296875%2056.40625%20%0D%0AL%2010.296875%2056.40625%20%0D%0AQ%207.796875%2056.40625%207.59375%2055.09375%20%0D%0AL%206.796875%2050.90625%20%0D%0AL%204.59375%2050.90625%20%0D%0Az%0D%0A%22%20id%3D%22STSong-55%22%2F%3E%0D%0A%20%20%20%20%20%20%3C%2Fdefs%3E%0D%0A%20%20%20%20%20%20%3Cg%20transform%3D%22translate(7.2%2048.40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5%22%3E%0D%0A%20%20%20%20%20%3Cg%20id%3D%22line2d_8%22%3E%0D%0A%20%20%20%20%20%20%3Cg%3E%0D%0A%20%20%20%20%20%20%20%3Cuse%20style%3D%22stroke%3A%23000000%3Bstroke-width%3A0.8%3B%22%20x%3D%2230.4625%22%20xlink%3Ahref%3D%22%23med470e38ed%22%20y%3D%2221.12%22%2F%3E%0D%0A%20%20%20%20%20%20%3C%2Fg%3E%0D%0A%20%20%20%20%20%3C%2Fg%3E%0D%0A%20%20%20%20%20%3Cg%20id%3D%22text_8%22%3E%0D%0A%20%20%20%20%20%20%3C!--%201.00%20--%3E%0D%0A%20%20%20%20%20%20%3Cg%20transform%3D%22translate(7.2%2024.4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3%22%3E%0D%0A%20%20%20%20%3Cpath%20d%3D%22M%2030.4625%20117.049412%20%0D%0AL%2030.4625%2021.12%20%0D%0A%22%20style%3D%22fill%3Anone%3Bstroke%3A%23000000%3Bstroke-linecap%3Asquare%3Bstroke-linejoin%3Amiter%3Bstroke-width%3A0.8%3B%22%2F%3E%0D%0A%20%20%20%3C%2Fg%3E%0D%0A%20%20%20%3Cg%20id%3D%22patch_4%22%3E%0D%0A%20%20%20%20%3Cpath%20d%3D%22M%20128.933088%20117.049412%20%0D%0AL%20128.933088%2021.12%20%0D%0A%22%20style%3D%22fill%3Anone%3Bstroke%3A%23000000%3Bstroke-linecap%3Asquare%3Bstroke-linejoin%3Amiter%3Bstroke-width%3A0.8%3B%22%2F%3E%0D%0A%20%20%20%3C%2Fg%3E%0D%0A%20%20%20%3Cg%20id%3D%22patch_5%22%3E%0D%0A%20%20%20%20%3Cpath%20d%3D%22M%2030.4625%20117.049412%20%0D%0AL%20128.933088%20117.049412%20%0D%0A%22%20style%3D%22fill%3Anone%3Bstroke%3A%23000000%3Bstroke-linecap%3Asquare%3Bstroke-linejoin%3Amiter%3Bstroke-width%3A0.8%3B%22%2F%3E%0D%0A%20%20%20%3C%2Fg%3E%0D%0A%20%20%20%3Cg%20id%3D%22patch_6%22%3E%0D%0A%20%20%20%20%3Cpath%20d%3D%22M%2030.4625%2021.12%20%0D%0AL%20128.933088%2021.12%20%0D%0A%22%20style%3D%22fill%3Anone%3Bstroke%3A%23000000%3Bstroke-linecap%3Asquare%3Bstroke-linejoin%3Amiter%3Bstroke-width%3A0.8%3B%22%2F%3E%0D%0A%20%20%20%3C%2Fg%3E%0D%0A%20%20%20%3Cg%20id%3D%22text_9%22%3E%0D%0A%20%20%20%20%3C!--%20%E5%B7%A6%E4%B8%8A%20--%3E%0D%0A%20%20%20%20%3Cdefs%3E%0D%0A%20%20%20%20%20%3Cpath%20d%3D%22M%2094.796875%2056.703125%20%0D%0AQ%2095.90625%2055.59375%2095.90625%2055.25%20%0D%0AQ%2095.90625%2054.90625%2094.5%2054.90625%20%0D%0AL%2042.703125%2054.90625%20%0D%0AQ%2034.09375%2031.09375%2025.890625%2017.75%20%0D%0AQ%2017.703125%204.40625%203.703125%20-8.796875%20%0D%0AL%202.703125%20-7.5%20%0D%0AQ%2025.59375%2017%2037.703125%2054.90625%20%0D%0AL%2014.59375%2054.90625%20%0D%0AQ%2011.703125%2054.90625%209.296875%2054.296875%20%0D%0AL%206.5%2057.40625%20%0D%0AQ%2010%2057.09375%2012.40625%2057.09375%20%0D%0AL%2038.40625%2057.09375%20%0D%0AQ%2041.40625%2066.59375%2043.5%2076.796875%20%0D%0AL%2050.59375%2072.5%20%0D%0AQ%2051.796875%2071.796875%2051.796875%2071.4375%20%0D%0AQ%2051.796875%2071.09375%2050.59375%2070.5%20%0D%0AL%2047.796875%2069.09375%20%0D%0AL%2043.5%2057.09375%20%0D%0AL%2084.5%2057.09375%20%0D%0AL%2088.796875%2063.09375%20%0D%0Az%0D%0AM%2094%20-6.296875%20%0D%0AQ%2095%20-7.296875%2095%20-7.6875%20%0D%0AQ%2095%20-8.09375%2093.40625%20-8.09375%20%0D%0AL%2026.796875%20-8.09375%20%0D%0AQ%2023.296875%20-8.09375%2020.90625%20-8.90625%20%0D%0AL%2017.703125%20-5.59375%20%0D%0AQ%2021.796875%20-5.90625%2025%20-5.90625%20%0D%0AL%2056.203125%20-5.90625%20%0D%0AL%2056.203125%2028.796875%20%0D%0AL%2040.90625%2028.796875%20%0D%0AQ%2038%2028.796875%2036.09375%2028.296875%20%0D%0AL%2033.59375%2031.296875%20%0D%0AQ%2036.796875%2031%2039.59375%2031%20%0D%0AL%2077.09375%2031%20%0D%0AL%2081.296875%2036.5%20%0D%0AL%2086.703125%2030.59375%20%0D%0AQ%2087.59375%2029.59375%2087.59375%2029.1875%20%0D%0AQ%2087.59375%2028.796875%2086.40625%2028.796875%20%0D%0AL%2061.203125%2028.796875%20%0D%0AL%2061.203125%20-5.90625%20%0D%0AL%2083.59375%20-5.90625%20%0D%0AL%2088%200.203125%20%0D%0Az%0D%0A%22%20id%3D%22STSong-24038%22%2F%3E%0D%0A%20%20%20%20%20%3Cpath%20d%3D%22M%2094.296875%20-6.90625%20%0D%0AQ%2095.40625%20-8%2095.40625%20-8.5%20%0D%0AQ%2095.40625%20-9%2093.90625%20-9%20%0D%0AL%2013.5%20-9%20%0D%0AQ%209.59375%20-9%206.796875%20-10.09375%20%0D%0AL%204%20-6%20%0D%0AQ%208.796875%20-6.40625%2011.296875%20-6.40625%20%0D%0AL%2046.59375%20-6.40625%20%0D%0AL%2046.59375%2062.59375%20%0D%0AQ%2046.59375%2070.796875%2046.296875%2075.796875%20%0D%0AL%2053.796875%2072.09375%20%0D%0AQ%2054.90625%2071.59375%2054.90625%2071.140625%20%0D%0AQ%2054.90625%2070.703125%2053.90625%2069.90625%20%0D%0AL%2051.40625%2067.796875%20%0D%0AL%2051.40625%2042.203125%20%0D%0AL%2077.796875%2042.203125%20%0D%0AL%2082.09375%2047.703125%20%0D%0AL%2088.203125%2041.703125%20%0D%0AQ%2089.296875%2040.59375%2089.296875%2040.140625%20%0D%0AQ%2089.296875%2039.703125%2087.90625%2039.703125%20%0D%0AL%2051.40625%2039.703125%20%0D%0AL%2051.40625%20-6.40625%20%0D%0AL%2083.796875%20-6.40625%20%0D%0AL%2087.796875%20-0.5%20%0D%0Az%0D%0A%22%20id%3D%22STSong-19978%22%2F%3E%0D%0A%20%20%20%20%3C%2Fdefs%3E%0D%0A%20%20%20%20%3Cg%20transform%3D%22translate(67.697794%2015.12)scale(0.12%20-0.12)%22%3E%0D%0A%20%20%20%20%20%3Cuse%20xlink%3Ahref%3D%22%23STSong-24038%22%2F%3E%0D%0A%20%20%20%20%20%3Cuse%20x%3D%2299.999985%22%20xlink%3Ahref%3D%22%23STSong-19978%22%2F%3E%0D%0A%20%20%20%20%3C%2Fg%3E%0D%0A%20%20%20%3C%2Fg%3E%0D%0A%20%20%3C%2Fg%3E%0D%0A%20%20%3Cg%20id%3D%22axes_2%22%3E%0D%0A%20%20%20%3Cg%20id%3D%22patch_7%22%3E%0D%0A%20%20%20%20%3Cpath%20d%3D%22M%20148.627206%20117.049412%20%0D%0AL%20247.097794%20117.049412%20%0D%0AL%20247.097794%2021.12%20%0D%0AL%20148.627206%2021.12%20%0D%0Az%0D%0A%22%20style%3D%22fill%3A%23ffffff%3B%22%2F%3E%0D%0A%20%20%20%3C%2Fg%3E%0D%0A%20%20%20%3Cg%20id%3D%22matplotlib.axis_3%22%3E%0D%0A%20%20%20%20%3Cg%20id%3D%22xtick_4%22%3E%0D%0A%20%20%20%20%20%3Cg%20id%3D%22line2d_9%22%3E%0D%0A%20%20%20%20%20%20%3Cg%3E%0D%0A%20%20%20%20%20%20%20%3Cuse%20style%3D%22stroke%3A%23000000%3Bstroke-width%3A0.8%3B%22%20x%3D%22148.627206%22%20xlink%3Ahref%3D%22%23m71c1e9f719%22%20y%3D%22117.049412%22%2F%3E%0D%0A%20%20%20%20%20%20%3C%2Fg%3E%0D%0A%20%20%20%20%20%3C%2Fg%3E%0D%0A%20%20%20%20%20%3Cg%20id%3D%22text_10%22%3E%0D%0A%20%20%20%20%20%20%3C!--%200.0%20--%3E%0D%0A%20%20%20%20%20%20%3Cg%20transform%3D%22translate(142.841268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5%22%3E%0D%0A%20%20%20%20%20%3Cg%20id%3D%22line2d_10%22%3E%0D%0A%20%20%20%20%20%20%3Cg%3E%0D%0A%20%20%20%20%20%20%20%3Cuse%20style%3D%22stroke%3A%23000000%3Bstroke-width%3A0.8%3B%22%20x%3D%22197.8625%22%20xlink%3Ahref%3D%22%23m71c1e9f719%22%20y%3D%22117.049412%22%2F%3E%0D%0A%20%20%20%20%20%20%3C%2Fg%3E%0D%0A%20%20%20%20%20%3C%2Fg%3E%0D%0A%20%20%20%20%20%3Cg%20id%3D%22text_11%22%3E%0D%0A%20%20%20%20%20%20%3C!--%200.5%20--%3E%0D%0A%20%20%20%20%20%20%3Cg%20transform%3D%22translate(192.076563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6%22%3E%0D%0A%20%20%20%20%20%3Cg%20id%3D%22line2d_11%22%3E%0D%0A%20%20%20%20%20%20%3Cg%3E%0D%0A%20%20%20%20%20%20%20%3Cuse%20style%3D%22stroke%3A%23000000%3Bstroke-width%3A0.8%3B%22%20x%3D%22247.097794%22%20xlink%3Ahref%3D%22%23m71c1e9f719%22%20y%3D%22117.049412%22%2F%3E%0D%0A%20%20%20%20%20%20%3C%2Fg%3E%0D%0A%20%20%20%20%20%3C%2Fg%3E%0D%0A%20%20%20%20%20%3Cg%20id%3D%22text_12%22%3E%0D%0A%20%20%20%20%20%20%3C!--%201.0%20--%3E%0D%0A%20%20%20%20%20%20%3Cg%20transform%3D%22translate(241.311857%20130.64941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4%22%3E%0D%0A%20%20%20%20%3Cg%20id%3D%22ytick_6%22%3E%0D%0A%20%20%20%20%20%3Cg%20id%3D%22line2d_12%22%3E%0D%0A%20%20%20%20%20%20%3Cg%3E%0D%0A%20%20%20%20%20%20%20%3Cuse%20style%3D%22stroke%3A%23000000%3Bstroke-width%3A0.8%3B%22%20x%3D%22148.627206%22%20xlink%3Ahref%3D%22%23med470e38ed%22%20y%3D%22117.049412%22%2F%3E%0D%0A%20%20%20%20%20%20%3C%2Fg%3E%0D%0A%20%20%20%20%20%3C%2Fg%3E%0D%0A%20%20%20%20%20%3Cg%20id%3D%22text_13%22%3E%0D%0A%20%20%20%20%20%20%3C!--%200.00%20--%3E%0D%0A%20%20%20%20%20%20%3Cg%20transform%3D%22translate(125.364706%20120.3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7%22%3E%0D%0A%20%20%20%20%20%3Cg%20id%3D%22line2d_13%22%3E%0D%0A%20%20%20%20%20%20%3Cg%3E%0D%0A%20%20%20%20%20%20%20%3Cuse%20style%3D%22stroke%3A%23000000%3Bstroke-width%3A0.8%3B%22%20x%3D%22148.627206%22%20xlink%3Ahref%3D%22%23med470e38ed%22%20y%3D%2293.067059%22%2F%3E%0D%0A%20%20%20%20%20%20%3C%2Fg%3E%0D%0A%20%20%20%20%20%3C%2Fg%3E%0D%0A%20%20%20%20%20%3Cg%20id%3D%22text_14%22%3E%0D%0A%20%20%20%20%20%20%3C!--%200.25%20--%3E%0D%0A%20%20%20%20%20%20%3Cg%20transform%3D%22translate(125.364706%2096.367059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8%22%3E%0D%0A%20%20%20%20%20%3Cg%20id%3D%22line2d_14%22%3E%0D%0A%20%20%20%20%20%20%3Cg%3E%0D%0A%20%20%20%20%20%20%20%3Cuse%20style%3D%22stroke%3A%23000000%3Bstroke-width%3A0.8%3B%22%20x%3D%22148.627206%22%20xlink%3Ahref%3D%22%23med470e38ed%22%20y%3D%2269.084706%22%2F%3E%0D%0A%20%20%20%20%20%20%3C%2Fg%3E%0D%0A%20%20%20%20%20%3C%2Fg%3E%0D%0A%20%20%20%20%20%3Cg%20id%3D%22text_15%22%3E%0D%0A%20%20%20%20%20%20%3C!--%200.50%20--%3E%0D%0A%20%20%20%20%20%20%3Cg%20transform%3D%22translate(125.364706%2072.38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9%22%3E%0D%0A%20%20%20%20%20%3Cg%20id%3D%22line2d_15%22%3E%0D%0A%20%20%20%20%20%20%3Cg%3E%0D%0A%20%20%20%20%20%20%20%3Cuse%20style%3D%22stroke%3A%23000000%3Bstroke-width%3A0.8%3B%22%20x%3D%22148.627206%22%20xlink%3Ahref%3D%22%23med470e38ed%22%20y%3D%2245.102353%22%2F%3E%0D%0A%20%20%20%20%20%20%3C%2Fg%3E%0D%0A%20%20%20%20%20%3C%2Fg%3E%0D%0A%20%20%20%20%20%3Cg%20id%3D%22text_16%22%3E%0D%0A%20%20%20%20%20%20%3C!--%200.75%20--%3E%0D%0A%20%20%20%20%20%20%3Cg%20transform%3D%22translate(125.364706%2048.40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10%22%3E%0D%0A%20%20%20%20%20%3Cg%20id%3D%22line2d_16%22%3E%0D%0A%20%20%20%20%20%20%3Cg%3E%0D%0A%20%20%20%20%20%20%20%3Cuse%20style%3D%22stroke%3A%23000000%3Bstroke-width%3A0.8%3B%22%20x%3D%22148.627206%22%20xlink%3Ahref%3D%22%23med470e38ed%22%20y%3D%2221.12%22%2F%3E%0D%0A%20%20%20%20%20%20%3C%2Fg%3E%0D%0A%20%20%20%20%20%3C%2Fg%3E%0D%0A%20%20%20%20%20%3Cg%20id%3D%22text_17%22%3E%0D%0A%20%20%20%20%20%20%3C!--%201.00%20--%3E%0D%0A%20%20%20%20%20%20%3Cg%20transform%3D%22translate(125.364706%2024.4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8%22%3E%0D%0A%20%20%20%20%3Cpath%20d%3D%22M%20148.627206%20117.049412%20%0D%0AL%20148.627206%2021.12%20%0D%0A%22%20style%3D%22fill%3Anone%3Bstroke%3A%23000000%3Bstroke-linecap%3Asquare%3Bstroke-linejoin%3Amiter%3Bstroke-width%3A0.8%3B%22%2F%3E%0D%0A%20%20%20%3C%2Fg%3E%0D%0A%20%20%20%3Cg%20id%3D%22patch_9%22%3E%0D%0A%20%20%20%20%3Cpath%20d%3D%22M%20247.097794%20117.049412%20%0D%0AL%20247.097794%2021.12%20%0D%0A%22%20style%3D%22fill%3Anone%3Bstroke%3A%23000000%3Bstroke-linecap%3Asquare%3Bstroke-linejoin%3Amiter%3Bstroke-width%3A0.8%3B%22%2F%3E%0D%0A%20%20%20%3C%2Fg%3E%0D%0A%20%20%20%3Cg%20id%3D%22patch_10%22%3E%0D%0A%20%20%20%20%3Cpath%20d%3D%22M%20148.627206%20117.049412%20%0D%0AL%20247.097794%20117.049412%20%0D%0A%22%20style%3D%22fill%3Anone%3Bstroke%3A%23000000%3Bstroke-linecap%3Asquare%3Bstroke-linejoin%3Amiter%3Bstroke-width%3A0.8%3B%22%2F%3E%0D%0A%20%20%20%3C%2Fg%3E%0D%0A%20%20%20%3Cg%20id%3D%22patch_11%22%3E%0D%0A%20%20%20%20%3Cpath%20d%3D%22M%20148.627206%2021.12%20%0D%0AL%20247.097794%2021.12%20%0D%0A%22%20style%3D%22fill%3Anone%3Bstroke%3A%23000000%3Bstroke-linecap%3Asquare%3Bstroke-linejoin%3Amiter%3Bstroke-width%3A0.8%3B%22%2F%3E%0D%0A%20%20%20%3C%2Fg%3E%0D%0A%20%20%3C%2Fg%3E%0D%0A%20%20%3Cg%20id%3D%22axes_3%22%3E%0D%0A%20%20%20%3Cg%20id%3D%22patch_12%22%3E%0D%0A%20%20%20%20%3Cpath%20d%3D%22M%20266.791912%20117.049412%20%0D%0AL%20365.2625%20117.049412%20%0D%0AL%20365.2625%2021.12%20%0D%0AL%20266.791912%2021.12%20%0D%0Az%0D%0A%22%20style%3D%22fill%3A%23ffffff%3B%22%2F%3E%0D%0A%20%20%20%3C%2Fg%3E%0D%0A%20%20%20%3Cg%20id%3D%22matplotlib.axis_5%22%3E%0D%0A%20%20%20%20%3Cg%20id%3D%22xtick_7%22%3E%0D%0A%20%20%20%20%20%3Cg%20id%3D%22line2d_17%22%3E%0D%0A%20%20%20%20%20%20%3Cg%3E%0D%0A%20%20%20%20%20%20%20%3Cuse%20style%3D%22stroke%3A%23000000%3Bstroke-width%3A0.8%3B%22%20x%3D%22266.791912%22%20xlink%3Ahref%3D%22%23m71c1e9f719%22%20y%3D%22117.049412%22%2F%3E%0D%0A%20%20%20%20%20%20%3C%2Fg%3E%0D%0A%20%20%20%20%20%3C%2Fg%3E%0D%0A%20%20%20%20%20%3Cg%20id%3D%22text_18%22%3E%0D%0A%20%20%20%20%20%20%3C!--%200.0%20--%3E%0D%0A%20%20%20%20%20%20%3Cg%20transform%3D%22translate(261.005974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8%22%3E%0D%0A%20%20%20%20%20%3Cg%20id%3D%22line2d_18%22%3E%0D%0A%20%20%20%20%20%20%3Cg%3E%0D%0A%20%20%20%20%20%20%20%3Cuse%20style%3D%22stroke%3A%23000000%3Bstroke-width%3A0.8%3B%22%20x%3D%22316.027206%22%20xlink%3Ahref%3D%22%23m71c1e9f719%22%20y%3D%22117.049412%22%2F%3E%0D%0A%20%20%20%20%20%20%3C%2Fg%3E%0D%0A%20%20%20%20%20%3C%2Fg%3E%0D%0A%20%20%20%20%20%3Cg%20id%3D%22text_19%22%3E%0D%0A%20%20%20%20%20%20%3C!--%200.5%20--%3E%0D%0A%20%20%20%20%20%20%3Cg%20transform%3D%22translate(310.241268%20130.6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9%22%3E%0D%0A%20%20%20%20%20%3Cg%20id%3D%22line2d_19%22%3E%0D%0A%20%20%20%20%20%20%3Cg%3E%0D%0A%20%20%20%20%20%20%20%3Cuse%20style%3D%22stroke%3A%23000000%3Bstroke-width%3A0.8%3B%22%20x%3D%22365.2625%22%20xlink%3Ahref%3D%22%23m71c1e9f719%22%20y%3D%22117.049412%22%2F%3E%0D%0A%20%20%20%20%20%20%3C%2Fg%3E%0D%0A%20%20%20%20%20%3C%2Fg%3E%0D%0A%20%20%20%20%20%3Cg%20id%3D%22text_20%22%3E%0D%0A%20%20%20%20%20%20%3C!--%201.0%20--%3E%0D%0A%20%20%20%20%20%20%3Cg%20transform%3D%22translate(359.476563%20130.64941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6%22%3E%0D%0A%20%20%20%20%3Cg%20id%3D%22ytick_11%22%3E%0D%0A%20%20%20%20%20%3Cg%20id%3D%22line2d_20%22%3E%0D%0A%20%20%20%20%20%20%3Cg%3E%0D%0A%20%20%20%20%20%20%20%3Cuse%20style%3D%22stroke%3A%23000000%3Bstroke-width%3A0.8%3B%22%20x%3D%22266.791912%22%20xlink%3Ahref%3D%22%23med470e38ed%22%20y%3D%22117.049412%22%2F%3E%0D%0A%20%20%20%20%20%20%3C%2Fg%3E%0D%0A%20%20%20%20%20%3C%2Fg%3E%0D%0A%20%20%20%20%20%3Cg%20id%3D%22text_21%22%3E%0D%0A%20%20%20%20%20%20%3C!--%200.00%20--%3E%0D%0A%20%20%20%20%20%20%3Cg%20transform%3D%22translate(243.529412%20120.349412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12%22%3E%0D%0A%20%20%20%20%20%3Cg%20id%3D%22line2d_21%22%3E%0D%0A%20%20%20%20%20%20%3Cg%3E%0D%0A%20%20%20%20%20%20%20%3Cuse%20style%3D%22stroke%3A%23000000%3Bstroke-width%3A0.8%3B%22%20x%3D%22266.791912%22%20xlink%3Ahref%3D%22%23med470e38ed%22%20y%3D%2293.067059%22%2F%3E%0D%0A%20%20%20%20%20%20%3C%2Fg%3E%0D%0A%20%20%20%20%20%3C%2Fg%3E%0D%0A%20%20%20%20%20%3Cg%20id%3D%22text_22%22%3E%0D%0A%20%20%20%20%20%20%3C!--%200.25%20--%3E%0D%0A%20%20%20%20%20%20%3Cg%20transform%3D%22translate(243.529412%2096.367059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13%22%3E%0D%0A%20%20%20%20%20%3Cg%20id%3D%22line2d_22%22%3E%0D%0A%20%20%20%20%20%20%3Cg%3E%0D%0A%20%20%20%20%20%20%20%3Cuse%20style%3D%22stroke%3A%23000000%3Bstroke-width%3A0.8%3B%22%20x%3D%22266.791912%22%20xlink%3Ahref%3D%22%23med470e38ed%22%20y%3D%2269.084706%22%2F%3E%0D%0A%20%20%20%20%20%20%3C%2Fg%3E%0D%0A%20%20%20%20%20%3C%2Fg%3E%0D%0A%20%20%20%20%20%3Cg%20id%3D%22text_23%22%3E%0D%0A%20%20%20%20%20%20%3C!--%200.50%20--%3E%0D%0A%20%20%20%20%20%20%3Cg%20transform%3D%22translate(243.529412%2072.38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14%22%3E%0D%0A%20%20%20%20%20%3Cg%20id%3D%22line2d_23%22%3E%0D%0A%20%20%20%20%20%20%3Cg%3E%0D%0A%20%20%20%20%20%20%20%3Cuse%20style%3D%22stroke%3A%23000000%3Bstroke-width%3A0.8%3B%22%20x%3D%22266.791912%22%20xlink%3Ahref%3D%22%23med470e38ed%22%20y%3D%2245.102353%22%2F%3E%0D%0A%20%20%20%20%20%20%3C%2Fg%3E%0D%0A%20%20%20%20%20%3C%2Fg%3E%0D%0A%20%20%20%20%20%3Cg%20id%3D%22text_24%22%3E%0D%0A%20%20%20%20%20%20%3C!--%200.75%20--%3E%0D%0A%20%20%20%20%20%20%3Cg%20transform%3D%22translate(243.529412%2048.40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15%22%3E%0D%0A%20%20%20%20%20%3Cg%20id%3D%22line2d_24%22%3E%0D%0A%20%20%20%20%20%20%3Cg%3E%0D%0A%20%20%20%20%20%20%20%3Cuse%20style%3D%22stroke%3A%23000000%3Bstroke-width%3A0.8%3B%22%20x%3D%22266.791912%22%20xlink%3Ahref%3D%22%23med470e38ed%22%20y%3D%2221.12%22%2F%3E%0D%0A%20%20%20%20%20%20%3C%2Fg%3E%0D%0A%20%20%20%20%20%3C%2Fg%3E%0D%0A%20%20%20%20%20%3Cg%20id%3D%22text_25%22%3E%0D%0A%20%20%20%20%20%20%3C!--%201.00%20--%3E%0D%0A%20%20%20%20%20%20%3Cg%20transform%3D%22translate(243.529412%2024.42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13%22%3E%0D%0A%20%20%20%20%3Cpath%20d%3D%22M%20266.791912%20117.049412%20%0D%0AL%20266.791912%2021.12%20%0D%0A%22%20style%3D%22fill%3Anone%3Bstroke%3A%23000000%3Bstroke-linecap%3Asquare%3Bstroke-linejoin%3Amiter%3Bstroke-width%3A0.8%3B%22%2F%3E%0D%0A%20%20%20%3C%2Fg%3E%0D%0A%20%20%20%3Cg%20id%3D%22patch_14%22%3E%0D%0A%20%20%20%20%3Cpath%20d%3D%22M%20365.2625%20117.049412%20%0D%0AL%20365.2625%2021.12%20%0D%0A%22%20style%3D%22fill%3Anone%3Bstroke%3A%23000000%3Bstroke-linecap%3Asquare%3Bstroke-linejoin%3Amiter%3Bstroke-width%3A0.8%3B%22%2F%3E%0D%0A%20%20%20%3C%2Fg%3E%0D%0A%20%20%20%3Cg%20id%3D%22patch_15%22%3E%0D%0A%20%20%20%20%3Cpath%20d%3D%22M%20266.791912%20117.049412%20%0D%0AL%20365.2625%20117.049412%20%0D%0A%22%20style%3D%22fill%3Anone%3Bstroke%3A%23000000%3Bstroke-linecap%3Asquare%3Bstroke-linejoin%3Amiter%3Bstroke-width%3A0.8%3B%22%2F%3E%0D%0A%20%20%20%3C%2Fg%3E%0D%0A%20%20%20%3Cg%20id%3D%22patch_16%22%3E%0D%0A%20%20%20%20%3Cpath%20d%3D%22M%20266.791912%2021.12%20%0D%0AL%20365.2625%2021.12%20%0D%0A%22%20style%3D%22fill%3Anone%3Bstroke%3A%23000000%3Bstroke-linecap%3Asquare%3Bstroke-linejoin%3Amiter%3Bstroke-width%3A0.8%3B%22%2F%3E%0D%0A%20%20%20%3C%2Fg%3E%0D%0A%20%20%3C%2Fg%3E%0D%0A%20%20%3Cg%20id%3D%22axes_4%22%3E%0D%0A%20%20%20%3Cg%20id%3D%22patch_17%22%3E%0D%0A%20%20%20%20%3Cpath%20d%3D%22M%2030.4625%20232.164706%20%0D%0AL%20128.933088%20232.164706%20%0D%0AL%20128.933088%20136.235294%20%0D%0AL%2030.4625%20136.235294%20%0D%0Az%0D%0A%22%20style%3D%22fill%3A%23ffffff%3B%22%2F%3E%0D%0A%20%20%20%3C%2Fg%3E%0D%0A%20%20%20%3Cg%20id%3D%22matplotlib.axis_7%22%3E%0D%0A%20%20%20%20%3Cg%20id%3D%22xtick_10%22%3E%0D%0A%20%20%20%20%20%3Cg%20id%3D%22line2d_25%22%3E%0D%0A%20%20%20%20%20%20%3Cg%3E%0D%0A%20%20%20%20%20%20%20%3Cuse%20style%3D%22stroke%3A%23000000%3Bstroke-width%3A0.8%3B%22%20x%3D%2230.4625%22%20xlink%3Ahref%3D%22%23m71c1e9f719%22%20y%3D%22232.164706%22%2F%3E%0D%0A%20%20%20%20%20%20%3C%2Fg%3E%0D%0A%20%20%20%20%20%3C%2Fg%3E%0D%0A%20%20%20%20%20%3Cg%20id%3D%22text_26%22%3E%0D%0A%20%20%20%20%20%20%3C!--%200.0%20--%3E%0D%0A%20%20%20%20%20%20%3Cg%20transform%3D%22translate(24.676562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11%22%3E%0D%0A%20%20%20%20%20%3Cg%20id%3D%22line2d_26%22%3E%0D%0A%20%20%20%20%20%20%3Cg%3E%0D%0A%20%20%20%20%20%20%20%3Cuse%20style%3D%22stroke%3A%23000000%3Bstroke-width%3A0.8%3B%22%20x%3D%2279.697794%22%20xlink%3Ahref%3D%22%23m71c1e9f719%22%20y%3D%22232.164706%22%2F%3E%0D%0A%20%20%20%20%20%20%3C%2Fg%3E%0D%0A%20%20%20%20%20%3C%2Fg%3E%0D%0A%20%20%20%20%20%3Cg%20id%3D%22text_27%22%3E%0D%0A%20%20%20%20%20%20%3C!--%200.5%20--%3E%0D%0A%20%20%20%20%20%20%3Cg%20transform%3D%22translate(73.911857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12%22%3E%0D%0A%20%20%20%20%20%3Cg%20id%3D%22line2d_27%22%3E%0D%0A%20%20%20%20%20%20%3Cg%3E%0D%0A%20%20%20%20%20%20%20%3Cuse%20style%3D%22stroke%3A%23000000%3Bstroke-width%3A0.8%3B%22%20x%3D%22128.933088%22%20xlink%3Ahref%3D%22%23m71c1e9f719%22%20y%3D%22232.164706%22%2F%3E%0D%0A%20%20%20%20%20%20%3C%2Fg%3E%0D%0A%20%20%20%20%20%3C%2Fg%3E%0D%0A%20%20%20%20%20%3Cg%20id%3D%22text_28%22%3E%0D%0A%20%20%20%20%20%20%3C!--%201.0%20--%3E%0D%0A%20%20%20%20%20%20%3Cg%20transform%3D%22translate(123.147151%20245.764706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8%22%3E%0D%0A%20%20%20%20%3Cg%20id%3D%22ytick_16%22%3E%0D%0A%20%20%20%20%20%3Cg%20id%3D%22line2d_28%22%3E%0D%0A%20%20%20%20%20%20%3Cg%3E%0D%0A%20%20%20%20%20%20%20%3Cuse%20style%3D%22stroke%3A%23000000%3Bstroke-width%3A0.8%3B%22%20x%3D%2230.4625%22%20xlink%3Ahref%3D%22%23med470e38ed%22%20y%3D%22232.164706%22%2F%3E%0D%0A%20%20%20%20%20%20%3C%2Fg%3E%0D%0A%20%20%20%20%20%3C%2Fg%3E%0D%0A%20%20%20%20%20%3Cg%20id%3D%22text_29%22%3E%0D%0A%20%20%20%20%20%20%3C!--%200.00%20--%3E%0D%0A%20%20%20%20%20%20%3Cg%20transform%3D%22translate(7.2%20235.4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17%22%3E%0D%0A%20%20%20%20%20%3Cg%20id%3D%22line2d_29%22%3E%0D%0A%20%20%20%20%20%20%3Cg%3E%0D%0A%20%20%20%20%20%20%20%3Cuse%20style%3D%22stroke%3A%23000000%3Bstroke-width%3A0.8%3B%22%20x%3D%2230.4625%22%20xlink%3Ahref%3D%22%23med470e38ed%22%20y%3D%22208.182353%22%2F%3E%0D%0A%20%20%20%20%20%20%3C%2Fg%3E%0D%0A%20%20%20%20%20%3C%2Fg%3E%0D%0A%20%20%20%20%20%3Cg%20id%3D%22text_30%22%3E%0D%0A%20%20%20%20%20%20%3C!--%200.25%20--%3E%0D%0A%20%20%20%20%20%20%3Cg%20transform%3D%22translate(7.2%20211.48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18%22%3E%0D%0A%20%20%20%20%20%3Cg%20id%3D%22line2d_30%22%3E%0D%0A%20%20%20%20%20%20%3Cg%3E%0D%0A%20%20%20%20%20%20%20%3Cuse%20style%3D%22stroke%3A%23000000%3Bstroke-width%3A0.8%3B%22%20x%3D%2230.4625%22%20xlink%3Ahref%3D%22%23med470e38ed%22%20y%3D%22184.2%22%2F%3E%0D%0A%20%20%20%20%20%20%3C%2Fg%3E%0D%0A%20%20%20%20%20%3C%2Fg%3E%0D%0A%20%20%20%20%20%3Cg%20id%3D%22text_31%22%3E%0D%0A%20%20%20%20%20%20%3C!--%200.50%20--%3E%0D%0A%20%20%20%20%20%20%3Cg%20transform%3D%22translate(7.2%20187.5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19%22%3E%0D%0A%20%20%20%20%20%3Cg%20id%3D%22line2d_31%22%3E%0D%0A%20%20%20%20%20%20%3Cg%3E%0D%0A%20%20%20%20%20%20%20%3Cuse%20style%3D%22stroke%3A%23000000%3Bstroke-width%3A0.8%3B%22%20x%3D%2230.4625%22%20xlink%3Ahref%3D%22%23med470e38ed%22%20y%3D%22160.217647%22%2F%3E%0D%0A%20%20%20%20%20%20%3C%2Fg%3E%0D%0A%20%20%20%20%20%3C%2Fg%3E%0D%0A%20%20%20%20%20%3Cg%20id%3D%22text_32%22%3E%0D%0A%20%20%20%20%20%20%3C!--%200.75%20--%3E%0D%0A%20%20%20%20%20%20%3Cg%20transform%3D%22translate(7.2%20163.51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20%22%3E%0D%0A%20%20%20%20%20%3Cg%20id%3D%22line2d_32%22%3E%0D%0A%20%20%20%20%20%20%3Cg%3E%0D%0A%20%20%20%20%20%20%20%3Cuse%20style%3D%22stroke%3A%23000000%3Bstroke-width%3A0.8%3B%22%20x%3D%2230.4625%22%20xlink%3Ahref%3D%22%23med470e38ed%22%20y%3D%22136.235294%22%2F%3E%0D%0A%20%20%20%20%20%20%3C%2Fg%3E%0D%0A%20%20%20%20%20%3C%2Fg%3E%0D%0A%20%20%20%20%20%3Cg%20id%3D%22text_33%22%3E%0D%0A%20%20%20%20%20%20%3C!--%201.00%20--%3E%0D%0A%20%20%20%20%20%20%3Cg%20transform%3D%22translate(7.2%20139.535294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18%22%3E%0D%0A%20%20%20%20%3Cpath%20d%3D%22M%2030.4625%20232.164706%20%0D%0AL%2030.4625%20136.235294%20%0D%0A%22%20style%3D%22fill%3Anone%3Bstroke%3A%23000000%3Bstroke-linecap%3Asquare%3Bstroke-linejoin%3Amiter%3Bstroke-width%3A0.8%3B%22%2F%3E%0D%0A%20%20%20%3C%2Fg%3E%0D%0A%20%20%20%3Cg%20id%3D%22patch_19%22%3E%0D%0A%20%20%20%20%3Cpath%20d%3D%22M%20128.933088%20232.164706%20%0D%0AL%20128.933088%20136.235294%20%0D%0A%22%20style%3D%22fill%3Anone%3Bstroke%3A%23000000%3Bstroke-linecap%3Asquare%3Bstroke-linejoin%3Amiter%3Bstroke-width%3A0.8%3B%22%2F%3E%0D%0A%20%20%20%3C%2Fg%3E%0D%0A%20%20%20%3Cg%20id%3D%22patch_20%22%3E%0D%0A%20%20%20%20%3Cpath%20d%3D%22M%2030.4625%20232.164706%20%0D%0AL%20128.933088%20232.164706%20%0D%0A%22%20style%3D%22fill%3Anone%3Bstroke%3A%23000000%3Bstroke-linecap%3Asquare%3Bstroke-linejoin%3Amiter%3Bstroke-width%3A0.8%3B%22%2F%3E%0D%0A%20%20%20%3C%2Fg%3E%0D%0A%20%20%20%3Cg%20id%3D%22patch_21%22%3E%0D%0A%20%20%20%20%3Cpath%20d%3D%22M%2030.4625%20136.235294%20%0D%0AL%20128.933088%20136.235294%20%0D%0A%22%20style%3D%22fill%3Anone%3Bstroke%3A%23000000%3Bstroke-linecap%3Asquare%3Bstroke-linejoin%3Amiter%3Bstroke-width%3A0.8%3B%22%2F%3E%0D%0A%20%20%20%3C%2Fg%3E%0D%0A%20%20%3C%2Fg%3E%0D%0A%20%20%3Cg%20id%3D%22axes_5%22%3E%0D%0A%20%20%20%3Cg%20id%3D%22patch_22%22%3E%0D%0A%20%20%20%20%3Cpath%20d%3D%22M%20148.627206%20232.164706%20%0D%0AL%20247.097794%20232.164706%20%0D%0AL%20247.097794%20136.235294%20%0D%0AL%20148.627206%20136.235294%20%0D%0Az%0D%0A%22%20style%3D%22fill%3A%23ffffff%3B%22%2F%3E%0D%0A%20%20%20%3C%2Fg%3E%0D%0A%20%20%20%3Cg%20id%3D%22matplotlib.axis_9%22%3E%0D%0A%20%20%20%20%3Cg%20id%3D%22xtick_13%22%3E%0D%0A%20%20%20%20%20%3Cg%20id%3D%22line2d_33%22%3E%0D%0A%20%20%20%20%20%20%3Cg%3E%0D%0A%20%20%20%20%20%20%20%3Cuse%20style%3D%22stroke%3A%23000000%3Bstroke-width%3A0.8%3B%22%20x%3D%22148.627206%22%20xlink%3Ahref%3D%22%23m71c1e9f719%22%20y%3D%22232.164706%22%2F%3E%0D%0A%20%20%20%20%20%20%3C%2Fg%3E%0D%0A%20%20%20%20%20%3C%2Fg%3E%0D%0A%20%20%20%20%20%3Cg%20id%3D%22text_34%22%3E%0D%0A%20%20%20%20%20%20%3C!--%200.0%20--%3E%0D%0A%20%20%20%20%20%20%3Cg%20transform%3D%22translate(142.841268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14%22%3E%0D%0A%20%20%20%20%20%3Cg%20id%3D%22line2d_34%22%3E%0D%0A%20%20%20%20%20%20%3Cg%3E%0D%0A%20%20%20%20%20%20%20%3Cuse%20style%3D%22stroke%3A%23000000%3Bstroke-width%3A0.8%3B%22%20x%3D%22197.8625%22%20xlink%3Ahref%3D%22%23m71c1e9f719%22%20y%3D%22232.164706%22%2F%3E%0D%0A%20%20%20%20%20%20%3C%2Fg%3E%0D%0A%20%20%20%20%20%3C%2Fg%3E%0D%0A%20%20%20%20%20%3Cg%20id%3D%22text_35%22%3E%0D%0A%20%20%20%20%20%20%3C!--%200.5%20--%3E%0D%0A%20%20%20%20%20%20%3Cg%20transform%3D%22translate(192.076563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15%22%3E%0D%0A%20%20%20%20%20%3Cg%20id%3D%22line2d_35%22%3E%0D%0A%20%20%20%20%20%20%3Cg%3E%0D%0A%20%20%20%20%20%20%20%3Cuse%20style%3D%22stroke%3A%23000000%3Bstroke-width%3A0.8%3B%22%20x%3D%22247.097794%22%20xlink%3Ahref%3D%22%23m71c1e9f719%22%20y%3D%22232.164706%22%2F%3E%0D%0A%20%20%20%20%20%20%3C%2Fg%3E%0D%0A%20%20%20%20%20%3C%2Fg%3E%0D%0A%20%20%20%20%20%3Cg%20id%3D%22text_36%22%3E%0D%0A%20%20%20%20%20%20%3C!--%201.0%20--%3E%0D%0A%20%20%20%20%20%20%3Cg%20transform%3D%22translate(241.311857%20245.764706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10%22%3E%0D%0A%20%20%20%20%3Cg%20id%3D%22ytick_21%22%3E%0D%0A%20%20%20%20%20%3Cg%20id%3D%22line2d_36%22%3E%0D%0A%20%20%20%20%20%20%3Cg%3E%0D%0A%20%20%20%20%20%20%20%3Cuse%20style%3D%22stroke%3A%23000000%3Bstroke-width%3A0.8%3B%22%20x%3D%22148.627206%22%20xlink%3Ahref%3D%22%23med470e38ed%22%20y%3D%22232.164706%22%2F%3E%0D%0A%20%20%20%20%20%20%3C%2Fg%3E%0D%0A%20%20%20%20%20%3C%2Fg%3E%0D%0A%20%20%20%20%20%3Cg%20id%3D%22text_37%22%3E%0D%0A%20%20%20%20%20%20%3C!--%200.00%20--%3E%0D%0A%20%20%20%20%20%20%3Cg%20transform%3D%22translate(125.364706%20235.4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22%22%3E%0D%0A%20%20%20%20%20%3Cg%20id%3D%22line2d_37%22%3E%0D%0A%20%20%20%20%20%20%3Cg%3E%0D%0A%20%20%20%20%20%20%20%3Cuse%20style%3D%22stroke%3A%23000000%3Bstroke-width%3A0.8%3B%22%20x%3D%22148.627206%22%20xlink%3Ahref%3D%22%23med470e38ed%22%20y%3D%22208.182353%22%2F%3E%0D%0A%20%20%20%20%20%20%3C%2Fg%3E%0D%0A%20%20%20%20%20%3C%2Fg%3E%0D%0A%20%20%20%20%20%3Cg%20id%3D%22text_38%22%3E%0D%0A%20%20%20%20%20%20%3C!--%200.25%20--%3E%0D%0A%20%20%20%20%20%20%3Cg%20transform%3D%22translate(125.364706%20211.48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23%22%3E%0D%0A%20%20%20%20%20%3Cg%20id%3D%22line2d_38%22%3E%0D%0A%20%20%20%20%20%20%3Cg%3E%0D%0A%20%20%20%20%20%20%20%3Cuse%20style%3D%22stroke%3A%23000000%3Bstroke-width%3A0.8%3B%22%20x%3D%22148.627206%22%20xlink%3Ahref%3D%22%23med470e38ed%22%20y%3D%22184.2%22%2F%3E%0D%0A%20%20%20%20%20%20%3C%2Fg%3E%0D%0A%20%20%20%20%20%3C%2Fg%3E%0D%0A%20%20%20%20%20%3Cg%20id%3D%22text_39%22%3E%0D%0A%20%20%20%20%20%20%3C!--%200.50%20--%3E%0D%0A%20%20%20%20%20%20%3Cg%20transform%3D%22translate(125.364706%20187.5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24%22%3E%0D%0A%20%20%20%20%20%3Cg%20id%3D%22line2d_39%22%3E%0D%0A%20%20%20%20%20%20%3Cg%3E%0D%0A%20%20%20%20%20%20%20%3Cuse%20style%3D%22stroke%3A%23000000%3Bstroke-width%3A0.8%3B%22%20x%3D%22148.627206%22%20xlink%3Ahref%3D%22%23med470e38ed%22%20y%3D%22160.217647%22%2F%3E%0D%0A%20%20%20%20%20%20%3C%2Fg%3E%0D%0A%20%20%20%20%20%3C%2Fg%3E%0D%0A%20%20%20%20%20%3Cg%20id%3D%22text_40%22%3E%0D%0A%20%20%20%20%20%20%3C!--%200.75%20--%3E%0D%0A%20%20%20%20%20%20%3Cg%20transform%3D%22translate(125.364706%20163.51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25%22%3E%0D%0A%20%20%20%20%20%3Cg%20id%3D%22line2d_40%22%3E%0D%0A%20%20%20%20%20%20%3Cg%3E%0D%0A%20%20%20%20%20%20%20%3Cuse%20style%3D%22stroke%3A%23000000%3Bstroke-width%3A0.8%3B%22%20x%3D%22148.627206%22%20xlink%3Ahref%3D%22%23med470e38ed%22%20y%3D%22136.235294%22%2F%3E%0D%0A%20%20%20%20%20%20%3C%2Fg%3E%0D%0A%20%20%20%20%20%3C%2Fg%3E%0D%0A%20%20%20%20%20%3Cg%20id%3D%22text_41%22%3E%0D%0A%20%20%20%20%20%20%3C!--%201.00%20--%3E%0D%0A%20%20%20%20%20%20%3Cg%20transform%3D%22translate(125.364706%20139.535294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23%22%3E%0D%0A%20%20%20%20%3Cpath%20d%3D%22M%20148.627206%20232.164706%20%0D%0AL%20148.627206%20136.235294%20%0D%0A%22%20style%3D%22fill%3Anone%3Bstroke%3A%23000000%3Bstroke-linecap%3Asquare%3Bstroke-linejoin%3Amiter%3Bstroke-width%3A0.8%3B%22%2F%3E%0D%0A%20%20%20%3C%2Fg%3E%0D%0A%20%20%20%3Cg%20id%3D%22patch_24%22%3E%0D%0A%20%20%20%20%3Cpath%20d%3D%22M%20247.097794%20232.164706%20%0D%0AL%20247.097794%20136.235294%20%0D%0A%22%20style%3D%22fill%3Anone%3Bstroke%3A%23000000%3Bstroke-linecap%3Asquare%3Bstroke-linejoin%3Amiter%3Bstroke-width%3A0.8%3B%22%2F%3E%0D%0A%20%20%20%3C%2Fg%3E%0D%0A%20%20%20%3Cg%20id%3D%22patch_25%22%3E%0D%0A%20%20%20%20%3Cpath%20d%3D%22M%20148.627206%20232.164706%20%0D%0AL%20247.097794%20232.164706%20%0D%0A%22%20style%3D%22fill%3Anone%3Bstroke%3A%23000000%3Bstroke-linecap%3Asquare%3Bstroke-linejoin%3Amiter%3Bstroke-width%3A0.8%3B%22%2F%3E%0D%0A%20%20%20%3C%2Fg%3E%0D%0A%20%20%20%3Cg%20id%3D%22patch_26%22%3E%0D%0A%20%20%20%20%3Cpath%20d%3D%22M%20148.627206%20136.235294%20%0D%0AL%20247.097794%20136.235294%20%0D%0A%22%20style%3D%22fill%3Anone%3Bstroke%3A%23000000%3Bstroke-linecap%3Asquare%3Bstroke-linejoin%3Amiter%3Bstroke-width%3A0.8%3B%22%2F%3E%0D%0A%20%20%20%3C%2Fg%3E%0D%0A%20%20%3C%2Fg%3E%0D%0A%20%20%3Cg%20id%3D%22axes_6%22%3E%0D%0A%20%20%20%3Cg%20id%3D%22patch_27%22%3E%0D%0A%20%20%20%20%3Cpath%20d%3D%22M%20266.791912%20232.164706%20%0D%0AL%20365.2625%20232.164706%20%0D%0AL%20365.2625%20136.235294%20%0D%0AL%20266.791912%20136.235294%20%0D%0Az%0D%0A%22%20style%3D%22fill%3A%23ffffff%3B%22%2F%3E%0D%0A%20%20%20%3C%2Fg%3E%0D%0A%20%20%20%3Cg%20id%3D%22matplotlib.axis_11%22%3E%0D%0A%20%20%20%20%3Cg%20id%3D%22xtick_16%22%3E%0D%0A%20%20%20%20%20%3Cg%20id%3D%22line2d_41%22%3E%0D%0A%20%20%20%20%20%20%3Cg%3E%0D%0A%20%20%20%20%20%20%20%3Cuse%20style%3D%22stroke%3A%23000000%3Bstroke-width%3A0.8%3B%22%20x%3D%22266.791912%22%20xlink%3Ahref%3D%22%23m71c1e9f719%22%20y%3D%22232.164706%22%2F%3E%0D%0A%20%20%20%20%20%20%3C%2Fg%3E%0D%0A%20%20%20%20%20%3C%2Fg%3E%0D%0A%20%20%20%20%20%3Cg%20id%3D%22text_42%22%3E%0D%0A%20%20%20%20%20%20%3C!--%200.0%20--%3E%0D%0A%20%20%20%20%20%20%3Cg%20transform%3D%22translate(261.005974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17%22%3E%0D%0A%20%20%20%20%20%3Cg%20id%3D%22line2d_42%22%3E%0D%0A%20%20%20%20%20%20%3Cg%3E%0D%0A%20%20%20%20%20%20%20%3Cuse%20style%3D%22stroke%3A%23000000%3Bstroke-width%3A0.8%3B%22%20x%3D%22316.027206%22%20xlink%3Ahref%3D%22%23m71c1e9f719%22%20y%3D%22232.164706%22%2F%3E%0D%0A%20%20%20%20%20%20%3C%2Fg%3E%0D%0A%20%20%20%20%20%3C%2Fg%3E%0D%0A%20%20%20%20%20%3Cg%20id%3D%22text_43%22%3E%0D%0A%20%20%20%20%20%20%3C!--%200.5%20--%3E%0D%0A%20%20%20%20%20%20%3Cg%20transform%3D%22translate(310.241268%20245.7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18%22%3E%0D%0A%20%20%20%20%20%3Cg%20id%3D%22line2d_43%22%3E%0D%0A%20%20%20%20%20%20%3Cg%3E%0D%0A%20%20%20%20%20%20%20%3Cuse%20style%3D%22stroke%3A%23000000%3Bstroke-width%3A0.8%3B%22%20x%3D%22365.2625%22%20xlink%3Ahref%3D%22%23m71c1e9f719%22%20y%3D%22232.164706%22%2F%3E%0D%0A%20%20%20%20%20%20%3C%2Fg%3E%0D%0A%20%20%20%20%20%3C%2Fg%3E%0D%0A%20%20%20%20%20%3Cg%20id%3D%22text_44%22%3E%0D%0A%20%20%20%20%20%20%3C!--%201.0%20--%3E%0D%0A%20%20%20%20%20%20%3Cg%20transform%3D%22translate(359.476563%20245.764706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12%22%3E%0D%0A%20%20%20%20%3Cg%20id%3D%22ytick_26%22%3E%0D%0A%20%20%20%20%20%3Cg%20id%3D%22line2d_44%22%3E%0D%0A%20%20%20%20%20%20%3Cg%3E%0D%0A%20%20%20%20%20%20%20%3Cuse%20style%3D%22stroke%3A%23000000%3Bstroke-width%3A0.8%3B%22%20x%3D%22266.791912%22%20xlink%3Ahref%3D%22%23med470e38ed%22%20y%3D%22232.164706%22%2F%3E%0D%0A%20%20%20%20%20%20%3C%2Fg%3E%0D%0A%20%20%20%20%20%3C%2Fg%3E%0D%0A%20%20%20%20%20%3Cg%20id%3D%22text_45%22%3E%0D%0A%20%20%20%20%20%20%3C!--%200.00%20--%3E%0D%0A%20%20%20%20%20%20%3Cg%20transform%3D%22translate(243.529412%20235.464706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27%22%3E%0D%0A%20%20%20%20%20%3Cg%20id%3D%22line2d_45%22%3E%0D%0A%20%20%20%20%20%20%3Cg%3E%0D%0A%20%20%20%20%20%20%20%3Cuse%20style%3D%22stroke%3A%23000000%3Bstroke-width%3A0.8%3B%22%20x%3D%22266.791912%22%20xlink%3Ahref%3D%22%23med470e38ed%22%20y%3D%22208.182353%22%2F%3E%0D%0A%20%20%20%20%20%20%3C%2Fg%3E%0D%0A%20%20%20%20%20%3C%2Fg%3E%0D%0A%20%20%20%20%20%3Cg%20id%3D%22text_46%22%3E%0D%0A%20%20%20%20%20%20%3C!--%200.25%20--%3E%0D%0A%20%20%20%20%20%20%3Cg%20transform%3D%22translate(243.529412%20211.482353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28%22%3E%0D%0A%20%20%20%20%20%3Cg%20id%3D%22line2d_46%22%3E%0D%0A%20%20%20%20%20%20%3Cg%3E%0D%0A%20%20%20%20%20%20%20%3Cuse%20style%3D%22stroke%3A%23000000%3Bstroke-width%3A0.8%3B%22%20x%3D%22266.791912%22%20xlink%3Ahref%3D%22%23med470e38ed%22%20y%3D%22184.2%22%2F%3E%0D%0A%20%20%20%20%20%20%3C%2Fg%3E%0D%0A%20%20%20%20%20%3C%2Fg%3E%0D%0A%20%20%20%20%20%3Cg%20id%3D%22text_47%22%3E%0D%0A%20%20%20%20%20%20%3C!--%200.50%20--%3E%0D%0A%20%20%20%20%20%20%3Cg%20transform%3D%22translate(243.529412%20187.5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29%22%3E%0D%0A%20%20%20%20%20%3Cg%20id%3D%22line2d_47%22%3E%0D%0A%20%20%20%20%20%20%3Cg%3E%0D%0A%20%20%20%20%20%20%20%3Cuse%20style%3D%22stroke%3A%23000000%3Bstroke-width%3A0.8%3B%22%20x%3D%22266.791912%22%20xlink%3Ahref%3D%22%23med470e38ed%22%20y%3D%22160.217647%22%2F%3E%0D%0A%20%20%20%20%20%20%3C%2Fg%3E%0D%0A%20%20%20%20%20%3C%2Fg%3E%0D%0A%20%20%20%20%20%3Cg%20id%3D%22text_48%22%3E%0D%0A%20%20%20%20%20%20%3C!--%200.75%20--%3E%0D%0A%20%20%20%20%20%20%3Cg%20transform%3D%22translate(243.529412%20163.51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30%22%3E%0D%0A%20%20%20%20%20%3Cg%20id%3D%22line2d_48%22%3E%0D%0A%20%20%20%20%20%20%3Cg%3E%0D%0A%20%20%20%20%20%20%20%3Cuse%20style%3D%22stroke%3A%23000000%3Bstroke-width%3A0.8%3B%22%20x%3D%22266.791912%22%20xlink%3Ahref%3D%22%23med470e38ed%22%20y%3D%22136.235294%22%2F%3E%0D%0A%20%20%20%20%20%20%3C%2Fg%3E%0D%0A%20%20%20%20%20%3C%2Fg%3E%0D%0A%20%20%20%20%20%3Cg%20id%3D%22text_49%22%3E%0D%0A%20%20%20%20%20%20%3C!--%201.00%20--%3E%0D%0A%20%20%20%20%20%20%3Cg%20transform%3D%22translate(243.529412%20139.535294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28%22%3E%0D%0A%20%20%20%20%3Cpath%20d%3D%22M%20266.791912%20232.164706%20%0D%0AL%20266.791912%20136.235294%20%0D%0A%22%20style%3D%22fill%3Anone%3Bstroke%3A%23000000%3Bstroke-linecap%3Asquare%3Bstroke-linejoin%3Amiter%3Bstroke-width%3A0.8%3B%22%2F%3E%0D%0A%20%20%20%3C%2Fg%3E%0D%0A%20%20%20%3Cg%20id%3D%22patch_29%22%3E%0D%0A%20%20%20%20%3Cpath%20d%3D%22M%20365.2625%20232.164706%20%0D%0AL%20365.2625%20136.235294%20%0D%0A%22%20style%3D%22fill%3Anone%3Bstroke%3A%23000000%3Bstroke-linecap%3Asquare%3Bstroke-linejoin%3Amiter%3Bstroke-width%3A0.8%3B%22%2F%3E%0D%0A%20%20%20%3C%2Fg%3E%0D%0A%20%20%20%3Cg%20id%3D%22patch_30%22%3E%0D%0A%20%20%20%20%3Cpath%20d%3D%22M%20266.791912%20232.164706%20%0D%0AL%20365.2625%20232.164706%20%0D%0A%22%20style%3D%22fill%3Anone%3Bstroke%3A%23000000%3Bstroke-linecap%3Asquare%3Bstroke-linejoin%3Amiter%3Bstroke-width%3A0.8%3B%22%2F%3E%0D%0A%20%20%20%3C%2Fg%3E%0D%0A%20%20%20%3Cg%20id%3D%22patch_31%22%3E%0D%0A%20%20%20%20%3Cpath%20d%3D%22M%20266.791912%20136.235294%20%0D%0AL%20365.2625%20136.235294%20%0D%0A%22%20style%3D%22fill%3Anone%3Bstroke%3A%23000000%3Bstroke-linecap%3Asquare%3Bstroke-linejoin%3Amiter%3Bstroke-width%3A0.8%3B%22%2F%3E%0D%0A%20%20%20%3C%2Fg%3E%0D%0A%20%20%3C%2Fg%3E%0D%0A%20%20%3Cg%20id%3D%22axes_7%22%3E%0D%0A%20%20%20%3Cg%20id%3D%22patch_32%22%3E%0D%0A%20%20%20%20%3Cpath%20d%3D%22M%2030.4625%20347.28%20%0D%0AL%20128.933088%20347.28%20%0D%0AL%20128.933088%20251.350588%20%0D%0AL%2030.4625%20251.350588%20%0D%0Az%0D%0A%22%20style%3D%22fill%3A%23ffffff%3B%22%2F%3E%0D%0A%20%20%20%3C%2Fg%3E%0D%0A%20%20%20%3Cg%20id%3D%22matplotlib.axis_13%22%3E%0D%0A%20%20%20%20%3Cg%20id%3D%22xtick_19%22%3E%0D%0A%20%20%20%20%20%3Cg%20id%3D%22line2d_49%22%3E%0D%0A%20%20%20%20%20%20%3Cg%3E%0D%0A%20%20%20%20%20%20%20%3Cuse%20style%3D%22stroke%3A%23000000%3Bstroke-width%3A0.8%3B%22%20x%3D%2230.4625%22%20xlink%3Ahref%3D%22%23m71c1e9f719%22%20y%3D%22347.28%22%2F%3E%0D%0A%20%20%20%20%20%20%3C%2Fg%3E%0D%0A%20%20%20%20%20%3C%2Fg%3E%0D%0A%20%20%20%20%20%3Cg%20id%3D%22text_50%22%3E%0D%0A%20%20%20%20%20%20%3C!--%200.0%20--%3E%0D%0A%20%20%20%20%20%20%3Cg%20transform%3D%22translate(24.676562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20%22%3E%0D%0A%20%20%20%20%20%3Cg%20id%3D%22line2d_50%22%3E%0D%0A%20%20%20%20%20%20%3Cg%3E%0D%0A%20%20%20%20%20%20%20%3Cuse%20style%3D%22stroke%3A%23000000%3Bstroke-width%3A0.8%3B%22%20x%3D%2279.697794%22%20xlink%3Ahref%3D%22%23m71c1e9f719%22%20y%3D%22347.28%22%2F%3E%0D%0A%20%20%20%20%20%20%3C%2Fg%3E%0D%0A%20%20%20%20%20%3C%2Fg%3E%0D%0A%20%20%20%20%20%3Cg%20id%3D%22text_51%22%3E%0D%0A%20%20%20%20%20%20%3C!--%200.5%20--%3E%0D%0A%20%20%20%20%20%20%3Cg%20transform%3D%22translate(73.911857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21%22%3E%0D%0A%20%20%20%20%20%3Cg%20id%3D%22line2d_51%22%3E%0D%0A%20%20%20%20%20%20%3Cg%3E%0D%0A%20%20%20%20%20%20%20%3Cuse%20style%3D%22stroke%3A%23000000%3Bstroke-width%3A0.8%3B%22%20x%3D%22128.933088%22%20xlink%3Ahref%3D%22%23m71c1e9f719%22%20y%3D%22347.28%22%2F%3E%0D%0A%20%20%20%20%20%20%3C%2Fg%3E%0D%0A%20%20%20%20%20%3C%2Fg%3E%0D%0A%20%20%20%20%20%3Cg%20id%3D%22text_52%22%3E%0D%0A%20%20%20%20%20%20%3C!--%201.0%20--%3E%0D%0A%20%20%20%20%20%20%3Cg%20transform%3D%22translate(123.147151%20360.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14%22%3E%0D%0A%20%20%20%20%3Cg%20id%3D%22ytick_31%22%3E%0D%0A%20%20%20%20%20%3Cg%20id%3D%22line2d_52%22%3E%0D%0A%20%20%20%20%20%20%3Cg%3E%0D%0A%20%20%20%20%20%20%20%3Cuse%20style%3D%22stroke%3A%23000000%3Bstroke-width%3A0.8%3B%22%20x%3D%2230.4625%22%20xlink%3Ahref%3D%22%23med470e38ed%22%20y%3D%22347.28%22%2F%3E%0D%0A%20%20%20%20%20%20%3C%2Fg%3E%0D%0A%20%20%20%20%20%3C%2Fg%3E%0D%0A%20%20%20%20%20%3Cg%20id%3D%22text_53%22%3E%0D%0A%20%20%20%20%20%20%3C!--%200.00%20--%3E%0D%0A%20%20%20%20%20%20%3Cg%20transform%3D%22translate(7.2%20350.5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32%22%3E%0D%0A%20%20%20%20%20%3Cg%20id%3D%22line2d_53%22%3E%0D%0A%20%20%20%20%20%20%3Cg%3E%0D%0A%20%20%20%20%20%20%20%3Cuse%20style%3D%22stroke%3A%23000000%3Bstroke-width%3A0.8%3B%22%20x%3D%2230.4625%22%20xlink%3Ahref%3D%22%23med470e38ed%22%20y%3D%22323.297647%22%2F%3E%0D%0A%20%20%20%20%20%20%3C%2Fg%3E%0D%0A%20%20%20%20%20%3C%2Fg%3E%0D%0A%20%20%20%20%20%3Cg%20id%3D%22text_54%22%3E%0D%0A%20%20%20%20%20%20%3C!--%200.25%20--%3E%0D%0A%20%20%20%20%20%20%3Cg%20transform%3D%22translate(7.2%20326.59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33%22%3E%0D%0A%20%20%20%20%20%3Cg%20id%3D%22line2d_54%22%3E%0D%0A%20%20%20%20%20%20%3Cg%3E%0D%0A%20%20%20%20%20%20%20%3Cuse%20style%3D%22stroke%3A%23000000%3Bstroke-width%3A0.8%3B%22%20x%3D%2230.4625%22%20xlink%3Ahref%3D%22%23med470e38ed%22%20y%3D%22299.315294%22%2F%3E%0D%0A%20%20%20%20%20%20%3C%2Fg%3E%0D%0A%20%20%20%20%20%3C%2Fg%3E%0D%0A%20%20%20%20%20%3Cg%20id%3D%22text_55%22%3E%0D%0A%20%20%20%20%20%20%3C!--%200.50%20--%3E%0D%0A%20%20%20%20%20%20%3Cg%20transform%3D%22translate(7.2%20302.615294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34%22%3E%0D%0A%20%20%20%20%20%3Cg%20id%3D%22line2d_55%22%3E%0D%0A%20%20%20%20%20%20%3Cg%3E%0D%0A%20%20%20%20%20%20%20%3Cuse%20style%3D%22stroke%3A%23000000%3Bstroke-width%3A0.8%3B%22%20x%3D%2230.4625%22%20xlink%3Ahref%3D%22%23med470e38ed%22%20y%3D%22275.332941%22%2F%3E%0D%0A%20%20%20%20%20%20%3C%2Fg%3E%0D%0A%20%20%20%20%20%3C%2Fg%3E%0D%0A%20%20%20%20%20%3Cg%20id%3D%22text_56%22%3E%0D%0A%20%20%20%20%20%20%3C!--%200.75%20--%3E%0D%0A%20%20%20%20%20%20%3Cg%20transform%3D%22translate(7.2%20278.632941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35%22%3E%0D%0A%20%20%20%20%20%3Cg%20id%3D%22line2d_56%22%3E%0D%0A%20%20%20%20%20%20%3Cg%3E%0D%0A%20%20%20%20%20%20%20%3Cuse%20style%3D%22stroke%3A%23000000%3Bstroke-width%3A0.8%3B%22%20x%3D%2230.4625%22%20xlink%3Ahref%3D%22%23med470e38ed%22%20y%3D%22251.350588%22%2F%3E%0D%0A%20%20%20%20%20%20%3C%2Fg%3E%0D%0A%20%20%20%20%20%3C%2Fg%3E%0D%0A%20%20%20%20%20%3Cg%20id%3D%22text_57%22%3E%0D%0A%20%20%20%20%20%20%3C!--%201.00%20--%3E%0D%0A%20%20%20%20%20%20%3Cg%20transform%3D%22translate(7.2%20254.6505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33%22%3E%0D%0A%20%20%20%20%3Cpath%20d%3D%22M%2030.4625%20347.28%20%0D%0AL%2030.4625%20251.350588%20%0D%0A%22%20style%3D%22fill%3Anone%3Bstroke%3A%23000000%3Bstroke-linecap%3Asquare%3Bstroke-linejoin%3Amiter%3Bstroke-width%3A0.8%3B%22%2F%3E%0D%0A%20%20%20%3C%2Fg%3E%0D%0A%20%20%20%3Cg%20id%3D%22patch_34%22%3E%0D%0A%20%20%20%20%3Cpath%20d%3D%22M%20128.933088%20347.28%20%0D%0AL%20128.933088%20251.350588%20%0D%0A%22%20style%3D%22fill%3Anone%3Bstroke%3A%23000000%3Bstroke-linecap%3Asquare%3Bstroke-linejoin%3Amiter%3Bstroke-width%3A0.8%3B%22%2F%3E%0D%0A%20%20%20%3C%2Fg%3E%0D%0A%20%20%20%3Cg%20id%3D%22patch_35%22%3E%0D%0A%20%20%20%20%3Cpath%20d%3D%22M%2030.4625%20347.28%20%0D%0AL%20128.933088%20347.28%20%0D%0A%22%20style%3D%22fill%3Anone%3Bstroke%3A%23000000%3Bstroke-linecap%3Asquare%3Bstroke-linejoin%3Amiter%3Bstroke-width%3A0.8%3B%22%2F%3E%0D%0A%20%20%20%3C%2Fg%3E%0D%0A%20%20%20%3Cg%20id%3D%22patch_36%22%3E%0D%0A%20%20%20%20%3Cpath%20d%3D%22M%2030.4625%20251.350588%20%0D%0AL%20128.933088%20251.350588%20%0D%0A%22%20style%3D%22fill%3Anone%3Bstroke%3A%23000000%3Bstroke-linecap%3Asquare%3Bstroke-linejoin%3Amiter%3Bstroke-width%3A0.8%3B%22%2F%3E%0D%0A%20%20%20%3C%2Fg%3E%0D%0A%20%20%3C%2Fg%3E%0D%0A%20%20%3Cg%20id%3D%22axes_8%22%3E%0D%0A%20%20%20%3Cg%20id%3D%22patch_37%22%3E%0D%0A%20%20%20%20%3Cpath%20d%3D%22M%20148.627206%20347.28%20%0D%0AL%20247.097794%20347.28%20%0D%0AL%20247.097794%20251.350588%20%0D%0AL%20148.627206%20251.350588%20%0D%0Az%0D%0A%22%20style%3D%22fill%3A%23ffffff%3B%22%2F%3E%0D%0A%20%20%20%3C%2Fg%3E%0D%0A%20%20%20%3Cg%20id%3D%22matplotlib.axis_15%22%3E%0D%0A%20%20%20%20%3Cg%20id%3D%22xtick_22%22%3E%0D%0A%20%20%20%20%20%3Cg%20id%3D%22line2d_57%22%3E%0D%0A%20%20%20%20%20%20%3Cg%3E%0D%0A%20%20%20%20%20%20%20%3Cuse%20style%3D%22stroke%3A%23000000%3Bstroke-width%3A0.8%3B%22%20x%3D%22148.627206%22%20xlink%3Ahref%3D%22%23m71c1e9f719%22%20y%3D%22347.28%22%2F%3E%0D%0A%20%20%20%20%20%20%3C%2Fg%3E%0D%0A%20%20%20%20%20%3C%2Fg%3E%0D%0A%20%20%20%20%20%3Cg%20id%3D%22text_58%22%3E%0D%0A%20%20%20%20%20%20%3C!--%200.0%20--%3E%0D%0A%20%20%20%20%20%20%3Cg%20transform%3D%22translate(142.841268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23%22%3E%0D%0A%20%20%20%20%20%3Cg%20id%3D%22line2d_58%22%3E%0D%0A%20%20%20%20%20%20%3Cg%3E%0D%0A%20%20%20%20%20%20%20%3Cuse%20style%3D%22stroke%3A%23000000%3Bstroke-width%3A0.8%3B%22%20x%3D%22197.8625%22%20xlink%3Ahref%3D%22%23m71c1e9f719%22%20y%3D%22347.28%22%2F%3E%0D%0A%20%20%20%20%20%20%3C%2Fg%3E%0D%0A%20%20%20%20%20%3C%2Fg%3E%0D%0A%20%20%20%20%20%3Cg%20id%3D%22text_59%22%3E%0D%0A%20%20%20%20%20%20%3C!--%200.5%20--%3E%0D%0A%20%20%20%20%20%20%3Cg%20transform%3D%22translate(192.076563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24%22%3E%0D%0A%20%20%20%20%20%3Cg%20id%3D%22line2d_59%22%3E%0D%0A%20%20%20%20%20%20%3Cg%3E%0D%0A%20%20%20%20%20%20%20%3Cuse%20style%3D%22stroke%3A%23000000%3Bstroke-width%3A0.8%3B%22%20x%3D%22247.097794%22%20xlink%3Ahref%3D%22%23m71c1e9f719%22%20y%3D%22347.28%22%2F%3E%0D%0A%20%20%20%20%20%20%3C%2Fg%3E%0D%0A%20%20%20%20%20%3C%2Fg%3E%0D%0A%20%20%20%20%20%3Cg%20id%3D%22text_60%22%3E%0D%0A%20%20%20%20%20%20%3C!--%201.0%20--%3E%0D%0A%20%20%20%20%20%20%3Cg%20transform%3D%22translate(241.311857%20360.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3C%2Fg%3E%0D%0A%20%20%20%3Cg%20id%3D%22matplotlib.axis_16%22%3E%0D%0A%20%20%20%20%3Cg%20id%3D%22ytick_36%22%3E%0D%0A%20%20%20%20%20%3Cg%20id%3D%22line2d_60%22%3E%0D%0A%20%20%20%20%20%20%3Cg%3E%0D%0A%20%20%20%20%20%20%20%3Cuse%20style%3D%22stroke%3A%23000000%3Bstroke-width%3A0.8%3B%22%20x%3D%22148.627206%22%20xlink%3Ahref%3D%22%23med470e38ed%22%20y%3D%22347.28%22%2F%3E%0D%0A%20%20%20%20%20%20%3C%2Fg%3E%0D%0A%20%20%20%20%20%3C%2Fg%3E%0D%0A%20%20%20%20%20%3Cg%20id%3D%22text_61%22%3E%0D%0A%20%20%20%20%20%20%3C!--%200.00%20--%3E%0D%0A%20%20%20%20%20%20%3Cg%20transform%3D%22translate(125.364706%20350.5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37%22%3E%0D%0A%20%20%20%20%20%3Cg%20id%3D%22line2d_61%22%3E%0D%0A%20%20%20%20%20%20%3Cg%3E%0D%0A%20%20%20%20%20%20%20%3Cuse%20style%3D%22stroke%3A%23000000%3Bstroke-width%3A0.8%3B%22%20x%3D%22148.627206%22%20xlink%3Ahref%3D%22%23med470e38ed%22%20y%3D%22323.297647%22%2F%3E%0D%0A%20%20%20%20%20%20%3C%2Fg%3E%0D%0A%20%20%20%20%20%3C%2Fg%3E%0D%0A%20%20%20%20%20%3Cg%20id%3D%22text_62%22%3E%0D%0A%20%20%20%20%20%20%3C!--%200.25%20--%3E%0D%0A%20%20%20%20%20%20%3Cg%20transform%3D%22translate(125.364706%20326.59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38%22%3E%0D%0A%20%20%20%20%20%3Cg%20id%3D%22line2d_62%22%3E%0D%0A%20%20%20%20%20%20%3Cg%3E%0D%0A%20%20%20%20%20%20%20%3Cuse%20style%3D%22stroke%3A%23000000%3Bstroke-width%3A0.8%3B%22%20x%3D%22148.627206%22%20xlink%3Ahref%3D%22%23med470e38ed%22%20y%3D%22299.315294%22%2F%3E%0D%0A%20%20%20%20%20%20%3C%2Fg%3E%0D%0A%20%20%20%20%20%3C%2Fg%3E%0D%0A%20%20%20%20%20%3Cg%20id%3D%22text_63%22%3E%0D%0A%20%20%20%20%20%20%3C!--%200.50%20--%3E%0D%0A%20%20%20%20%20%20%3Cg%20transform%3D%22translate(125.364706%20302.615294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39%22%3E%0D%0A%20%20%20%20%20%3Cg%20id%3D%22line2d_63%22%3E%0D%0A%20%20%20%20%20%20%3Cg%3E%0D%0A%20%20%20%20%20%20%20%3Cuse%20style%3D%22stroke%3A%23000000%3Bstroke-width%3A0.8%3B%22%20x%3D%22148.627206%22%20xlink%3Ahref%3D%22%23med470e38ed%22%20y%3D%22275.332941%22%2F%3E%0D%0A%20%20%20%20%20%20%3C%2Fg%3E%0D%0A%20%20%20%20%20%3C%2Fg%3E%0D%0A%20%20%20%20%20%3Cg%20id%3D%22text_64%22%3E%0D%0A%20%20%20%20%20%20%3C!--%200.75%20--%3E%0D%0A%20%20%20%20%20%20%3Cg%20transform%3D%22translate(125.364706%20278.632941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40%22%3E%0D%0A%20%20%20%20%20%3Cg%20id%3D%22line2d_64%22%3E%0D%0A%20%20%20%20%20%20%3Cg%3E%0D%0A%20%20%20%20%20%20%20%3Cuse%20style%3D%22stroke%3A%23000000%3Bstroke-width%3A0.8%3B%22%20x%3D%22148.627206%22%20xlink%3Ahref%3D%22%23med470e38ed%22%20y%3D%22251.350588%22%2F%3E%0D%0A%20%20%20%20%20%20%3C%2Fg%3E%0D%0A%20%20%20%20%20%3C%2Fg%3E%0D%0A%20%20%20%20%20%3Cg%20id%3D%22text_65%22%3E%0D%0A%20%20%20%20%20%20%3C!--%201.00%20--%3E%0D%0A%20%20%20%20%20%20%3Cg%20transform%3D%22translate(125.364706%20254.6505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38%22%3E%0D%0A%20%20%20%20%3Cpath%20d%3D%22M%20148.627206%20347.28%20%0D%0AL%20148.627206%20251.350588%20%0D%0A%22%20style%3D%22fill%3Anone%3Bstroke%3A%23000000%3Bstroke-linecap%3Asquare%3Bstroke-linejoin%3Amiter%3Bstroke-width%3A0.8%3B%22%2F%3E%0D%0A%20%20%20%3C%2Fg%3E%0D%0A%20%20%20%3Cg%20id%3D%22patch_39%22%3E%0D%0A%20%20%20%20%3Cpath%20d%3D%22M%20247.097794%20347.28%20%0D%0AL%20247.097794%20251.350588%20%0D%0A%22%20style%3D%22fill%3Anone%3Bstroke%3A%23000000%3Bstroke-linecap%3Asquare%3Bstroke-linejoin%3Amiter%3Bstroke-width%3A0.8%3B%22%2F%3E%0D%0A%20%20%20%3C%2Fg%3E%0D%0A%20%20%20%3Cg%20id%3D%22patch_40%22%3E%0D%0A%20%20%20%20%3Cpath%20d%3D%22M%20148.627206%20347.28%20%0D%0AL%20247.097794%20347.28%20%0D%0A%22%20style%3D%22fill%3Anone%3Bstroke%3A%23000000%3Bstroke-linecap%3Asquare%3Bstroke-linejoin%3Amiter%3Bstroke-width%3A0.8%3B%22%2F%3E%0D%0A%20%20%20%3C%2Fg%3E%0D%0A%20%20%20%3Cg%20id%3D%22patch_41%22%3E%0D%0A%20%20%20%20%3Cpath%20d%3D%22M%20148.627206%20251.350588%20%0D%0AL%20247.097794%20251.350588%20%0D%0A%22%20style%3D%22fill%3Anone%3Bstroke%3A%23000000%3Bstroke-linecap%3Asquare%3Bstroke-linejoin%3Amiter%3Bstroke-width%3A0.8%3B%22%2F%3E%0D%0A%20%20%20%3C%2Fg%3E%0D%0A%20%20%3C%2Fg%3E%0D%0A%20%20%3Cg%20id%3D%22axes_9%22%3E%0D%0A%20%20%20%3Cg%20id%3D%22patch_42%22%3E%0D%0A%20%20%20%20%3Cpath%20d%3D%22M%20266.791912%20347.28%20%0D%0AL%20365.2625%20347.28%20%0D%0AL%20365.2625%20251.350588%20%0D%0AL%20266.791912%20251.350588%20%0D%0Az%0D%0A%22%20style%3D%22fill%3A%23ffffdd%3B%22%2F%3E%0D%0A%20%20%20%3C%2Fg%3E%0D%0A%20%20%20%3Cg%20id%3D%22matplotlib.axis_17%22%3E%0D%0A%20%20%20%20%3Cg%20id%3D%22xtick_25%22%3E%0D%0A%20%20%20%20%20%3Cg%20id%3D%22line2d_65%22%3E%0D%0A%20%20%20%20%20%20%3Cg%3E%0D%0A%20%20%20%20%20%20%20%3Cuse%20style%3D%22stroke%3A%23000000%3Bstroke-width%3A0.8%3B%22%20x%3D%22266.791912%22%20xlink%3Ahref%3D%22%23m71c1e9f719%22%20y%3D%22347.28%22%2F%3E%0D%0A%20%20%20%20%20%20%3C%2Fg%3E%0D%0A%20%20%20%20%20%3C%2Fg%3E%0D%0A%20%20%20%20%20%3Cg%20id%3D%22text_66%22%3E%0D%0A%20%20%20%20%20%20%3C!--%200.0%20--%3E%0D%0A%20%20%20%20%20%20%3Cg%20transform%3D%22translate(261.005974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xtick_26%22%3E%0D%0A%20%20%20%20%20%3Cg%20id%3D%22line2d_66%22%3E%0D%0A%20%20%20%20%20%20%3Cg%3E%0D%0A%20%20%20%20%20%20%20%3Cuse%20style%3D%22stroke%3A%23000000%3Bstroke-width%3A0.8%3B%22%20x%3D%22316.027206%22%20xlink%3Ahref%3D%22%23m71c1e9f719%22%20y%3D%22347.28%22%2F%3E%0D%0A%20%20%20%20%20%20%3C%2Fg%3E%0D%0A%20%20%20%20%20%3C%2Fg%3E%0D%0A%20%20%20%20%20%3Cg%20id%3D%22text_67%22%3E%0D%0A%20%20%20%20%20%20%3C!--%200.5%20--%3E%0D%0A%20%20%20%20%20%20%3Cg%20transform%3D%22translate(310.241268%20360.8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3C%2Fg%3E%0D%0A%20%20%20%20%20%3C%2Fg%3E%0D%0A%20%20%20%20%3C%2Fg%3E%0D%0A%20%20%20%20%3Cg%20id%3D%22xtick_27%22%3E%0D%0A%20%20%20%20%20%3Cg%20id%3D%22line2d_67%22%3E%0D%0A%20%20%20%20%20%20%3Cg%3E%0D%0A%20%20%20%20%20%20%20%3Cuse%20style%3D%22stroke%3A%23000000%3Bstroke-width%3A0.8%3B%22%20x%3D%22365.2625%22%20xlink%3Ahref%3D%22%23m71c1e9f719%22%20y%3D%22347.28%22%2F%3E%0D%0A%20%20%20%20%20%20%3C%2Fg%3E%0D%0A%20%20%20%20%20%3C%2Fg%3E%0D%0A%20%20%20%20%20%3Cg%20id%3D%22text_68%22%3E%0D%0A%20%20%20%20%20%20%3C!--%201.0%20--%3E%0D%0A%20%20%20%20%20%20%3Cg%20transform%3D%22translate(359.476563%20360.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3C%2Fg%3E%0D%0A%20%20%20%20%20%3C%2Fg%3E%0D%0A%20%20%20%20%3C%2Fg%3E%0D%0A%20%20%20%20%3Cg%20id%3D%22text_69%22%3E%0D%0A%20%20%20%20%20%3C!--%20%E5%8F%B3%E4%B8%8B%20--%3E%0D%0A%20%20%20%20%20%3Cdefs%3E%0D%0A%20%20%20%20%20%20%3Cpath%20d%3D%22M%2093.703125%2055.5%20%0D%0AQ%2094.90625%2054.296875%2094.90625%2053.796875%20%0D%0AQ%2094.90625%2053.296875%2093.296875%2053.296875%20%0D%0AL%2043.296875%2053.296875%20%0D%0AQ%2038.296875%2040.40625%2032.296875%2030.796875%20%0D%0AL%2035.796875%2028.09375%20%0D%0AL%2072.796875%2028.09375%20%0D%0AL%2075.796875%2033.203125%20%0D%0AL%2082.203125%2028.90625%20%0D%0AQ%2083.40625%2028.09375%2083.40625%2027.75%20%0D%0AQ%2083.40625%2027.40625%2082.5%2026.703125%20%0D%0AL%2079.796875%2024.5%20%0D%0AL%2079.796875%205.09375%20%0D%0AQ%2079.796875%20-1.5%2080%20-5.59375%20%0D%0AQ%2080.203125%20-9.703125%2080.203125%20-10%20%0D%0AQ%2080.203125%20-11.5%2078.046875%20-12.453125%20%0D%0AQ%2075.90625%20-13.40625%2075.453125%20-13.40625%20%0D%0AQ%2075%20-13.40625%2075%20-12.203125%20%0D%0AL%2075%20-5.796875%20%0D%0AL%2035.796875%20-5.796875%20%0D%0AL%2035.796875%20-12.203125%20%0D%0AQ%2035.796875%20-13.703125%2033.75%20-14.640625%20%0D%0AQ%2031.703125%20-15.59375%2031.140625%20-15.59375%20%0D%0AQ%2030.59375%20-15.59375%2030.59375%20-14%20%0D%0AL%2030.90625%20-8.703125%20%0D%0AQ%2031%20-5.5%2031%20-0.796875%20%0D%0AL%2031%2028.703125%20%0D%0AQ%2021%2013.296875%205.09375%201%20%0D%0AL%204.203125%202%20%0D%0AQ%2028.796875%2026.5%2038.09375%2053.296875%20%0D%0AL%2015.5%2053.296875%20%0D%0AQ%2011.59375%2053.296875%208.796875%2052.203125%20%0D%0AL%206%2055.90625%20%0D%0AQ%2010.796875%2055.5%2013.296875%2055.5%20%0D%0AL%2038.90625%2055.5%20%0D%0AQ%2042.703125%2066.796875%2044.59375%2077.296875%20%0D%0AL%2051.40625%2073.40625%20%0D%0AQ%2053%2072.5%2053%2072.140625%20%0D%0AQ%2053%2071.796875%2051.390625%2071.34375%20%0D%0AQ%2049.796875%2070.90625%2049.25%2070.203125%20%0D%0AQ%2048.703125%2069.5%2047.296875%2064.953125%20%0D%0AQ%2045.90625%2060.40625%2044.09375%2055.5%20%0D%0AL%2083.296875%2055.5%20%0D%0AL%2087.59375%2061.796875%20%0D%0Az%0D%0AM%2075%20-3.59375%20%0D%0AL%2075%2025.90625%20%0D%0AL%2035.796875%2025.90625%20%0D%0AL%2035.796875%20-3.59375%20%0D%0Az%0D%0A%22%20id%3D%22STSong-21491%22%2F%3E%0D%0A%20%20%20%20%20%20%3Cpath%20d%3D%22M%2094.296875%2066.09375%20%0D%0AQ%2095.203125%2065.203125%2095.203125%2064.546875%20%0D%0AQ%2095.203125%2063.90625%2093.90625%2063.90625%20%0D%0AL%2050.296875%2063.90625%20%0D%0AL%2050.296875%2043.5%20%0D%0AQ%2069%2037.203125%2074.640625%2033.59375%20%0D%0AQ%2080.296875%2030%2080.296875%2025.09375%20%0D%0AQ%2080.296875%2023.5%2079.59375%2022.5%20%0D%0AQ%2078.90625%2021.5%2077.90625%2021.5%20%0D%0AQ%2076.90625%2021.5%2074.5%2024.703125%20%0D%0AQ%2072.09375%2027.90625%2065.6875%2032.546875%20%0D%0AQ%2059.296875%2037.203125%2050.296875%2041.59375%20%0D%0AL%2050.296875%208.40625%20%0D%0AQ%2050.296875%20-0.5%2050.40625%20-4.796875%20%0D%0AL%2050.703125%20-11.796875%20%0D%0AQ%2050.703125%20-13.40625%2048.640625%20-14.34375%20%0D%0AQ%2046.59375%20-15.296875%2046.09375%20-15.296875%20%0D%0AQ%2045.203125%20-15.296875%2045.203125%20-13.84375%20%0D%0AQ%2045.203125%20-12.40625%2045.34375%20-6.15625%20%0D%0AQ%2045.5%200.09375%2045.5%208.59375%20%0D%0AL%2045.5%2063.90625%20%0D%0AL%2013.203125%2063.90625%20%0D%0AQ%209.296875%2063.90625%206.5%2062.796875%20%0D%0AL%203.703125%2066.5%20%0D%0AQ%208.5%2066.09375%2011%2066.09375%20%0D%0AL%2083.796875%2066.09375%20%0D%0AL%2088.59375%2072%20%0D%0Az%0D%0A%22%20id%3D%22STSong-19979%22%2F%3E%0D%0A%20%20%20%20%20%3C%2Fdefs%3E%0D%0A%20%20%20%20%20%3Cg%20transform%3D%22translate(306.027206%20374.169062)scale(0.1%20-0.1)%22%3E%0D%0A%20%20%20%20%20%20%3Cuse%20xlink%3Ahref%3D%22%23STSong-21491%22%2F%3E%0D%0A%20%20%20%20%20%20%3Cuse%20x%3D%2299.999985%22%20xlink%3Ahref%3D%22%23STSong-19979%22%2F%3E%0D%0A%20%20%20%20%20%3C%2Fg%3E%0D%0A%20%20%20%20%3C%2Fg%3E%0D%0A%20%20%20%3C%2Fg%3E%0D%0A%20%20%20%3Cg%20id%3D%22matplotlib.axis_18%22%3E%0D%0A%20%20%20%20%3Cg%20id%3D%22ytick_41%22%3E%0D%0A%20%20%20%20%20%3Cg%20id%3D%22line2d_68%22%3E%0D%0A%20%20%20%20%20%20%3Cg%3E%0D%0A%20%20%20%20%20%20%20%3Cuse%20style%3D%22stroke%3A%23000000%3Bstroke-width%3A0.8%3B%22%20x%3D%22266.791912%22%20xlink%3Ahref%3D%22%23med470e38ed%22%20y%3D%22347.28%22%2F%3E%0D%0A%20%20%20%20%20%20%3C%2Fg%3E%0D%0A%20%20%20%20%20%3C%2Fg%3E%0D%0A%20%20%20%20%20%3Cg%20id%3D%22text_70%22%3E%0D%0A%20%20%20%20%20%20%3C!--%200.00%20--%3E%0D%0A%20%20%20%20%20%20%3Cg%20transform%3D%22translate(243.529412%20350.58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20%3Cg%20id%3D%22ytick_42%22%3E%0D%0A%20%20%20%20%20%3Cg%20id%3D%22line2d_69%22%3E%0D%0A%20%20%20%20%20%20%3Cg%3E%0D%0A%20%20%20%20%20%20%20%3Cuse%20style%3D%22stroke%3A%23000000%3Bstroke-width%3A0.8%3B%22%20x%3D%22266.791912%22%20xlink%3Ahref%3D%22%23med470e38ed%22%20y%3D%22323.297647%22%2F%3E%0D%0A%20%20%20%20%20%20%3C%2Fg%3E%0D%0A%20%20%20%20%20%3C%2Fg%3E%0D%0A%20%20%20%20%20%3Cg%20id%3D%22text_71%22%3E%0D%0A%20%20%20%20%20%20%3C!--%200.25%20--%3E%0D%0A%20%20%20%20%20%20%3Cg%20transform%3D%22translate(243.529412%20326.597647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0%22%2F%3E%0D%0A%20%20%20%20%20%20%20%3Cuse%20x%3D%22115.699982%22%20xlink%3Ahref%3D%22%23STSong-53%22%2F%3E%0D%0A%20%20%20%20%20%20%3C%2Fg%3E%0D%0A%20%20%20%20%20%3C%2Fg%3E%0D%0A%20%20%20%20%3C%2Fg%3E%0D%0A%20%20%20%20%3Cg%20id%3D%22ytick_43%22%3E%0D%0A%20%20%20%20%20%3Cg%20id%3D%22line2d_70%22%3E%0D%0A%20%20%20%20%20%20%3Cg%3E%0D%0A%20%20%20%20%20%20%20%3Cuse%20style%3D%22stroke%3A%23000000%3Bstroke-width%3A0.8%3B%22%20x%3D%22266.791912%22%20xlink%3Ahref%3D%22%23med470e38ed%22%20y%3D%22299.315294%22%2F%3E%0D%0A%20%20%20%20%20%20%3C%2Fg%3E%0D%0A%20%20%20%20%20%3C%2Fg%3E%0D%0A%20%20%20%20%20%3Cg%20id%3D%22text_72%22%3E%0D%0A%20%20%20%20%20%20%3C!--%200.50%20--%3E%0D%0A%20%20%20%20%20%20%3Cg%20transform%3D%22translate(243.529412%20302.615294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3%22%2F%3E%0D%0A%20%20%20%20%20%20%20%3Cuse%20x%3D%22115.699982%22%20xlink%3Ahref%3D%22%23STSong-48%22%2F%3E%0D%0A%20%20%20%20%20%20%3C%2Fg%3E%0D%0A%20%20%20%20%20%3C%2Fg%3E%0D%0A%20%20%20%20%3C%2Fg%3E%0D%0A%20%20%20%20%3Cg%20id%3D%22ytick_44%22%3E%0D%0A%20%20%20%20%20%3Cg%20id%3D%22line2d_71%22%3E%0D%0A%20%20%20%20%20%20%3Cg%3E%0D%0A%20%20%20%20%20%20%20%3Cuse%20style%3D%22stroke%3A%23000000%3Bstroke-width%3A0.8%3B%22%20x%3D%22266.791912%22%20xlink%3Ahref%3D%22%23med470e38ed%22%20y%3D%22275.332941%22%2F%3E%0D%0A%20%20%20%20%20%20%3C%2Fg%3E%0D%0A%20%20%20%20%20%3C%2Fg%3E%0D%0A%20%20%20%20%20%3Cg%20id%3D%22text_73%22%3E%0D%0A%20%20%20%20%20%20%3C!--%200.75%20--%3E%0D%0A%20%20%20%20%20%20%3Cg%20transform%3D%22translate(243.529412%20278.632941)scale(0.1%20-0.1)%22%3E%0D%0A%20%20%20%20%20%20%20%3Cuse%20xlink%3Ahref%3D%22%23STSong-48%22%2F%3E%0D%0A%20%20%20%20%20%20%20%3Cuse%20x%3D%2246.899994%22%20xlink%3Ahref%3D%22%23STSong-46%22%2F%3E%0D%0A%20%20%20%20%20%20%20%3Cuse%20x%3D%2268.799988%22%20xlink%3Ahref%3D%22%23STSong-55%22%2F%3E%0D%0A%20%20%20%20%20%20%20%3Cuse%20x%3D%22115.699982%22%20xlink%3Ahref%3D%22%23STSong-53%22%2F%3E%0D%0A%20%20%20%20%20%20%3C%2Fg%3E%0D%0A%20%20%20%20%20%3C%2Fg%3E%0D%0A%20%20%20%20%3C%2Fg%3E%0D%0A%20%20%20%20%3Cg%20id%3D%22ytick_45%22%3E%0D%0A%20%20%20%20%20%3Cg%20id%3D%22line2d_72%22%3E%0D%0A%20%20%20%20%20%20%3Cg%3E%0D%0A%20%20%20%20%20%20%20%3Cuse%20style%3D%22stroke%3A%23000000%3Bstroke-width%3A0.8%3B%22%20x%3D%22266.791912%22%20xlink%3Ahref%3D%22%23med470e38ed%22%20y%3D%22251.350588%22%2F%3E%0D%0A%20%20%20%20%20%20%3C%2Fg%3E%0D%0A%20%20%20%20%20%3C%2Fg%3E%0D%0A%20%20%20%20%20%3Cg%20id%3D%22text_74%22%3E%0D%0A%20%20%20%20%20%20%3C!--%201.00%20--%3E%0D%0A%20%20%20%20%20%20%3Cg%20transform%3D%22translate(243.529412%20254.650588)scale(0.1%20-0.1)%22%3E%0D%0A%20%20%20%20%20%20%20%3Cuse%20xlink%3Ahref%3D%22%23STSong-49%22%2F%3E%0D%0A%20%20%20%20%20%20%20%3Cuse%20x%3D%2246.899994%22%20xlink%3Ahref%3D%22%23STSong-46%22%2F%3E%0D%0A%20%20%20%20%20%20%20%3Cuse%20x%3D%2268.799988%22%20xlink%3Ahref%3D%22%23STSong-48%22%2F%3E%0D%0A%20%20%20%20%20%20%20%3Cuse%20x%3D%22115.699982%22%20xlink%3Ahref%3D%22%23STSong-48%22%2F%3E%0D%0A%20%20%20%20%20%20%3C%2Fg%3E%0D%0A%20%20%20%20%20%3C%2Fg%3E%0D%0A%20%20%20%20%3C%2Fg%3E%0D%0A%20%20%20%3C%2Fg%3E%0D%0A%20%20%20%3Cg%20id%3D%22patch_43%22%3E%0D%0A%20%20%20%20%3Cpath%20d%3D%22M%20266.791912%20347.28%20%0D%0AL%20266.791912%20251.350588%20%0D%0A%22%20style%3D%22fill%3Anone%3Bstroke%3A%23000000%3Bstroke-linecap%3Asquare%3Bstroke-linejoin%3Amiter%3Bstroke-width%3A0.8%3B%22%2F%3E%0D%0A%20%20%20%3C%2Fg%3E%0D%0A%20%20%20%3Cg%20id%3D%22patch_44%22%3E%0D%0A%20%20%20%20%3Cpath%20d%3D%22M%20365.2625%20347.28%20%0D%0AL%20365.2625%20251.350588%20%0D%0A%22%20style%3D%22fill%3Anone%3Bstroke%3A%23000000%3Bstroke-linecap%3Asquare%3Bstroke-linejoin%3Amiter%3Bstroke-width%3A0.8%3B%22%2F%3E%0D%0A%20%20%20%3C%2Fg%3E%0D%0A%20%20%20%3Cg%20id%3D%22patch_45%22%3E%0D%0A%20%20%20%20%3Cpath%20d%3D%22M%20266.791912%20347.28%20%0D%0AL%20365.2625%20347.28%20%0D%0A%22%20style%3D%22fill%3Anone%3Bstroke%3A%23000000%3Bstroke-linecap%3Asquare%3Bstroke-linejoin%3Amiter%3Bstroke-width%3A0.8%3B%22%2F%3E%0D%0A%20%20%20%3C%2Fg%3E%0D%0A%20%20%20%3Cg%20id%3D%22patch_46%22%3E%0D%0A%20%20%20%20%3Cpath%20d%3D%22M%20266.791912%20251.350588%20%0D%0AL%20365.2625%20251.350588%20%0D%0A%22%20style%3D%22fill%3Anone%3Bstroke%3A%23000000%3Bstroke-linecap%3Asquare%3Bstroke-linejoin%3Amiter%3Bstroke-width%3A0.8%3B%22%2F%3E%0D%0A%20%20%20%3C%2Fg%3E%0D%0A%20%20%3C%2Fg%3E%0D%0A%20%3C%2Fg%3E%0D%0A%3C%2Fsvg%3E%0D%0A"/>
          <p:cNvSpPr>
            <a:spLocks noChangeAspect="1" noChangeArrowheads="1"/>
          </p:cNvSpPr>
          <p:nvPr/>
        </p:nvSpPr>
        <p:spPr bwMode="auto">
          <a:xfrm>
            <a:off x="7387648" y="2377064"/>
            <a:ext cx="2846090" cy="284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133" y="1571541"/>
            <a:ext cx="5027776" cy="50170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7527" y="4820323"/>
            <a:ext cx="53190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fig, </a:t>
            </a:r>
            <a:r>
              <a:rPr lang="en-US" altLang="zh-CN" sz="2400" dirty="0" err="1"/>
              <a:t>axs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plt.subplots</a:t>
            </a:r>
            <a:r>
              <a:rPr lang="en-US" altLang="zh-CN" sz="2400" dirty="0"/>
              <a:t>(3,3,figsize=(6,6) )</a:t>
            </a:r>
          </a:p>
          <a:p>
            <a:r>
              <a:rPr lang="en-US" altLang="zh-CN" sz="2400" dirty="0" err="1"/>
              <a:t>axs</a:t>
            </a:r>
            <a:r>
              <a:rPr lang="en-US" altLang="zh-CN" sz="2400" dirty="0"/>
              <a:t>[0,0].</a:t>
            </a:r>
            <a:r>
              <a:rPr lang="en-US" altLang="zh-CN" sz="2400" dirty="0" err="1"/>
              <a:t>set_facecolor</a:t>
            </a:r>
            <a:r>
              <a:rPr lang="en-US" altLang="zh-CN" sz="2400" dirty="0"/>
              <a:t>("#</a:t>
            </a:r>
            <a:r>
              <a:rPr lang="en-US" altLang="zh-CN" sz="2400" dirty="0" err="1"/>
              <a:t>ddddff</a:t>
            </a:r>
            <a:r>
              <a:rPr lang="en-US" altLang="zh-CN" sz="2400" dirty="0"/>
              <a:t>")</a:t>
            </a:r>
          </a:p>
          <a:p>
            <a:r>
              <a:rPr lang="en-US" altLang="zh-CN" sz="2400" dirty="0" err="1"/>
              <a:t>axs</a:t>
            </a:r>
            <a:r>
              <a:rPr lang="en-US" altLang="zh-CN" sz="2400" dirty="0"/>
              <a:t>[0,0].</a:t>
            </a:r>
            <a:r>
              <a:rPr lang="en-US" altLang="zh-CN" sz="2400" dirty="0" err="1"/>
              <a:t>set_title</a:t>
            </a:r>
            <a:r>
              <a:rPr lang="en-US" altLang="zh-CN" sz="2400" dirty="0"/>
              <a:t>("</a:t>
            </a:r>
            <a:r>
              <a:rPr lang="zh-CN" altLang="en-US" sz="2400" dirty="0"/>
              <a:t>左上</a:t>
            </a:r>
            <a:r>
              <a:rPr lang="en-US" altLang="zh-CN" sz="2400" dirty="0"/>
              <a:t>")</a:t>
            </a:r>
          </a:p>
          <a:p>
            <a:r>
              <a:rPr lang="en-US" altLang="zh-CN" sz="2400" dirty="0" err="1"/>
              <a:t>axs</a:t>
            </a:r>
            <a:r>
              <a:rPr lang="en-US" altLang="zh-CN" sz="2400" dirty="0"/>
              <a:t>[2,2].</a:t>
            </a:r>
            <a:r>
              <a:rPr lang="en-US" altLang="zh-CN" sz="2400" dirty="0" err="1"/>
              <a:t>set_facecolor</a:t>
            </a:r>
            <a:r>
              <a:rPr lang="en-US" altLang="zh-CN" sz="2400" dirty="0"/>
              <a:t>("#</a:t>
            </a:r>
            <a:r>
              <a:rPr lang="en-US" altLang="zh-CN" sz="2400" dirty="0" err="1"/>
              <a:t>ffffdd</a:t>
            </a:r>
            <a:r>
              <a:rPr lang="en-US" altLang="zh-CN" sz="2400" dirty="0"/>
              <a:t>")</a:t>
            </a:r>
          </a:p>
          <a:p>
            <a:r>
              <a:rPr lang="en-US" altLang="zh-CN" sz="2400" dirty="0" err="1"/>
              <a:t>axs</a:t>
            </a:r>
            <a:r>
              <a:rPr lang="en-US" altLang="zh-CN" sz="2400" dirty="0"/>
              <a:t>[2,2].</a:t>
            </a:r>
            <a:r>
              <a:rPr lang="en-US" altLang="zh-CN" sz="2400" dirty="0" err="1"/>
              <a:t>set_xlabel</a:t>
            </a:r>
            <a:r>
              <a:rPr lang="en-US" altLang="zh-CN" sz="2400" dirty="0"/>
              <a:t>("</a:t>
            </a:r>
            <a:r>
              <a:rPr lang="zh-CN" altLang="en-US" sz="2400" dirty="0"/>
              <a:t>右下</a:t>
            </a:r>
            <a:r>
              <a:rPr lang="en-US" altLang="zh-CN" sz="2400" dirty="0"/>
              <a:t>")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88305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376055" cy="4351338"/>
          </a:xfrm>
        </p:spPr>
        <p:txBody>
          <a:bodyPr/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快捷指令</a:t>
            </a:r>
            <a:r>
              <a:rPr lang="en-US" altLang="zh-CN" dirty="0" err="1"/>
              <a:t>cheetsheets</a:t>
            </a:r>
            <a:endParaRPr lang="en-US" altLang="zh-CN" dirty="0"/>
          </a:p>
          <a:p>
            <a:r>
              <a:rPr lang="en-US" altLang="zh-CN" dirty="0"/>
              <a:t>https://matplotlib.org/cheatsheets/</a:t>
            </a:r>
          </a:p>
          <a:p>
            <a:endParaRPr lang="zh-CN" altLang="en-US" dirty="0"/>
          </a:p>
        </p:txBody>
      </p:sp>
      <p:pic>
        <p:nvPicPr>
          <p:cNvPr id="1026" name="Picture 2" descr="https://matplotlib.org/cheatsheets/_images/cheatsheets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37" y="119035"/>
            <a:ext cx="8569036" cy="605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672906" y="6455503"/>
            <a:ext cx="356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https://matplotlib.org/cheatsheets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611865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的</a:t>
            </a:r>
            <a:r>
              <a:rPr lang="en-US" altLang="zh-CN" dirty="0"/>
              <a:t>marker</a:t>
            </a:r>
            <a:r>
              <a:rPr lang="zh-CN" altLang="en-US" dirty="0"/>
              <a:t>设定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773058"/>
            <a:ext cx="10515600" cy="2570160"/>
          </a:xfrm>
        </p:spPr>
        <p:txBody>
          <a:bodyPr/>
          <a:lstStyle/>
          <a:p>
            <a:r>
              <a:rPr lang="zh-CN" altLang="en-US" dirty="0"/>
              <a:t>在绘制标记</a:t>
            </a:r>
            <a:r>
              <a:rPr lang="en-US" altLang="zh-CN" dirty="0"/>
              <a:t>marker</a:t>
            </a:r>
            <a:r>
              <a:rPr lang="zh-CN" altLang="en-US" dirty="0"/>
              <a:t>的图，</a:t>
            </a:r>
            <a:r>
              <a:rPr lang="en-US" altLang="zh-CN" dirty="0"/>
              <a:t>marker</a:t>
            </a:r>
            <a:r>
              <a:rPr lang="zh-CN" altLang="en-US" dirty="0"/>
              <a:t>参数设定：</a:t>
            </a:r>
            <a:endParaRPr lang="en-US" altLang="zh-CN" dirty="0"/>
          </a:p>
          <a:p>
            <a:r>
              <a:rPr lang="en-US" altLang="zh-CN" dirty="0"/>
              <a:t>marker =‘.’</a:t>
            </a:r>
            <a:r>
              <a:rPr lang="zh-CN" altLang="en-US" dirty="0"/>
              <a:t>，绘制点图（</a:t>
            </a:r>
            <a:r>
              <a:rPr lang="en-US" altLang="zh-CN" dirty="0"/>
              <a:t>point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marker =‘o’</a:t>
            </a:r>
            <a:r>
              <a:rPr lang="zh-CN" altLang="en-US" dirty="0"/>
              <a:t>，绘制气泡图</a:t>
            </a:r>
            <a:r>
              <a:rPr lang="en-US" altLang="zh-CN" dirty="0"/>
              <a:t>(</a:t>
            </a:r>
            <a:r>
              <a:rPr lang="en-US" altLang="zh-CN" dirty="0" err="1"/>
              <a:t>cicle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marker =</a:t>
            </a:r>
            <a:r>
              <a:rPr lang="zh-CN" altLang="en-US" dirty="0"/>
              <a:t>‘</a:t>
            </a:r>
            <a:r>
              <a:rPr lang="en-US" altLang="zh-CN" dirty="0"/>
              <a:t>*</a:t>
            </a:r>
            <a:r>
              <a:rPr lang="zh-CN" altLang="en-US" dirty="0"/>
              <a:t>’</a:t>
            </a:r>
            <a:r>
              <a:rPr lang="en-US" altLang="zh-CN" dirty="0"/>
              <a:t>, </a:t>
            </a:r>
            <a:r>
              <a:rPr lang="zh-CN" altLang="en-US" dirty="0"/>
              <a:t>标记为星</a:t>
            </a:r>
            <a:r>
              <a:rPr lang="en-US" altLang="zh-CN" dirty="0"/>
              <a:t>(star)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87" y="1321089"/>
            <a:ext cx="6838095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011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Matplotlib</a:t>
            </a:r>
            <a:r>
              <a:rPr lang="zh-CN" altLang="en-US" dirty="0"/>
              <a:t>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889" y="1476823"/>
            <a:ext cx="4980708" cy="4577612"/>
          </a:xfrm>
        </p:spPr>
        <p:txBody>
          <a:bodyPr/>
          <a:lstStyle/>
          <a:p>
            <a:r>
              <a:rPr lang="zh-CN" altLang="en-US" dirty="0"/>
              <a:t>设定每个</a:t>
            </a:r>
            <a:r>
              <a:rPr lang="en-US" altLang="zh-CN" dirty="0"/>
              <a:t>axes</a:t>
            </a:r>
            <a:r>
              <a:rPr lang="zh-CN" altLang="en-US" dirty="0"/>
              <a:t>的</a:t>
            </a:r>
            <a:r>
              <a:rPr lang="en-US" altLang="zh-CN" dirty="0" err="1"/>
              <a:t>autoscale_view</a:t>
            </a:r>
            <a:r>
              <a:rPr lang="zh-CN" altLang="en-US" dirty="0"/>
              <a:t>实现缩放</a:t>
            </a:r>
            <a:endParaRPr lang="en-US" altLang="zh-CN" dirty="0"/>
          </a:p>
          <a:p>
            <a:r>
              <a:rPr lang="zh-CN" altLang="en-US" dirty="0"/>
              <a:t>不同</a:t>
            </a:r>
            <a:r>
              <a:rPr lang="en-US" altLang="zh-CN" dirty="0"/>
              <a:t>axes</a:t>
            </a:r>
            <a:r>
              <a:rPr lang="zh-CN" altLang="en-US" dirty="0"/>
              <a:t>绘制不同图形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2761" y="3236543"/>
            <a:ext cx="1054647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plt.rcParams</a:t>
            </a:r>
            <a:r>
              <a:rPr lang="en-US" altLang="zh-CN" sz="2400" dirty="0"/>
              <a:t>['</a:t>
            </a:r>
            <a:r>
              <a:rPr lang="en-US" altLang="zh-CN" sz="2400" dirty="0" err="1"/>
              <a:t>font.sans</a:t>
            </a:r>
            <a:r>
              <a:rPr lang="en-US" altLang="zh-CN" sz="2400" dirty="0"/>
              <a:t>-serif']='</a:t>
            </a:r>
            <a:r>
              <a:rPr lang="en-US" altLang="zh-CN" sz="2400" dirty="0" err="1"/>
              <a:t>STSong</a:t>
            </a:r>
            <a:r>
              <a:rPr lang="en-US" altLang="zh-CN" sz="2400" dirty="0"/>
              <a:t>'</a:t>
            </a:r>
          </a:p>
          <a:p>
            <a:r>
              <a:rPr lang="en-US" altLang="zh-CN" sz="2400" dirty="0"/>
              <a:t>fig, ax = </a:t>
            </a:r>
            <a:r>
              <a:rPr lang="en-US" altLang="zh-CN" sz="2400" dirty="0" err="1"/>
              <a:t>plt.subplots</a:t>
            </a:r>
            <a:r>
              <a:rPr lang="en-US" altLang="zh-CN" sz="2400" dirty="0"/>
              <a:t>(1,2,figsize=(6,2))</a:t>
            </a:r>
          </a:p>
          <a:p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range(2):</a:t>
            </a:r>
          </a:p>
          <a:p>
            <a:r>
              <a:rPr lang="en-US" altLang="zh-CN" sz="2400" dirty="0"/>
              <a:t>    ax[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</a:t>
            </a:r>
            <a:r>
              <a:rPr lang="en-US" altLang="zh-CN" sz="2400" dirty="0" err="1"/>
              <a:t>autoscale_view</a:t>
            </a:r>
            <a:r>
              <a:rPr lang="en-US" altLang="zh-CN" sz="2400" dirty="0"/>
              <a:t>()  #</a:t>
            </a:r>
            <a:r>
              <a:rPr lang="zh-CN" altLang="en-US" sz="2400" dirty="0"/>
              <a:t>设定自动缩放</a:t>
            </a:r>
            <a:endParaRPr lang="en-US" altLang="zh-CN" sz="2400" dirty="0"/>
          </a:p>
          <a:p>
            <a:r>
              <a:rPr lang="en-US" altLang="zh-CN" sz="2400" dirty="0"/>
              <a:t>ax[0].scatter(x = </a:t>
            </a:r>
            <a:r>
              <a:rPr lang="en-US" altLang="zh-CN" sz="2400" dirty="0" err="1"/>
              <a:t>df</a:t>
            </a:r>
            <a:r>
              <a:rPr lang="en-US" altLang="zh-CN" sz="2400" dirty="0"/>
              <a:t>['Price'], y = </a:t>
            </a:r>
            <a:r>
              <a:rPr lang="en-US" altLang="zh-CN" sz="2400" dirty="0" err="1"/>
              <a:t>df</a:t>
            </a:r>
            <a:r>
              <a:rPr lang="en-US" altLang="zh-CN" sz="2400" dirty="0"/>
              <a:t>['motors'],marker='</a:t>
            </a:r>
            <a:r>
              <a:rPr lang="en-US" altLang="zh-CN" sz="2400" dirty="0" err="1"/>
              <a:t>o',s</a:t>
            </a:r>
            <a:r>
              <a:rPr lang="en-US" altLang="zh-CN" sz="2400" dirty="0"/>
              <a:t>=30.0, alpha=0.6, c='r')</a:t>
            </a:r>
          </a:p>
          <a:p>
            <a:r>
              <a:rPr lang="en-US" altLang="zh-CN" sz="2400" dirty="0"/>
              <a:t>ax[0].</a:t>
            </a:r>
            <a:r>
              <a:rPr lang="en-US" altLang="zh-CN" sz="2400" dirty="0" err="1"/>
              <a:t>set_xlabel</a:t>
            </a:r>
            <a:r>
              <a:rPr lang="en-US" altLang="zh-CN" sz="2400" dirty="0"/>
              <a:t>("</a:t>
            </a:r>
            <a:r>
              <a:rPr lang="zh-CN" altLang="en-US" sz="2400" dirty="0"/>
              <a:t>价格</a:t>
            </a:r>
            <a:r>
              <a:rPr lang="en-US" altLang="zh-CN" sz="2400" dirty="0"/>
              <a:t>")</a:t>
            </a:r>
          </a:p>
          <a:p>
            <a:r>
              <a:rPr lang="en-US" altLang="zh-CN" sz="2400" dirty="0"/>
              <a:t>ax[0].</a:t>
            </a:r>
            <a:r>
              <a:rPr lang="en-US" altLang="zh-CN" sz="2400" dirty="0" err="1"/>
              <a:t>set_ylabel</a:t>
            </a:r>
            <a:r>
              <a:rPr lang="en-US" altLang="zh-CN" sz="2400" dirty="0"/>
              <a:t>("</a:t>
            </a:r>
            <a:r>
              <a:rPr lang="zh-CN" altLang="en-US" sz="2400" dirty="0"/>
              <a:t>数量</a:t>
            </a:r>
            <a:r>
              <a:rPr lang="en-US" altLang="zh-CN" sz="2400" dirty="0"/>
              <a:t>")</a:t>
            </a:r>
          </a:p>
          <a:p>
            <a:r>
              <a:rPr lang="en-US" altLang="zh-CN" sz="2400" dirty="0"/>
              <a:t>ax[1].</a:t>
            </a:r>
            <a:r>
              <a:rPr lang="en-US" altLang="zh-CN" sz="2400" dirty="0" err="1"/>
              <a:t>hist</a:t>
            </a:r>
            <a:r>
              <a:rPr lang="en-US" altLang="zh-CN" sz="2400" dirty="0"/>
              <a:t>(x = '</a:t>
            </a:r>
            <a:r>
              <a:rPr lang="en-US" altLang="zh-CN" sz="2400" dirty="0" err="1"/>
              <a:t>Price',data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df</a:t>
            </a:r>
            <a:r>
              <a:rPr lang="en-US" altLang="zh-CN" sz="2400" dirty="0"/>
              <a:t>, bins=15)</a:t>
            </a:r>
          </a:p>
          <a:p>
            <a:r>
              <a:rPr lang="en-US" altLang="zh-CN" sz="2400" dirty="0"/>
              <a:t>ax[1].</a:t>
            </a:r>
            <a:r>
              <a:rPr lang="en-US" altLang="zh-CN" sz="2400" dirty="0" err="1"/>
              <a:t>set_xlabel</a:t>
            </a:r>
            <a:r>
              <a:rPr lang="en-US" altLang="zh-CN" sz="2400" dirty="0"/>
              <a:t>("</a:t>
            </a:r>
            <a:r>
              <a:rPr lang="zh-CN" altLang="en-US" sz="2400" dirty="0"/>
              <a:t>价格</a:t>
            </a:r>
            <a:r>
              <a:rPr lang="en-US" altLang="zh-CN" sz="2400" dirty="0"/>
              <a:t>")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286" y="414497"/>
            <a:ext cx="6485714" cy="2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436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Seaborn</a:t>
            </a:r>
            <a:r>
              <a:rPr lang="zh-CN" altLang="en-US" dirty="0"/>
              <a:t>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670964" cy="4351338"/>
          </a:xfrm>
        </p:spPr>
        <p:txBody>
          <a:bodyPr/>
          <a:lstStyle/>
          <a:p>
            <a:r>
              <a:rPr lang="en-US" altLang="zh-CN" dirty="0" err="1"/>
              <a:t>Seaborn</a:t>
            </a:r>
            <a:r>
              <a:rPr lang="zh-CN" altLang="en-US" dirty="0"/>
              <a:t>底层也是</a:t>
            </a:r>
            <a:r>
              <a:rPr lang="en-US" altLang="zh-CN" dirty="0" err="1"/>
              <a:t>matplotlib</a:t>
            </a:r>
            <a:r>
              <a:rPr lang="zh-CN" altLang="en-US" dirty="0"/>
              <a:t>，因此也是通过</a:t>
            </a:r>
            <a:r>
              <a:rPr lang="en-US" altLang="zh-CN" dirty="0"/>
              <a:t>axes</a:t>
            </a:r>
            <a:r>
              <a:rPr lang="zh-CN" altLang="en-US" dirty="0"/>
              <a:t>对画笔控制</a:t>
            </a:r>
            <a:endParaRPr lang="en-US" altLang="zh-CN" dirty="0"/>
          </a:p>
          <a:p>
            <a:r>
              <a:rPr lang="zh-CN" altLang="en-US" dirty="0"/>
              <a:t>如果需要指定子图设置图例、标题等，在</a:t>
            </a:r>
            <a:r>
              <a:rPr lang="en-US" altLang="zh-CN" dirty="0" err="1"/>
              <a:t>seaborn</a:t>
            </a:r>
            <a:r>
              <a:rPr lang="zh-CN" altLang="en-US" dirty="0"/>
              <a:t>函数中寻找是否有</a:t>
            </a:r>
            <a:r>
              <a:rPr lang="en-US" altLang="zh-CN" dirty="0"/>
              <a:t>ax</a:t>
            </a:r>
            <a:r>
              <a:rPr lang="zh-CN" altLang="en-US" dirty="0"/>
              <a:t>参数，通过该参数可以实现设置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80655" y="4791968"/>
            <a:ext cx="91486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import </a:t>
            </a:r>
            <a:r>
              <a:rPr lang="en-US" altLang="zh-CN" sz="2800" dirty="0" err="1"/>
              <a:t>seaborn</a:t>
            </a:r>
            <a:r>
              <a:rPr lang="en-US" altLang="zh-CN" sz="2800" dirty="0"/>
              <a:t> as </a:t>
            </a:r>
            <a:r>
              <a:rPr lang="en-US" altLang="zh-CN" sz="2800" dirty="0" err="1"/>
              <a:t>sns</a:t>
            </a:r>
            <a:endParaRPr lang="en-US" altLang="zh-CN" sz="2800" dirty="0"/>
          </a:p>
          <a:p>
            <a:r>
              <a:rPr lang="en-US" altLang="zh-CN" sz="2800" dirty="0" err="1"/>
              <a:t>jg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sns.jointplot</a:t>
            </a:r>
            <a:r>
              <a:rPr lang="en-US" altLang="zh-CN" sz="2800" dirty="0"/>
              <a:t>(data=</a:t>
            </a:r>
            <a:r>
              <a:rPr lang="en-US" altLang="zh-CN" sz="2800" dirty="0" err="1"/>
              <a:t>df</a:t>
            </a:r>
            <a:r>
              <a:rPr lang="en-US" altLang="zh-CN" sz="2800" dirty="0"/>
              <a:t>, x='Price', y='</a:t>
            </a:r>
            <a:r>
              <a:rPr lang="en-US" altLang="zh-CN" sz="2800" dirty="0" err="1"/>
              <a:t>motors',height</a:t>
            </a:r>
            <a:r>
              <a:rPr lang="en-US" altLang="zh-CN" sz="2800" dirty="0"/>
              <a:t>=4 )</a:t>
            </a:r>
          </a:p>
          <a:p>
            <a:r>
              <a:rPr lang="en-US" altLang="zh-CN" sz="2800" dirty="0" err="1"/>
              <a:t>jg.set_axis_labels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xlabel</a:t>
            </a:r>
            <a:r>
              <a:rPr lang="en-US" altLang="zh-CN" sz="2800" dirty="0"/>
              <a:t>='</a:t>
            </a:r>
            <a:r>
              <a:rPr lang="zh-CN" altLang="en-US" sz="2800" dirty="0"/>
              <a:t>价格</a:t>
            </a:r>
            <a:r>
              <a:rPr lang="en-US" altLang="zh-CN" sz="2800" dirty="0"/>
              <a:t>', </a:t>
            </a:r>
            <a:r>
              <a:rPr lang="en-US" altLang="zh-CN" sz="2800" dirty="0" err="1"/>
              <a:t>ylabel</a:t>
            </a:r>
            <a:r>
              <a:rPr lang="en-US" altLang="zh-CN" sz="2800" dirty="0"/>
              <a:t>='</a:t>
            </a:r>
            <a:r>
              <a:rPr lang="zh-CN" altLang="en-US" sz="2800" dirty="0"/>
              <a:t>数量</a:t>
            </a:r>
            <a:r>
              <a:rPr lang="en-US" altLang="zh-CN" sz="2800" dirty="0"/>
              <a:t>')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369" y="542309"/>
            <a:ext cx="4133333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503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Bokeh</a:t>
            </a:r>
            <a:r>
              <a:rPr lang="zh-CN" altLang="en-US" dirty="0"/>
              <a:t>可视化</a:t>
            </a:r>
            <a:r>
              <a:rPr lang="en-US" altLang="zh-CN" dirty="0"/>
              <a:t>-</a:t>
            </a:r>
            <a:r>
              <a:rPr lang="zh-CN" altLang="en-US" dirty="0"/>
              <a:t>基本函数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Bokeh</a:t>
            </a:r>
            <a:r>
              <a:rPr lang="zh-CN" altLang="en-US" dirty="0"/>
              <a:t>需要导入 </a:t>
            </a:r>
            <a:r>
              <a:rPr lang="en-US" altLang="zh-CN" dirty="0" err="1"/>
              <a:t>bokeh.plotting</a:t>
            </a:r>
            <a:r>
              <a:rPr lang="en-US" altLang="zh-CN" dirty="0"/>
              <a:t> </a:t>
            </a:r>
            <a:r>
              <a:rPr lang="zh-CN" altLang="en-US" dirty="0"/>
              <a:t>接口；</a:t>
            </a:r>
            <a:endParaRPr lang="en-US" altLang="zh-CN" dirty="0"/>
          </a:p>
          <a:p>
            <a:r>
              <a:rPr lang="en-US" altLang="zh-CN" dirty="0"/>
              <a:t>figure()</a:t>
            </a:r>
            <a:r>
              <a:rPr lang="zh-CN" altLang="en-US" dirty="0"/>
              <a:t>函数创建生成图，设定</a:t>
            </a:r>
            <a:r>
              <a:rPr lang="en-US" altLang="zh-CN" dirty="0"/>
              <a:t>title, </a:t>
            </a:r>
            <a:r>
              <a:rPr lang="en-US" altLang="zh-CN" dirty="0" err="1"/>
              <a:t>x_axis_label</a:t>
            </a:r>
            <a:r>
              <a:rPr lang="en-US" altLang="zh-CN" dirty="0"/>
              <a:t>, </a:t>
            </a:r>
            <a:r>
              <a:rPr lang="en-US" altLang="zh-CN" dirty="0" err="1"/>
              <a:t>y_axis_label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 err="1"/>
              <a:t>output_file</a:t>
            </a:r>
            <a:r>
              <a:rPr lang="en-US" altLang="zh-CN" dirty="0"/>
              <a:t>() </a:t>
            </a:r>
            <a:r>
              <a:rPr lang="zh-CN" altLang="en-US" dirty="0"/>
              <a:t>或</a:t>
            </a:r>
            <a:r>
              <a:rPr lang="en-US" altLang="zh-CN" dirty="0"/>
              <a:t> </a:t>
            </a:r>
            <a:r>
              <a:rPr lang="en-US" altLang="zh-CN" dirty="0" err="1"/>
              <a:t>output_notebook</a:t>
            </a:r>
            <a:r>
              <a:rPr lang="en-US" altLang="zh-CN" dirty="0"/>
              <a:t>() </a:t>
            </a:r>
            <a:r>
              <a:rPr lang="zh-CN" altLang="en-US" dirty="0"/>
              <a:t>生成输出图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采用</a:t>
            </a:r>
            <a:r>
              <a:rPr lang="en-US" altLang="zh-CN" dirty="0"/>
              <a:t> show() </a:t>
            </a:r>
            <a:r>
              <a:rPr lang="zh-CN" altLang="en-US" dirty="0"/>
              <a:t>显示图</a:t>
            </a:r>
            <a:r>
              <a:rPr lang="en-US" altLang="zh-CN" dirty="0"/>
              <a:t> , save() </a:t>
            </a:r>
            <a:r>
              <a:rPr lang="zh-CN" altLang="en-US" dirty="0"/>
              <a:t>保存图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42109" y="4001294"/>
            <a:ext cx="81227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from </a:t>
            </a:r>
            <a:r>
              <a:rPr lang="en-US" altLang="zh-CN" dirty="0" err="1"/>
              <a:t>bokeh.plotting</a:t>
            </a:r>
            <a:r>
              <a:rPr lang="en-US" altLang="zh-CN" dirty="0"/>
              <a:t> import figure, show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bokeh.layouts</a:t>
            </a:r>
            <a:r>
              <a:rPr lang="en-US" altLang="zh-CN" dirty="0"/>
              <a:t> import row, column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bokeh.models</a:t>
            </a:r>
            <a:r>
              <a:rPr lang="en-US" altLang="zh-CN" dirty="0"/>
              <a:t> import </a:t>
            </a:r>
            <a:r>
              <a:rPr lang="en-US" altLang="zh-CN" dirty="0" err="1"/>
              <a:t>ColumnDataSource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bokeh.palettes</a:t>
            </a:r>
            <a:r>
              <a:rPr lang="en-US" altLang="zh-CN" dirty="0"/>
              <a:t> import Category10, Category20, Category20b, Category20c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dataclasses</a:t>
            </a:r>
            <a:r>
              <a:rPr lang="en-US" altLang="zh-CN" dirty="0"/>
              <a:t> import </a:t>
            </a:r>
            <a:r>
              <a:rPr lang="en-US" altLang="zh-CN" dirty="0" err="1"/>
              <a:t>dataclass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</p:txBody>
      </p:sp>
    </p:spTree>
    <p:extLst>
      <p:ext uri="{BB962C8B-B14F-4D97-AF65-F5344CB8AC3E}">
        <p14:creationId xmlns:p14="http://schemas.microsoft.com/office/powerpoint/2010/main" val="278277593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对二手摩托状态</a:t>
            </a:r>
            <a:r>
              <a:rPr lang="en-US" altLang="zh-CN" dirty="0" err="1"/>
              <a:t>Vehicle_Tile</a:t>
            </a:r>
            <a:r>
              <a:rPr lang="zh-CN" altLang="en-US" dirty="0"/>
              <a:t>数据清洗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71602" y="1925783"/>
            <a:ext cx="909255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df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pd.read_csv</a:t>
            </a:r>
            <a:r>
              <a:rPr lang="en-US" altLang="zh-CN" sz="2800" dirty="0"/>
              <a:t>("motorCleanData.csv", encoding='utf-8')</a:t>
            </a:r>
          </a:p>
          <a:p>
            <a:r>
              <a:rPr lang="en-US" altLang="zh-CN" sz="2800" dirty="0"/>
              <a:t># </a:t>
            </a:r>
            <a:r>
              <a:rPr lang="zh-CN" altLang="en-US" sz="2800" dirty="0"/>
              <a:t>删除 </a:t>
            </a:r>
            <a:r>
              <a:rPr lang="en-US" altLang="zh-CN" sz="2800" dirty="0"/>
              <a:t>Mileage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Vehicle_Tile</a:t>
            </a:r>
            <a:r>
              <a:rPr lang="en-US" altLang="zh-CN" sz="2800" dirty="0"/>
              <a:t> </a:t>
            </a:r>
            <a:r>
              <a:rPr lang="zh-CN" altLang="en-US" sz="2800" dirty="0"/>
              <a:t>为 </a:t>
            </a:r>
            <a:r>
              <a:rPr lang="en-US" altLang="zh-CN" sz="2800" dirty="0"/>
              <a:t>nan </a:t>
            </a:r>
            <a:r>
              <a:rPr lang="zh-CN" altLang="en-US" sz="2800" dirty="0"/>
              <a:t>的记录</a:t>
            </a:r>
          </a:p>
          <a:p>
            <a:r>
              <a:rPr lang="en-US" altLang="zh-CN" sz="2800" dirty="0" err="1"/>
              <a:t>df.dropna</a:t>
            </a:r>
            <a:r>
              <a:rPr lang="en-US" altLang="zh-CN" sz="2800" dirty="0"/>
              <a:t>(subset=['Mileage', '</a:t>
            </a:r>
            <a:r>
              <a:rPr lang="en-US" altLang="zh-CN" sz="2800" dirty="0" err="1"/>
              <a:t>Vehicle_Tile</a:t>
            </a:r>
            <a:r>
              <a:rPr lang="en-US" altLang="zh-CN" sz="2800" dirty="0"/>
              <a:t>'], 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</a:p>
          <a:p>
            <a:r>
              <a:rPr lang="en-US" altLang="zh-CN" sz="2800" dirty="0" err="1"/>
              <a:t>df.drop</a:t>
            </a:r>
            <a:r>
              <a:rPr lang="en-US" altLang="zh-CN" sz="2800" dirty="0"/>
              <a:t>(columns=['Unnamed: 0','Location'], </a:t>
            </a:r>
            <a:r>
              <a:rPr lang="en-US" altLang="zh-CN" sz="2800" dirty="0" err="1"/>
              <a:t>inplace</a:t>
            </a:r>
            <a:r>
              <a:rPr lang="en-US" altLang="zh-CN" sz="2800" dirty="0"/>
              <a:t>=True)</a:t>
            </a:r>
          </a:p>
          <a:p>
            <a:r>
              <a:rPr lang="en-US" altLang="zh-CN" sz="2800" dirty="0" err="1"/>
              <a:t>df.Vehicle_Tile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df.Vehicle_Tile.astype</a:t>
            </a:r>
            <a:r>
              <a:rPr lang="en-US" altLang="zh-CN" sz="2800" dirty="0"/>
              <a:t>('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')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4616615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建立</a:t>
            </a:r>
            <a:r>
              <a:rPr lang="en-US" altLang="zh-CN" dirty="0" err="1"/>
              <a:t>Vehicle_Tile</a:t>
            </a:r>
            <a:r>
              <a:rPr lang="zh-CN" altLang="en-US" dirty="0"/>
              <a:t>颜色字典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2141930"/>
            <a:ext cx="807144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color_num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df.Vehicle_Tile.unique</a:t>
            </a:r>
            <a:r>
              <a:rPr lang="en-US" altLang="zh-CN" sz="2400" dirty="0"/>
              <a:t>())</a:t>
            </a:r>
          </a:p>
          <a:p>
            <a:endParaRPr lang="en-US" altLang="zh-CN" sz="2400" dirty="0"/>
          </a:p>
          <a:p>
            <a:r>
              <a:rPr lang="en-US" altLang="zh-CN" sz="2400" dirty="0"/>
              <a:t># </a:t>
            </a:r>
            <a:r>
              <a:rPr lang="zh-CN" altLang="en-US" sz="2400" dirty="0"/>
              <a:t>建立</a:t>
            </a:r>
            <a:r>
              <a:rPr lang="en-US" altLang="zh-CN" sz="2400" dirty="0" err="1"/>
              <a:t>Vehicle_Tile</a:t>
            </a:r>
            <a:r>
              <a:rPr lang="zh-CN" altLang="en-US" sz="2400" dirty="0"/>
              <a:t>的颜色字典</a:t>
            </a:r>
          </a:p>
          <a:p>
            <a:r>
              <a:rPr lang="en-US" altLang="zh-CN" sz="2400" dirty="0" err="1"/>
              <a:t>colormap</a:t>
            </a:r>
            <a:r>
              <a:rPr lang="en-US" altLang="zh-CN" sz="2400" dirty="0"/>
              <a:t> = {tile: Category10[</a:t>
            </a:r>
            <a:r>
              <a:rPr lang="en-US" altLang="zh-CN" sz="2400" dirty="0" err="1"/>
              <a:t>color_num</a:t>
            </a:r>
            <a:r>
              <a:rPr lang="en-US" altLang="zh-CN" sz="2400" dirty="0"/>
              <a:t>][</a:t>
            </a:r>
            <a:r>
              <a:rPr lang="en-US" altLang="zh-CN" sz="2400" dirty="0" err="1"/>
              <a:t>idx</a:t>
            </a:r>
            <a:r>
              <a:rPr lang="en-US" altLang="zh-CN" sz="2400" dirty="0"/>
              <a:t>] </a:t>
            </a:r>
          </a:p>
          <a:p>
            <a:r>
              <a:rPr lang="en-US" altLang="zh-CN" sz="2400" dirty="0"/>
              <a:t>                for </a:t>
            </a:r>
            <a:r>
              <a:rPr lang="en-US" altLang="zh-CN" sz="2400" dirty="0" err="1"/>
              <a:t>idx</a:t>
            </a:r>
            <a:r>
              <a:rPr lang="en-US" altLang="zh-CN" sz="2400" dirty="0"/>
              <a:t>, tile in enumerate(</a:t>
            </a:r>
            <a:r>
              <a:rPr lang="en-US" altLang="zh-CN" sz="2400" dirty="0" err="1"/>
              <a:t>df.Vehicle_Tile.unique</a:t>
            </a:r>
            <a:r>
              <a:rPr lang="en-US" altLang="zh-CN" sz="2400" dirty="0"/>
              <a:t>())}</a:t>
            </a:r>
          </a:p>
          <a:p>
            <a:endParaRPr lang="en-US" altLang="zh-CN" sz="2400" dirty="0"/>
          </a:p>
          <a:p>
            <a:r>
              <a:rPr lang="en-US" altLang="zh-CN" sz="2400" dirty="0"/>
              <a:t># </a:t>
            </a:r>
            <a:r>
              <a:rPr lang="zh-CN" altLang="en-US" sz="2400" dirty="0"/>
              <a:t>建立</a:t>
            </a:r>
            <a:r>
              <a:rPr lang="en-US" altLang="zh-CN" sz="2400" dirty="0" err="1"/>
              <a:t>Vehicle_Tile</a:t>
            </a:r>
            <a:r>
              <a:rPr lang="en-US" altLang="zh-CN" sz="2400" dirty="0"/>
              <a:t> </a:t>
            </a:r>
            <a:r>
              <a:rPr lang="zh-CN" altLang="en-US" sz="2400" dirty="0"/>
              <a:t>对应的颜色列表</a:t>
            </a:r>
          </a:p>
          <a:p>
            <a:r>
              <a:rPr lang="en-US" altLang="zh-CN" sz="2400" dirty="0"/>
              <a:t>colors = list(map(lambda cl: </a:t>
            </a:r>
            <a:r>
              <a:rPr lang="en-US" altLang="zh-CN" sz="2400" dirty="0" err="1"/>
              <a:t>colormap.get</a:t>
            </a:r>
            <a:r>
              <a:rPr lang="en-US" altLang="zh-CN" sz="2400" dirty="0"/>
              <a:t>(cl),  </a:t>
            </a:r>
          </a:p>
          <a:p>
            <a:r>
              <a:rPr lang="en-US" altLang="zh-CN" sz="2400" dirty="0"/>
              <a:t>                 	     </a:t>
            </a:r>
            <a:r>
              <a:rPr lang="en-US" altLang="zh-CN" sz="2400" dirty="0" err="1"/>
              <a:t>df.Vehicle_Tile</a:t>
            </a:r>
            <a:r>
              <a:rPr lang="en-US" altLang="zh-CN" sz="2400" dirty="0"/>
              <a:t>))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23372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构建图的</a:t>
            </a:r>
            <a:r>
              <a:rPr lang="en-US" altLang="zh-CN" dirty="0" err="1"/>
              <a:t>dataclass</a:t>
            </a:r>
            <a:r>
              <a:rPr lang="zh-CN" altLang="en-US" dirty="0"/>
              <a:t>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4826" y="1350791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# </a:t>
            </a:r>
            <a:r>
              <a:rPr lang="zh-CN" altLang="en-US" sz="2000" dirty="0"/>
              <a:t>设定</a:t>
            </a:r>
            <a:r>
              <a:rPr lang="en-US" altLang="zh-CN" sz="2000" dirty="0"/>
              <a:t>x</a:t>
            </a:r>
            <a:r>
              <a:rPr lang="zh-CN" altLang="en-US" sz="2000" dirty="0"/>
              <a:t>轴上下界，里程在</a:t>
            </a:r>
            <a:r>
              <a:rPr lang="en-US" altLang="zh-CN" sz="2000" dirty="0"/>
              <a:t>0.0~7.5</a:t>
            </a:r>
            <a:r>
              <a:rPr lang="zh-CN" altLang="en-US" sz="2000" dirty="0"/>
              <a:t>万英里之间</a:t>
            </a:r>
          </a:p>
          <a:p>
            <a:r>
              <a:rPr lang="en-US" altLang="zh-CN" sz="2000" dirty="0" err="1"/>
              <a:t>x_limit</a:t>
            </a:r>
            <a:r>
              <a:rPr lang="en-US" altLang="zh-CN" sz="2000" dirty="0"/>
              <a:t> = (0.0, 7.5e+4)</a:t>
            </a:r>
          </a:p>
          <a:p>
            <a:r>
              <a:rPr lang="en-US" altLang="zh-CN" sz="2000" dirty="0"/>
              <a:t># </a:t>
            </a:r>
            <a:r>
              <a:rPr lang="en-US" altLang="zh-CN" sz="2000" dirty="0" err="1"/>
              <a:t>Bokeh</a:t>
            </a:r>
            <a:r>
              <a:rPr lang="zh-CN" altLang="en-US" sz="2000" dirty="0"/>
              <a:t>的图工具</a:t>
            </a:r>
          </a:p>
          <a:p>
            <a:r>
              <a:rPr lang="en-US" altLang="zh-CN" sz="2000" dirty="0"/>
              <a:t>TOOLS=</a:t>
            </a:r>
            <a:r>
              <a:rPr lang="zh-CN" altLang="en-US" sz="2000" dirty="0"/>
              <a:t>（</a:t>
            </a:r>
            <a:r>
              <a:rPr lang="en-US" altLang="zh-CN" sz="2000" dirty="0"/>
              <a:t>“hover, pan, </a:t>
            </a:r>
            <a:r>
              <a:rPr lang="en-US" altLang="zh-CN" sz="2000" dirty="0" err="1"/>
              <a:t>wheel_zoom,zoom_in,zoom_out,box_zoom</a:t>
            </a:r>
            <a:r>
              <a:rPr lang="en-US" altLang="zh-CN" sz="2000" dirty="0"/>
              <a:t>,	</a:t>
            </a:r>
            <a:r>
              <a:rPr lang="en-US" altLang="zh-CN" sz="2000" dirty="0" err="1"/>
              <a:t>tap,save,box_select</a:t>
            </a:r>
            <a:r>
              <a:rPr lang="en-US" altLang="zh-CN" sz="2000" dirty="0"/>
              <a:t>,”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# </a:t>
            </a:r>
            <a:r>
              <a:rPr lang="zh-CN" altLang="en-US" sz="2000" dirty="0"/>
              <a:t>配置图的类</a:t>
            </a:r>
            <a:endParaRPr lang="en-US" altLang="zh-CN" sz="2000" dirty="0"/>
          </a:p>
          <a:p>
            <a:r>
              <a:rPr lang="en-US" altLang="zh-CN" sz="2000" dirty="0"/>
              <a:t>@</a:t>
            </a:r>
            <a:r>
              <a:rPr lang="en-US" altLang="zh-CN" sz="2000" dirty="0" err="1"/>
              <a:t>dataclass</a:t>
            </a:r>
            <a:endParaRPr lang="en-US" altLang="zh-CN" sz="2000" dirty="0"/>
          </a:p>
          <a:p>
            <a:r>
              <a:rPr lang="en-US" altLang="zh-CN" sz="2000" dirty="0"/>
              <a:t>class </a:t>
            </a:r>
            <a:r>
              <a:rPr lang="en-US" altLang="zh-CN" sz="2000" dirty="0" err="1"/>
              <a:t>FigConfig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    """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Bokeh</a:t>
            </a:r>
            <a:r>
              <a:rPr lang="en-US" altLang="zh-CN" sz="2000" dirty="0"/>
              <a:t> figure</a:t>
            </a:r>
            <a:r>
              <a:rPr lang="zh-CN" altLang="en-US" sz="2000" dirty="0"/>
              <a:t>的设置类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"""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width:int</a:t>
            </a:r>
            <a:r>
              <a:rPr lang="en-US" altLang="zh-CN" sz="2000" dirty="0"/>
              <a:t> = 800 # </a:t>
            </a:r>
            <a:r>
              <a:rPr lang="zh-CN" altLang="en-US" sz="2000" dirty="0"/>
              <a:t>宽度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height:int</a:t>
            </a:r>
            <a:r>
              <a:rPr lang="en-US" altLang="zh-CN" sz="2000" dirty="0"/>
              <a:t> = 400 # </a:t>
            </a:r>
            <a:r>
              <a:rPr lang="zh-CN" altLang="en-US" sz="2000" dirty="0"/>
              <a:t>高度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x_range:tuple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x_limit</a:t>
            </a:r>
            <a:r>
              <a:rPr lang="en-US" altLang="zh-CN" sz="2000" dirty="0"/>
              <a:t> #</a:t>
            </a:r>
            <a:r>
              <a:rPr lang="zh-CN" altLang="en-US" sz="2000" dirty="0"/>
              <a:t>范围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bkg_color:str</a:t>
            </a:r>
            <a:r>
              <a:rPr lang="en-US" altLang="zh-CN" sz="2000" dirty="0"/>
              <a:t> = “#</a:t>
            </a:r>
            <a:r>
              <a:rPr lang="en-US" altLang="zh-CN" sz="2000" dirty="0" err="1"/>
              <a:t>fafafa</a:t>
            </a:r>
            <a:r>
              <a:rPr lang="en-US" altLang="zh-CN" sz="2000" dirty="0"/>
              <a:t>“ #</a:t>
            </a:r>
            <a:r>
              <a:rPr lang="zh-CN" altLang="en-US" sz="2000" dirty="0"/>
              <a:t>背景色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tools:str</a:t>
            </a:r>
            <a:r>
              <a:rPr lang="en-US" altLang="zh-CN" sz="2000" dirty="0"/>
              <a:t> = TOOLS # </a:t>
            </a:r>
            <a:r>
              <a:rPr lang="zh-CN" altLang="en-US" sz="2000" dirty="0"/>
              <a:t>工具</a:t>
            </a:r>
          </a:p>
        </p:txBody>
      </p:sp>
    </p:spTree>
    <p:extLst>
      <p:ext uri="{BB962C8B-B14F-4D97-AF65-F5344CB8AC3E}">
        <p14:creationId xmlns:p14="http://schemas.microsoft.com/office/powerpoint/2010/main" val="439327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设置</a:t>
            </a:r>
            <a:r>
              <a:rPr lang="en-US" altLang="zh-CN" dirty="0"/>
              <a:t>figure</a:t>
            </a:r>
            <a:r>
              <a:rPr lang="zh-CN" altLang="en-US" dirty="0"/>
              <a:t>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因需要多次生成</a:t>
            </a:r>
            <a:r>
              <a:rPr lang="en-US" altLang="zh-CN" dirty="0"/>
              <a:t>figure</a:t>
            </a:r>
            <a:r>
              <a:rPr lang="zh-CN" altLang="en-US"/>
              <a:t>，故创建一</a:t>
            </a:r>
            <a:r>
              <a:rPr lang="zh-CN" altLang="en-US" dirty="0"/>
              <a:t>个设置</a:t>
            </a:r>
            <a:r>
              <a:rPr lang="en-US" altLang="zh-CN" dirty="0"/>
              <a:t>figure</a:t>
            </a:r>
            <a:r>
              <a:rPr lang="zh-CN" altLang="en-US" dirty="0"/>
              <a:t>的函数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02327" y="2784765"/>
            <a:ext cx="807304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set_figure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config:FigConfig</a:t>
            </a:r>
            <a:r>
              <a:rPr lang="en-US" altLang="zh-CN" sz="2800" dirty="0"/>
              <a:t>):</a:t>
            </a:r>
          </a:p>
          <a:p>
            <a:r>
              <a:rPr lang="en-US" altLang="zh-CN" sz="2800" dirty="0"/>
              <a:t>    return figure(width=</a:t>
            </a:r>
            <a:r>
              <a:rPr lang="en-US" altLang="zh-CN" sz="2800" dirty="0" err="1"/>
              <a:t>config.width</a:t>
            </a:r>
            <a:r>
              <a:rPr lang="en-US" altLang="zh-CN" sz="2800" dirty="0"/>
              <a:t>,</a:t>
            </a:r>
          </a:p>
          <a:p>
            <a:r>
              <a:rPr lang="en-US" altLang="zh-CN" sz="2800" dirty="0"/>
              <a:t>                  height=</a:t>
            </a:r>
            <a:r>
              <a:rPr lang="en-US" altLang="zh-CN" sz="2800" dirty="0" err="1"/>
              <a:t>config.height</a:t>
            </a:r>
            <a:r>
              <a:rPr lang="en-US" altLang="zh-CN" sz="2800" dirty="0"/>
              <a:t>, </a:t>
            </a:r>
          </a:p>
          <a:p>
            <a:r>
              <a:rPr lang="en-US" altLang="zh-CN" sz="2800" dirty="0"/>
              <a:t>                  </a:t>
            </a:r>
            <a:r>
              <a:rPr lang="en-US" altLang="zh-CN" sz="2800" dirty="0" err="1"/>
              <a:t>x_range</a:t>
            </a:r>
            <a:r>
              <a:rPr lang="en-US" altLang="zh-CN" sz="2800" dirty="0"/>
              <a:t>=</a:t>
            </a:r>
            <a:r>
              <a:rPr lang="en-US" altLang="zh-CN" sz="2800" dirty="0" err="1"/>
              <a:t>config.x_range</a:t>
            </a:r>
            <a:r>
              <a:rPr lang="en-US" altLang="zh-CN" sz="2800" dirty="0"/>
              <a:t>,</a:t>
            </a:r>
          </a:p>
          <a:p>
            <a:r>
              <a:rPr lang="en-US" altLang="zh-CN" sz="2800" dirty="0"/>
              <a:t>                  </a:t>
            </a:r>
            <a:r>
              <a:rPr lang="en-US" altLang="zh-CN" sz="2800" dirty="0" err="1"/>
              <a:t>background_fill_color</a:t>
            </a:r>
            <a:r>
              <a:rPr lang="en-US" altLang="zh-CN" sz="2800" dirty="0"/>
              <a:t>=</a:t>
            </a:r>
            <a:r>
              <a:rPr lang="en-US" altLang="zh-CN" sz="2800" dirty="0" err="1"/>
              <a:t>config.bkg_color</a:t>
            </a:r>
            <a:r>
              <a:rPr lang="en-US" altLang="zh-CN" sz="2800" dirty="0"/>
              <a:t>,</a:t>
            </a:r>
          </a:p>
          <a:p>
            <a:r>
              <a:rPr lang="en-US" altLang="zh-CN" sz="2800" dirty="0"/>
              <a:t>                  tools=</a:t>
            </a:r>
            <a:r>
              <a:rPr lang="en-US" altLang="zh-CN" sz="2800" dirty="0" err="1"/>
              <a:t>config.tools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156914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1164" y="3718679"/>
            <a:ext cx="62761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设定</a:t>
            </a:r>
            <a:r>
              <a:rPr lang="en-US" altLang="zh-CN" dirty="0"/>
              <a:t>x</a:t>
            </a:r>
            <a:r>
              <a:rPr lang="zh-CN" altLang="en-US" dirty="0"/>
              <a:t>轴上下界，里程在</a:t>
            </a:r>
            <a:r>
              <a:rPr lang="en-US" altLang="zh-CN" dirty="0"/>
              <a:t>0.0~60000</a:t>
            </a:r>
            <a:r>
              <a:rPr lang="zh-CN" altLang="en-US" dirty="0"/>
              <a:t>之间</a:t>
            </a:r>
          </a:p>
          <a:p>
            <a:r>
              <a:rPr lang="en-US" altLang="zh-CN" dirty="0" err="1"/>
              <a:t>x_limt</a:t>
            </a:r>
            <a:r>
              <a:rPr lang="en-US" altLang="zh-CN" dirty="0"/>
              <a:t> = (0.0, 9.0e+4)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二手车里程与价格散点图</a:t>
            </a:r>
          </a:p>
          <a:p>
            <a:r>
              <a:rPr lang="en-US" altLang="zh-CN" dirty="0"/>
              <a:t>s1 = figure(width=800, height=300,       </a:t>
            </a:r>
            <a:r>
              <a:rPr lang="en-US" altLang="zh-CN" dirty="0" err="1"/>
              <a:t>x_range</a:t>
            </a:r>
            <a:r>
              <a:rPr lang="en-US" altLang="zh-CN" dirty="0"/>
              <a:t>=</a:t>
            </a:r>
            <a:r>
              <a:rPr lang="en-US" altLang="zh-CN" dirty="0" err="1"/>
              <a:t>x_limt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background_fill_color</a:t>
            </a:r>
            <a:r>
              <a:rPr lang="en-US" altLang="zh-CN" dirty="0"/>
              <a:t>="#</a:t>
            </a:r>
            <a:r>
              <a:rPr lang="en-US" altLang="zh-CN" dirty="0" err="1"/>
              <a:t>fafafa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s1.circle(x=</a:t>
            </a:r>
            <a:r>
              <a:rPr lang="en-US" altLang="zh-CN" dirty="0" err="1"/>
              <a:t>df.Mileage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y=</a:t>
            </a:r>
            <a:r>
              <a:rPr lang="en-US" altLang="zh-CN" dirty="0" err="1"/>
              <a:t>df.Price</a:t>
            </a:r>
            <a:r>
              <a:rPr lang="en-US" altLang="zh-CN" dirty="0"/>
              <a:t>, size=3, color="#FF6347",          </a:t>
            </a:r>
          </a:p>
          <a:p>
            <a:r>
              <a:rPr lang="en-US" altLang="zh-CN" dirty="0"/>
              <a:t>          alpha=0.4)</a:t>
            </a:r>
          </a:p>
          <a:p>
            <a:r>
              <a:rPr lang="en-US" altLang="zh-CN" dirty="0"/>
              <a:t>s1.xaxis.axis_label = "</a:t>
            </a:r>
            <a:r>
              <a:rPr lang="zh-CN" altLang="en-US" dirty="0"/>
              <a:t>里程（</a:t>
            </a:r>
            <a:r>
              <a:rPr lang="en-US" altLang="zh-CN" dirty="0"/>
              <a:t>Mile</a:t>
            </a:r>
            <a:r>
              <a:rPr lang="zh-CN" altLang="en-US" dirty="0"/>
              <a:t>）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s1.yaxis.axis_label = "</a:t>
            </a:r>
            <a:r>
              <a:rPr lang="zh-CN" altLang="en-US" dirty="0"/>
              <a:t>价格（</a:t>
            </a:r>
            <a:r>
              <a:rPr lang="en-US" altLang="zh-CN" dirty="0"/>
              <a:t>$</a:t>
            </a:r>
            <a:r>
              <a:rPr lang="zh-CN" altLang="en-US" dirty="0"/>
              <a:t>）</a:t>
            </a:r>
            <a:r>
              <a:rPr lang="en-US" altLang="zh-CN" dirty="0"/>
              <a:t>"</a:t>
            </a:r>
          </a:p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219" y="678874"/>
            <a:ext cx="7151831" cy="3575916"/>
          </a:xfrm>
        </p:spPr>
      </p:pic>
    </p:spTree>
    <p:extLst>
      <p:ext uri="{BB962C8B-B14F-4D97-AF65-F5344CB8AC3E}">
        <p14:creationId xmlns:p14="http://schemas.microsoft.com/office/powerpoint/2010/main" val="17332121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1938"/>
            <a:ext cx="6982691" cy="2857500"/>
          </a:xfrm>
        </p:spPr>
      </p:pic>
      <p:sp>
        <p:nvSpPr>
          <p:cNvPr id="6" name="文本框 5"/>
          <p:cNvSpPr txBox="1"/>
          <p:nvPr/>
        </p:nvSpPr>
        <p:spPr>
          <a:xfrm>
            <a:off x="193963" y="1411384"/>
            <a:ext cx="91440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里程的直方图</a:t>
            </a:r>
          </a:p>
          <a:p>
            <a:r>
              <a:rPr lang="en-US" altLang="zh-CN" dirty="0"/>
              <a:t>s2 = figure(width=800, </a:t>
            </a:r>
          </a:p>
          <a:p>
            <a:r>
              <a:rPr lang="en-US" altLang="zh-CN" dirty="0"/>
              <a:t>            height=300,   </a:t>
            </a:r>
            <a:r>
              <a:rPr lang="en-US" altLang="zh-CN" dirty="0" err="1"/>
              <a:t>x_range</a:t>
            </a:r>
            <a:r>
              <a:rPr lang="en-US" altLang="zh-CN" dirty="0"/>
              <a:t>=</a:t>
            </a:r>
            <a:r>
              <a:rPr lang="en-US" altLang="zh-CN" dirty="0" err="1"/>
              <a:t>x_limt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background_fill_color</a:t>
            </a:r>
            <a:r>
              <a:rPr lang="en-US" altLang="zh-CN" dirty="0"/>
              <a:t>="#</a:t>
            </a:r>
            <a:r>
              <a:rPr lang="en-US" altLang="zh-CN" dirty="0" err="1"/>
              <a:t>fafafa</a:t>
            </a:r>
            <a:r>
              <a:rPr lang="en-US" altLang="zh-CN" dirty="0"/>
              <a:t>")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画直方图</a:t>
            </a:r>
          </a:p>
          <a:p>
            <a:r>
              <a:rPr lang="en-US" altLang="zh-CN" dirty="0"/>
              <a:t>bins = </a:t>
            </a:r>
            <a:r>
              <a:rPr lang="en-US" altLang="zh-CN" dirty="0" err="1"/>
              <a:t>np.linspace</a:t>
            </a:r>
            <a:r>
              <a:rPr lang="en-US" altLang="zh-CN" dirty="0"/>
              <a:t>(*</a:t>
            </a:r>
            <a:r>
              <a:rPr lang="en-US" altLang="zh-CN" dirty="0" err="1"/>
              <a:t>x_limt</a:t>
            </a:r>
            <a:r>
              <a:rPr lang="en-US" altLang="zh-CN" dirty="0"/>
              <a:t>, 25)</a:t>
            </a:r>
          </a:p>
          <a:p>
            <a:r>
              <a:rPr lang="en-US" altLang="zh-CN" dirty="0" err="1"/>
              <a:t>hist</a:t>
            </a:r>
            <a:r>
              <a:rPr lang="en-US" altLang="zh-CN" dirty="0"/>
              <a:t>, edges = </a:t>
            </a:r>
            <a:r>
              <a:rPr lang="en-US" altLang="zh-CN" dirty="0" err="1"/>
              <a:t>np.histogram</a:t>
            </a:r>
            <a:r>
              <a:rPr lang="en-US" altLang="zh-CN" dirty="0"/>
              <a:t>(</a:t>
            </a:r>
            <a:r>
              <a:rPr lang="en-US" altLang="zh-CN" dirty="0" err="1"/>
              <a:t>df.Mileage</a:t>
            </a:r>
            <a:r>
              <a:rPr lang="en-US" altLang="zh-CN" dirty="0"/>
              <a:t>,  density=True,  range=</a:t>
            </a:r>
            <a:r>
              <a:rPr lang="en-US" altLang="zh-CN" dirty="0" err="1"/>
              <a:t>x_limt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                           bins=bins)</a:t>
            </a:r>
          </a:p>
          <a:p>
            <a:endParaRPr lang="en-US" altLang="zh-CN" dirty="0"/>
          </a:p>
          <a:p>
            <a:r>
              <a:rPr lang="en-US" altLang="zh-CN" dirty="0"/>
              <a:t>s2.quad(top=</a:t>
            </a:r>
            <a:r>
              <a:rPr lang="en-US" altLang="zh-CN" dirty="0" err="1"/>
              <a:t>hist</a:t>
            </a:r>
            <a:r>
              <a:rPr lang="en-US" altLang="zh-CN" dirty="0"/>
              <a:t>,      bottom=0,    left=edges[:-1],     right=edges[1:], </a:t>
            </a:r>
            <a:r>
              <a:rPr lang="en-US" altLang="zh-CN" dirty="0" err="1"/>
              <a:t>fill_color</a:t>
            </a:r>
            <a:r>
              <a:rPr lang="en-US" altLang="zh-CN" dirty="0"/>
              <a:t>="</a:t>
            </a:r>
            <a:r>
              <a:rPr lang="en-US" altLang="zh-CN" dirty="0" err="1"/>
              <a:t>skyblue</a:t>
            </a:r>
            <a:r>
              <a:rPr lang="en-US" altLang="zh-CN" dirty="0"/>
              <a:t>",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line_color</a:t>
            </a:r>
            <a:r>
              <a:rPr lang="en-US" altLang="zh-CN" dirty="0"/>
              <a:t>="white")</a:t>
            </a:r>
          </a:p>
          <a:p>
            <a:endParaRPr lang="en-US" altLang="zh-CN" dirty="0"/>
          </a:p>
          <a:p>
            <a:r>
              <a:rPr lang="en-US" altLang="zh-CN" dirty="0"/>
              <a:t>s2.y_range.start = 0</a:t>
            </a:r>
          </a:p>
          <a:p>
            <a:r>
              <a:rPr lang="en-US" altLang="zh-CN" dirty="0"/>
              <a:t>s2.xaxis.axis_label = "</a:t>
            </a:r>
            <a:r>
              <a:rPr lang="zh-CN" altLang="en-US" dirty="0"/>
              <a:t>里程（</a:t>
            </a:r>
            <a:r>
              <a:rPr lang="en-US" altLang="zh-CN" dirty="0"/>
              <a:t>Mile</a:t>
            </a:r>
            <a:r>
              <a:rPr lang="zh-CN" altLang="en-US" dirty="0"/>
              <a:t>）</a:t>
            </a:r>
            <a:r>
              <a:rPr lang="en-US" altLang="zh-CN" dirty="0"/>
              <a:t>"</a:t>
            </a:r>
          </a:p>
          <a:p>
            <a:r>
              <a:rPr lang="en-US" altLang="zh-CN" dirty="0"/>
              <a:t>s2.yaxis.axis_label = "PDF(x)"</a:t>
            </a:r>
          </a:p>
          <a:p>
            <a:endParaRPr lang="en-US" altLang="zh-CN" dirty="0"/>
          </a:p>
          <a:p>
            <a:r>
              <a:rPr lang="en-US" altLang="zh-CN" dirty="0"/>
              <a:t># put the results in a row and show</a:t>
            </a:r>
          </a:p>
          <a:p>
            <a:r>
              <a:rPr lang="en-US" altLang="zh-CN" dirty="0"/>
              <a:t>show(column(s1, s2))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877708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Xiaochun\AppData\Local\Temp\SNAGHTML678f7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933" y="794740"/>
            <a:ext cx="798195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绘制地图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地图坐标系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133015"/>
              </p:ext>
            </p:extLst>
          </p:nvPr>
        </p:nvGraphicFramePr>
        <p:xfrm>
          <a:off x="598023" y="3909477"/>
          <a:ext cx="11147860" cy="2606040"/>
        </p:xfrm>
        <a:graphic>
          <a:graphicData uri="http://schemas.openxmlformats.org/drawingml/2006/table">
            <a:tbl>
              <a:tblPr/>
              <a:tblGrid>
                <a:gridCol w="2394970">
                  <a:extLst>
                    <a:ext uri="{9D8B030D-6E8A-4147-A177-3AD203B41FA5}">
                      <a16:colId xmlns:a16="http://schemas.microsoft.com/office/drawing/2014/main" val="264876523"/>
                    </a:ext>
                  </a:extLst>
                </a:gridCol>
                <a:gridCol w="8752890">
                  <a:extLst>
                    <a:ext uri="{9D8B030D-6E8A-4147-A177-3AD203B41FA5}">
                      <a16:colId xmlns:a16="http://schemas.microsoft.com/office/drawing/2014/main" val="1700884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CRS(</a:t>
                      </a:r>
                      <a:r>
                        <a:rPr lang="en-US" b="1" dirty="0" err="1">
                          <a:effectLst/>
                        </a:rPr>
                        <a:t>CooRd</a:t>
                      </a:r>
                      <a:r>
                        <a:rPr lang="en-US" b="1" dirty="0">
                          <a:effectLst/>
                        </a:rPr>
                        <a:t> System)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说明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WGS84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WGS-84</a:t>
                      </a:r>
                      <a:r>
                        <a:rPr lang="zh-CN" altLang="en-US" dirty="0">
                          <a:effectLst/>
                        </a:rPr>
                        <a:t>坐标系，</a:t>
                      </a:r>
                      <a:r>
                        <a:rPr lang="en-US" altLang="zh-CN" dirty="0">
                          <a:effectLst/>
                        </a:rPr>
                        <a:t>GPS</a:t>
                      </a:r>
                      <a:r>
                        <a:rPr lang="zh-CN" altLang="en-US" dirty="0">
                          <a:effectLst/>
                        </a:rPr>
                        <a:t>设备获取的经纬度坐标，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世界通用坐标系</a:t>
                      </a: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GCJ02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GCJ-02</a:t>
                      </a:r>
                      <a:r>
                        <a:rPr lang="zh-CN" altLang="en-US" dirty="0">
                          <a:effectLst/>
                        </a:rPr>
                        <a:t>坐标系，</a:t>
                      </a:r>
                      <a:r>
                        <a:rPr lang="en-US" altLang="zh-CN" dirty="0">
                          <a:effectLst/>
                        </a:rPr>
                        <a:t>google</a:t>
                      </a:r>
                      <a:r>
                        <a:rPr lang="zh-CN" altLang="en-US" dirty="0">
                          <a:effectLst/>
                        </a:rPr>
                        <a:t>中国地图、</a:t>
                      </a:r>
                      <a:r>
                        <a:rPr lang="en-US" altLang="zh-CN" dirty="0" err="1">
                          <a:effectLst/>
                        </a:rPr>
                        <a:t>soso</a:t>
                      </a:r>
                      <a:r>
                        <a:rPr lang="zh-CN" altLang="en-US" dirty="0">
                          <a:effectLst/>
                        </a:rPr>
                        <a:t>地图、</a:t>
                      </a:r>
                      <a:r>
                        <a:rPr lang="en-US" altLang="zh-CN" dirty="0" err="1">
                          <a:effectLst/>
                        </a:rPr>
                        <a:t>aliyun</a:t>
                      </a:r>
                      <a:r>
                        <a:rPr lang="zh-CN" altLang="en-US" dirty="0">
                          <a:effectLst/>
                        </a:rPr>
                        <a:t>地图、</a:t>
                      </a:r>
                      <a:r>
                        <a:rPr lang="en-US" altLang="zh-CN" dirty="0" err="1">
                          <a:effectLst/>
                        </a:rPr>
                        <a:t>mapabc</a:t>
                      </a:r>
                      <a:r>
                        <a:rPr lang="zh-CN" altLang="en-US" dirty="0">
                          <a:effectLst/>
                        </a:rPr>
                        <a:t>地图和高德地图所用的经纬度坐标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07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BD09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BD-O9</a:t>
                      </a:r>
                      <a:r>
                        <a:rPr lang="zh-CN" altLang="en-US">
                          <a:effectLst/>
                        </a:rPr>
                        <a:t>坐标系，百度地图采用的经纬度坐标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656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WGS1984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WGS-84</a:t>
                      </a:r>
                      <a:r>
                        <a:rPr lang="zh-CN" altLang="en-US">
                          <a:effectLst/>
                        </a:rPr>
                        <a:t>坐标系别名，同</a:t>
                      </a:r>
                      <a:r>
                        <a:rPr lang="en-US" altLang="zh-CN">
                          <a:effectLst/>
                        </a:rPr>
                        <a:t>WGS-84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7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EPSG4326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WGS-84</a:t>
                      </a:r>
                      <a:r>
                        <a:rPr lang="zh-CN" altLang="en-US" dirty="0">
                          <a:effectLst/>
                        </a:rPr>
                        <a:t>坐标系别名，同</a:t>
                      </a:r>
                      <a:r>
                        <a:rPr lang="en-US" altLang="zh-CN" dirty="0">
                          <a:effectLst/>
                        </a:rPr>
                        <a:t>WGS-84 (https://epsg.io/4326)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83224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818909" y="1188720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单位：</a:t>
            </a:r>
            <a:r>
              <a:rPr lang="en-US" altLang="zh-CN" dirty="0"/>
              <a:t>degree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746865" y="3370868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单位：</a:t>
            </a:r>
            <a:r>
              <a:rPr lang="en-US" altLang="zh-CN" dirty="0"/>
              <a:t>meter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13239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CRS</a:t>
            </a:r>
            <a:r>
              <a:rPr lang="zh-CN" altLang="en-US" dirty="0"/>
              <a:t> </a:t>
            </a:r>
            <a:r>
              <a:rPr lang="en-US" altLang="zh-CN" dirty="0"/>
              <a:t>EPSG:4326</a:t>
            </a:r>
            <a:r>
              <a:rPr lang="zh-CN" altLang="en-US" dirty="0"/>
              <a:t>坐标系原点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28" y="1319112"/>
            <a:ext cx="7598396" cy="478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177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</a:t>
            </a:r>
            <a:r>
              <a:rPr lang="en-US" altLang="zh-CN" dirty="0" err="1"/>
              <a:t>GeoJSON</a:t>
            </a:r>
            <a:r>
              <a:rPr lang="zh-CN" altLang="en-US" dirty="0"/>
              <a:t>地图文件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获取各个省市</a:t>
            </a:r>
            <a:r>
              <a:rPr lang="en-US" altLang="zh-CN" dirty="0" err="1"/>
              <a:t>json</a:t>
            </a:r>
            <a:r>
              <a:rPr lang="zh-CN" altLang="en-US" dirty="0"/>
              <a:t>地图文件：</a:t>
            </a:r>
            <a:r>
              <a:rPr lang="en-US" altLang="zh-CN" dirty="0"/>
              <a:t>http://datav.aliyun.com/portal/school/atlas/area_selector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297" y="2024649"/>
            <a:ext cx="7431082" cy="45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851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及</a:t>
            </a:r>
            <a:r>
              <a:rPr lang="en-US" altLang="zh-CN" dirty="0" err="1"/>
              <a:t>mapclassify</a:t>
            </a:r>
            <a:r>
              <a:rPr lang="zh-CN" altLang="en-US" dirty="0"/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安装：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pip install -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https://pypi.tuna.tsinghua.edu.cn/simple </a:t>
            </a:r>
            <a:r>
              <a:rPr lang="en-US" altLang="zh-CN" sz="2000" dirty="0" err="1">
                <a:solidFill>
                  <a:srgbClr val="FF0000"/>
                </a:solidFill>
              </a:rPr>
              <a:t>geopandas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Mapclassify</a:t>
            </a:r>
            <a:r>
              <a:rPr lang="zh-CN" altLang="en-US" dirty="0"/>
              <a:t>安装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pip install </a:t>
            </a:r>
            <a:r>
              <a:rPr lang="en-US" altLang="zh-CN" dirty="0" err="1"/>
              <a:t>mapclassify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/>
              <a:t>pip install -</a:t>
            </a:r>
            <a:r>
              <a:rPr lang="en-US" altLang="zh-CN" dirty="0" err="1"/>
              <a:t>i</a:t>
            </a:r>
            <a:r>
              <a:rPr lang="en-US" altLang="zh-CN" dirty="0"/>
              <a:t> https://pypi.tuna.tsinghua.edu.cn/simple </a:t>
            </a:r>
            <a:r>
              <a:rPr lang="en-US" altLang="zh-CN" dirty="0" err="1"/>
              <a:t>mapclassify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pip install -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https://pypi.tuna.tsinghua.edu.cn/simple </a:t>
            </a:r>
            <a:r>
              <a:rPr lang="en-US" altLang="zh-CN" dirty="0" err="1">
                <a:solidFill>
                  <a:srgbClr val="FF0000"/>
                </a:solidFill>
              </a:rPr>
              <a:t>mapclassify</a:t>
            </a:r>
            <a:r>
              <a:rPr lang="en-US" altLang="zh-CN" dirty="0">
                <a:solidFill>
                  <a:srgbClr val="FF0000"/>
                </a:solidFill>
              </a:rPr>
              <a:t>==2.4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41234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Shapely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安装</a:t>
            </a:r>
            <a:r>
              <a:rPr lang="en-US" altLang="zh-CN" b="1" dirty="0"/>
              <a:t>shapely</a:t>
            </a:r>
            <a:r>
              <a:rPr lang="zh-CN" altLang="en-US" b="1" dirty="0"/>
              <a:t>报错，找不到</a:t>
            </a:r>
            <a:r>
              <a:rPr lang="en-US" altLang="zh-CN" b="1" dirty="0"/>
              <a:t>geos_c.dll</a:t>
            </a:r>
          </a:p>
          <a:p>
            <a:r>
              <a:rPr lang="zh-CN" altLang="en-US" b="1" dirty="0"/>
              <a:t>解决方案</a:t>
            </a:r>
            <a:r>
              <a:rPr lang="zh-CN" altLang="en-US" sz="1200" b="1" dirty="0"/>
              <a:t>（</a:t>
            </a:r>
            <a:r>
              <a:rPr lang="en-US" altLang="zh-CN" sz="1200" dirty="0">
                <a:hlinkClick r:id="rId2"/>
              </a:rPr>
              <a:t>https://blog.csdn.net/chenguizhenaza/article/details/113831163</a:t>
            </a:r>
            <a:r>
              <a:rPr lang="zh-CN" altLang="en-US" sz="1200" dirty="0"/>
              <a:t>）</a:t>
            </a:r>
            <a:endParaRPr lang="en-US" altLang="zh-CN" sz="1200" b="1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python</a:t>
            </a:r>
            <a:r>
              <a:rPr lang="zh-CN" altLang="en-US" dirty="0"/>
              <a:t>安装</a:t>
            </a:r>
            <a:r>
              <a:rPr lang="en-US" altLang="zh-CN" dirty="0"/>
              <a:t>shapely</a:t>
            </a:r>
            <a:r>
              <a:rPr lang="zh-CN" altLang="en-US" dirty="0"/>
              <a:t>，使用</a:t>
            </a:r>
            <a:r>
              <a:rPr lang="en-US" altLang="zh-CN" dirty="0" err="1"/>
              <a:t>whl</a:t>
            </a:r>
            <a:r>
              <a:rPr lang="zh-CN" altLang="en-US" dirty="0"/>
              <a:t>包安装，下载地址：</a:t>
            </a:r>
            <a:endParaRPr lang="en-US" altLang="zh-CN" dirty="0"/>
          </a:p>
          <a:p>
            <a:pPr lvl="1"/>
            <a:r>
              <a:rPr lang="en-US" altLang="zh-CN" dirty="0"/>
              <a:t>https://www.lfd.uci.edu/~gohlke/pythonlibs/#shapely</a:t>
            </a:r>
          </a:p>
          <a:p>
            <a:pPr lvl="1"/>
            <a:r>
              <a:rPr lang="en-US" altLang="zh-CN" dirty="0">
                <a:hlinkClick r:id="rId3"/>
              </a:rPr>
              <a:t>https://pypi.org/project/Shapely/#files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）安装完报错：</a:t>
            </a:r>
            <a:r>
              <a:rPr lang="en-US" altLang="zh-CN" dirty="0"/>
              <a:t>’Could not find module Library\bin\geos_c.dll' (or one of its dependencies)</a:t>
            </a:r>
          </a:p>
          <a:p>
            <a:pPr lvl="1"/>
            <a:r>
              <a:rPr lang="zh-CN" altLang="en-US" dirty="0"/>
              <a:t>解决办法：在以下网址下载</a:t>
            </a:r>
            <a:r>
              <a:rPr lang="en-US" altLang="zh-CN" dirty="0"/>
              <a:t>geos_c.dll</a:t>
            </a:r>
            <a:r>
              <a:rPr lang="zh-CN" altLang="en-US" dirty="0"/>
              <a:t>，放到***</a:t>
            </a:r>
            <a:r>
              <a:rPr lang="en-US" altLang="zh-CN" dirty="0"/>
              <a:t>\Anaconda3\Library\bin</a:t>
            </a:r>
            <a:r>
              <a:rPr lang="zh-CN" altLang="en-US" dirty="0"/>
              <a:t>目录下面</a:t>
            </a:r>
            <a:endParaRPr lang="en-US" altLang="zh-CN" dirty="0"/>
          </a:p>
          <a:p>
            <a:pPr lvl="1"/>
            <a:r>
              <a:rPr lang="zh-CN" altLang="en-US" dirty="0"/>
              <a:t>原下载</a:t>
            </a:r>
            <a:r>
              <a:rPr lang="en-US" altLang="zh-CN" dirty="0">
                <a:hlinkClick r:id="rId4"/>
              </a:rPr>
              <a:t>https://www.dll-files.com/download/d8b5101f07394b4562ef673869395443/geos_c.dll.html?c=aGwxcEZIbXBzUE5nWWlwV3kyaWt4QT09</a:t>
            </a:r>
            <a:endParaRPr lang="en-US" altLang="zh-CN" dirty="0"/>
          </a:p>
          <a:p>
            <a:pPr lvl="1"/>
            <a:r>
              <a:rPr lang="zh-CN" altLang="en-US" dirty="0"/>
              <a:t>移动云盘下载：</a:t>
            </a:r>
            <a:r>
              <a:rPr lang="en-US" altLang="zh-CN" dirty="0"/>
              <a:t>https://caiyun.139.com/m/i?0a5CrzjnOdnEH  </a:t>
            </a:r>
            <a:r>
              <a:rPr lang="zh-CN" altLang="en-US" dirty="0"/>
              <a:t>提取码</a:t>
            </a:r>
            <a:r>
              <a:rPr lang="en-US" altLang="zh-CN" dirty="0"/>
              <a:t>: gG8V</a:t>
            </a:r>
          </a:p>
        </p:txBody>
      </p:sp>
    </p:spTree>
    <p:extLst>
      <p:ext uri="{BB962C8B-B14F-4D97-AF65-F5344CB8AC3E}">
        <p14:creationId xmlns:p14="http://schemas.microsoft.com/office/powerpoint/2010/main" val="321342839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读取经纬度坐标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读取盒马鲜生坐标，并转化为点</a:t>
            </a:r>
            <a:r>
              <a:rPr lang="en-US" altLang="zh-CN" dirty="0"/>
              <a:t>Point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30531" y="1213658"/>
            <a:ext cx="44470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geopandas</a:t>
            </a:r>
            <a:r>
              <a:rPr lang="en-US" altLang="zh-CN" dirty="0"/>
              <a:t> as </a:t>
            </a:r>
            <a:r>
              <a:rPr lang="en-US" altLang="zh-CN" dirty="0" err="1"/>
              <a:t>gpd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shapely.geometry</a:t>
            </a:r>
            <a:r>
              <a:rPr lang="en-US" altLang="zh-CN" dirty="0"/>
              <a:t> import Point</a:t>
            </a:r>
          </a:p>
          <a:p>
            <a:r>
              <a:rPr lang="en-US" altLang="zh-CN" dirty="0"/>
              <a:t>%</a:t>
            </a:r>
            <a:r>
              <a:rPr lang="en-US" altLang="zh-CN" dirty="0" err="1"/>
              <a:t>matplotlib</a:t>
            </a:r>
            <a:r>
              <a:rPr lang="en-US" altLang="zh-CN" dirty="0"/>
              <a:t> inline</a:t>
            </a:r>
          </a:p>
          <a:p>
            <a:r>
              <a:rPr lang="en-US" altLang="zh-CN" dirty="0"/>
              <a:t>%</a:t>
            </a:r>
            <a:r>
              <a:rPr lang="en-US" altLang="zh-CN" dirty="0" err="1"/>
              <a:t>config</a:t>
            </a:r>
            <a:r>
              <a:rPr lang="en-US" altLang="zh-CN" dirty="0"/>
              <a:t> </a:t>
            </a:r>
            <a:r>
              <a:rPr lang="en-US" altLang="zh-CN" dirty="0" err="1"/>
              <a:t>InlineBackend.figure_format</a:t>
            </a:r>
            <a:r>
              <a:rPr lang="en-US" altLang="zh-CN" dirty="0"/>
              <a:t> = '</a:t>
            </a:r>
            <a:r>
              <a:rPr lang="en-US" altLang="zh-CN" dirty="0" err="1"/>
              <a:t>svg</a:t>
            </a:r>
            <a:r>
              <a:rPr lang="en-US" altLang="zh-CN" dirty="0"/>
              <a:t>'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39339" y="3720831"/>
            <a:ext cx="8013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hema_df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("hema_geocode.csv", encoding='</a:t>
            </a:r>
            <a:r>
              <a:rPr lang="en-US" altLang="zh-CN" dirty="0" err="1"/>
              <a:t>gbk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                header=None, names=["address","</a:t>
            </a:r>
            <a:r>
              <a:rPr lang="en-US" altLang="zh-CN" dirty="0" err="1"/>
              <a:t>lng</a:t>
            </a:r>
            <a:r>
              <a:rPr lang="en-US" altLang="zh-CN" dirty="0"/>
              <a:t>","</a:t>
            </a:r>
            <a:r>
              <a:rPr lang="en-US" altLang="zh-CN" dirty="0" err="1"/>
              <a:t>lat</a:t>
            </a:r>
            <a:r>
              <a:rPr lang="en-US" altLang="zh-CN" dirty="0"/>
              <a:t>"])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经纬度组合为新列</a:t>
            </a:r>
            <a:r>
              <a:rPr lang="en-US" altLang="zh-CN" dirty="0"/>
              <a:t>geometry</a:t>
            </a:r>
            <a:r>
              <a:rPr lang="zh-CN" altLang="en-US" dirty="0"/>
              <a:t>，与形状里的该列对应</a:t>
            </a:r>
          </a:p>
          <a:p>
            <a:r>
              <a:rPr lang="en-US" altLang="zh-CN" dirty="0" err="1"/>
              <a:t>hema_df</a:t>
            </a:r>
            <a:r>
              <a:rPr lang="en-US" altLang="zh-CN" dirty="0"/>
              <a:t>['geometry']=list(zip(</a:t>
            </a:r>
            <a:r>
              <a:rPr lang="en-US" altLang="zh-CN" dirty="0" err="1"/>
              <a:t>hema_df</a:t>
            </a:r>
            <a:r>
              <a:rPr lang="en-US" altLang="zh-CN" dirty="0"/>
              <a:t>['</a:t>
            </a:r>
            <a:r>
              <a:rPr lang="en-US" altLang="zh-CN" dirty="0" err="1"/>
              <a:t>lng</a:t>
            </a:r>
            <a:r>
              <a:rPr lang="en-US" altLang="zh-CN" dirty="0"/>
              <a:t>'],</a:t>
            </a:r>
            <a:r>
              <a:rPr lang="en-US" altLang="zh-CN" dirty="0" err="1"/>
              <a:t>hema_df</a:t>
            </a:r>
            <a:r>
              <a:rPr lang="en-US" altLang="zh-CN" dirty="0"/>
              <a:t>['</a:t>
            </a:r>
            <a:r>
              <a:rPr lang="en-US" altLang="zh-CN" dirty="0" err="1"/>
              <a:t>lat</a:t>
            </a:r>
            <a:r>
              <a:rPr lang="en-US" altLang="zh-CN" dirty="0"/>
              <a:t>']))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经纬度转化为坐标点</a:t>
            </a:r>
          </a:p>
          <a:p>
            <a:r>
              <a:rPr lang="en-US" altLang="zh-CN" dirty="0" err="1"/>
              <a:t>hema_df</a:t>
            </a:r>
            <a:r>
              <a:rPr lang="en-US" altLang="zh-CN" dirty="0"/>
              <a:t>['geometry']=</a:t>
            </a:r>
            <a:r>
              <a:rPr lang="en-US" altLang="zh-CN" dirty="0" err="1"/>
              <a:t>hema_df</a:t>
            </a:r>
            <a:r>
              <a:rPr lang="en-US" altLang="zh-CN" dirty="0"/>
              <a:t>['geometry'].apply(Point)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筛选出北京的门店</a:t>
            </a:r>
          </a:p>
          <a:p>
            <a:r>
              <a:rPr lang="en-US" altLang="zh-CN" dirty="0" err="1"/>
              <a:t>geo_df</a:t>
            </a:r>
            <a:r>
              <a:rPr lang="en-US" altLang="zh-CN" dirty="0"/>
              <a:t>=</a:t>
            </a:r>
            <a:r>
              <a:rPr lang="en-US" altLang="zh-CN" dirty="0" err="1"/>
              <a:t>gpd.GeoDataFrame</a:t>
            </a:r>
            <a:r>
              <a:rPr lang="en-US" altLang="zh-CN" dirty="0"/>
              <a:t>(</a:t>
            </a:r>
            <a:r>
              <a:rPr lang="en-US" altLang="zh-CN" dirty="0" err="1"/>
              <a:t>hema_df</a:t>
            </a:r>
            <a:r>
              <a:rPr lang="en-US" altLang="zh-CN" dirty="0"/>
              <a:t>[</a:t>
            </a:r>
            <a:r>
              <a:rPr lang="en-US" altLang="zh-CN" dirty="0" err="1"/>
              <a:t>hema_df</a:t>
            </a:r>
            <a:r>
              <a:rPr lang="en-US" altLang="zh-CN" dirty="0"/>
              <a:t>['</a:t>
            </a:r>
            <a:r>
              <a:rPr lang="en-US" altLang="zh-CN" dirty="0" err="1"/>
              <a:t>lng</a:t>
            </a:r>
            <a:r>
              <a:rPr lang="en-US" altLang="zh-CN" dirty="0"/>
              <a:t>']&lt;117],</a:t>
            </a:r>
            <a:r>
              <a:rPr lang="en-US" altLang="zh-CN" dirty="0" err="1"/>
              <a:t>crs</a:t>
            </a:r>
            <a:r>
              <a:rPr lang="en-US" altLang="zh-CN" dirty="0"/>
              <a:t>="EPSG:4326")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293965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绘制地图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5716" y="4289367"/>
            <a:ext cx="74863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读入北京地图</a:t>
            </a:r>
            <a:r>
              <a:rPr lang="en-US" altLang="zh-CN" dirty="0" err="1"/>
              <a:t>json</a:t>
            </a:r>
            <a:r>
              <a:rPr lang="zh-CN" altLang="en-US" dirty="0"/>
              <a:t>文件</a:t>
            </a:r>
          </a:p>
          <a:p>
            <a:r>
              <a:rPr lang="en-US" altLang="zh-CN" dirty="0" err="1"/>
              <a:t>beijing_map</a:t>
            </a:r>
            <a:r>
              <a:rPr lang="en-US" altLang="zh-CN" dirty="0"/>
              <a:t> = </a:t>
            </a:r>
            <a:r>
              <a:rPr lang="en-US" altLang="zh-CN" dirty="0" err="1"/>
              <a:t>gpd.read_file</a:t>
            </a:r>
            <a:r>
              <a:rPr lang="en-US" altLang="zh-CN" dirty="0"/>
              <a:t>("./</a:t>
            </a:r>
            <a:r>
              <a:rPr lang="en-US" altLang="zh-CN" dirty="0" err="1"/>
              <a:t>beijing_aliyun.json</a:t>
            </a:r>
            <a:r>
              <a:rPr lang="en-US" altLang="zh-CN" dirty="0"/>
              <a:t>")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绘制底图</a:t>
            </a:r>
          </a:p>
          <a:p>
            <a:r>
              <a:rPr lang="en-US" altLang="zh-CN" dirty="0"/>
              <a:t>base = </a:t>
            </a:r>
            <a:r>
              <a:rPr lang="en-US" altLang="zh-CN" dirty="0" err="1"/>
              <a:t>beijing_map.plot</a:t>
            </a:r>
            <a:r>
              <a:rPr lang="en-US" altLang="zh-CN" dirty="0"/>
              <a:t>(color='</a:t>
            </a:r>
            <a:r>
              <a:rPr lang="en-US" altLang="zh-CN" dirty="0" err="1"/>
              <a:t>lightgrey</a:t>
            </a:r>
            <a:r>
              <a:rPr lang="en-US" altLang="zh-CN" dirty="0"/>
              <a:t>', </a:t>
            </a:r>
            <a:r>
              <a:rPr lang="en-US" altLang="zh-CN" dirty="0" err="1"/>
              <a:t>edgecolor</a:t>
            </a:r>
            <a:r>
              <a:rPr lang="en-US" altLang="zh-CN" dirty="0"/>
              <a:t>='navy',</a:t>
            </a:r>
            <a:r>
              <a:rPr lang="en-US" altLang="zh-CN" dirty="0" err="1"/>
              <a:t>figsize</a:t>
            </a:r>
            <a:r>
              <a:rPr lang="en-US" altLang="zh-CN" dirty="0"/>
              <a:t>=(5, 8))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绘制散点图</a:t>
            </a:r>
          </a:p>
          <a:p>
            <a:r>
              <a:rPr lang="en-US" altLang="zh-CN" dirty="0" err="1"/>
              <a:t>geo_df.plot</a:t>
            </a:r>
            <a:r>
              <a:rPr lang="en-US" altLang="zh-CN" dirty="0"/>
              <a:t>(ax=base, color='red', marker="o", </a:t>
            </a:r>
            <a:r>
              <a:rPr lang="en-US" altLang="zh-CN" dirty="0" err="1"/>
              <a:t>markersize</a:t>
            </a:r>
            <a:r>
              <a:rPr lang="en-US" altLang="zh-CN" dirty="0"/>
              <a:t>=25, alpha=0.4)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353" y="826445"/>
            <a:ext cx="3663718" cy="35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542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Geopandas</a:t>
            </a:r>
            <a:r>
              <a:rPr lang="zh-CN" altLang="en-US" dirty="0"/>
              <a:t>绘制填色地图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892829"/>
            <a:ext cx="4872644" cy="3284134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sz="1800" dirty="0">
                <a:hlinkClick r:id="rId2"/>
              </a:rPr>
              <a:t>http://datav.aliyun.com/portal/school/atlas/area_selector</a:t>
            </a:r>
            <a:r>
              <a:rPr lang="zh-CN" altLang="en-US" dirty="0"/>
              <a:t>获取</a:t>
            </a:r>
            <a:r>
              <a:rPr lang="en-US" altLang="zh-CN" dirty="0" err="1"/>
              <a:t>json</a:t>
            </a:r>
            <a:r>
              <a:rPr lang="zh-CN" altLang="en-US" dirty="0"/>
              <a:t>地图</a:t>
            </a:r>
            <a:endParaRPr lang="en-US" altLang="zh-CN" dirty="0"/>
          </a:p>
          <a:p>
            <a:r>
              <a:rPr lang="zh-CN" altLang="en-US" dirty="0"/>
              <a:t>省份为上海，江苏，浙江，安徽，福建，台湾等</a:t>
            </a:r>
            <a:endParaRPr lang="en-US" altLang="zh-CN" dirty="0"/>
          </a:p>
          <a:p>
            <a:r>
              <a:rPr lang="en-US" altLang="zh-CN" dirty="0" err="1"/>
              <a:t>geopandas</a:t>
            </a:r>
            <a:r>
              <a:rPr lang="zh-CN" altLang="en-US" dirty="0"/>
              <a:t>读取</a:t>
            </a:r>
            <a:r>
              <a:rPr lang="en-US" altLang="zh-CN" dirty="0" err="1"/>
              <a:t>json</a:t>
            </a:r>
            <a:r>
              <a:rPr lang="zh-CN" altLang="en-US" dirty="0"/>
              <a:t>地图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47651" y="739833"/>
            <a:ext cx="44470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geopandas</a:t>
            </a:r>
            <a:r>
              <a:rPr lang="en-US" altLang="zh-CN" dirty="0"/>
              <a:t> as </a:t>
            </a:r>
            <a:r>
              <a:rPr lang="en-US" altLang="zh-CN" dirty="0" err="1"/>
              <a:t>gpd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matplotlib</a:t>
            </a:r>
            <a:r>
              <a:rPr lang="en-US" altLang="zh-CN" dirty="0"/>
              <a:t> import </a:t>
            </a:r>
            <a:r>
              <a:rPr lang="en-US" altLang="zh-CN" dirty="0" err="1"/>
              <a:t>font_manager</a:t>
            </a:r>
            <a:endParaRPr lang="en-US" altLang="zh-CN" dirty="0"/>
          </a:p>
          <a:p>
            <a:r>
              <a:rPr lang="en-US" altLang="zh-CN" dirty="0"/>
              <a:t>%</a:t>
            </a:r>
            <a:r>
              <a:rPr lang="en-US" altLang="zh-CN" dirty="0" err="1"/>
              <a:t>config</a:t>
            </a:r>
            <a:r>
              <a:rPr lang="en-US" altLang="zh-CN" dirty="0"/>
              <a:t> </a:t>
            </a:r>
            <a:r>
              <a:rPr lang="en-US" altLang="zh-CN" dirty="0" err="1"/>
              <a:t>InlineBackend.figure_format</a:t>
            </a:r>
            <a:r>
              <a:rPr lang="en-US" altLang="zh-CN" dirty="0"/>
              <a:t> = '</a:t>
            </a:r>
            <a:r>
              <a:rPr lang="en-US" altLang="zh-CN" dirty="0" err="1"/>
              <a:t>svg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%</a:t>
            </a:r>
            <a:r>
              <a:rPr lang="en-US" altLang="zh-CN" dirty="0" err="1"/>
              <a:t>matplotlib</a:t>
            </a:r>
            <a:r>
              <a:rPr lang="en-US" altLang="zh-CN" dirty="0"/>
              <a:t> inline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11090" y="1037141"/>
            <a:ext cx="63802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read_jsonfile</a:t>
            </a:r>
            <a:r>
              <a:rPr lang="en-US" altLang="zh-CN" dirty="0"/>
              <a:t>():</a:t>
            </a:r>
          </a:p>
          <a:p>
            <a:r>
              <a:rPr lang="en-US" altLang="zh-CN" dirty="0"/>
              <a:t>    # </a:t>
            </a:r>
            <a:r>
              <a:rPr lang="zh-CN" altLang="en-US" dirty="0"/>
              <a:t>读入上海，江苏，浙江，安徽，福建 </a:t>
            </a:r>
            <a:r>
              <a:rPr lang="en-US" altLang="zh-CN" dirty="0" err="1"/>
              <a:t>json</a:t>
            </a:r>
            <a:r>
              <a:rPr lang="zh-CN" altLang="en-US" dirty="0"/>
              <a:t>地图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jsonfile_dict</a:t>
            </a:r>
            <a:r>
              <a:rPr lang="en-US" altLang="zh-CN" dirty="0"/>
              <a:t> = {"</a:t>
            </a:r>
            <a:r>
              <a:rPr lang="en-US" altLang="zh-CN" dirty="0" err="1"/>
              <a:t>shanghai.json</a:t>
            </a:r>
            <a:r>
              <a:rPr lang="en-US" altLang="zh-CN" dirty="0"/>
              <a:t>":"</a:t>
            </a:r>
            <a:r>
              <a:rPr lang="zh-CN" altLang="en-US" dirty="0"/>
              <a:t>上海</a:t>
            </a:r>
            <a:r>
              <a:rPr lang="en-US" altLang="zh-CN" dirty="0"/>
              <a:t>", </a:t>
            </a:r>
          </a:p>
          <a:p>
            <a:r>
              <a:rPr lang="en-US" altLang="zh-CN" dirty="0"/>
              <a:t>                          "</a:t>
            </a:r>
            <a:r>
              <a:rPr lang="en-US" altLang="zh-CN" dirty="0" err="1"/>
              <a:t>jiangsu.json</a:t>
            </a:r>
            <a:r>
              <a:rPr lang="en-US" altLang="zh-CN" dirty="0"/>
              <a:t>":"</a:t>
            </a:r>
            <a:r>
              <a:rPr lang="zh-CN" altLang="en-US" dirty="0"/>
              <a:t>江苏</a:t>
            </a:r>
            <a:r>
              <a:rPr lang="en-US" altLang="zh-CN" dirty="0"/>
              <a:t>",</a:t>
            </a:r>
          </a:p>
          <a:p>
            <a:r>
              <a:rPr lang="en-US" altLang="zh-CN" dirty="0"/>
              <a:t>                          "</a:t>
            </a:r>
            <a:r>
              <a:rPr lang="en-US" altLang="zh-CN" dirty="0" err="1"/>
              <a:t>zhejiang.json</a:t>
            </a:r>
            <a:r>
              <a:rPr lang="en-US" altLang="zh-CN" dirty="0"/>
              <a:t>":"</a:t>
            </a:r>
            <a:r>
              <a:rPr lang="zh-CN" altLang="en-US" dirty="0"/>
              <a:t>浙江</a:t>
            </a:r>
            <a:r>
              <a:rPr lang="en-US" altLang="zh-CN" dirty="0"/>
              <a:t>",</a:t>
            </a:r>
          </a:p>
          <a:p>
            <a:r>
              <a:rPr lang="en-US" altLang="zh-CN" dirty="0"/>
              <a:t>                          "</a:t>
            </a:r>
            <a:r>
              <a:rPr lang="en-US" altLang="zh-CN" dirty="0" err="1"/>
              <a:t>anhui.json</a:t>
            </a:r>
            <a:r>
              <a:rPr lang="en-US" altLang="zh-CN" dirty="0"/>
              <a:t>":"</a:t>
            </a:r>
            <a:r>
              <a:rPr lang="zh-CN" altLang="en-US" dirty="0"/>
              <a:t>安徽</a:t>
            </a:r>
            <a:r>
              <a:rPr lang="en-US" altLang="zh-CN" dirty="0"/>
              <a:t>", </a:t>
            </a:r>
          </a:p>
          <a:p>
            <a:r>
              <a:rPr lang="en-US" altLang="zh-CN" dirty="0"/>
              <a:t>                          "</a:t>
            </a:r>
            <a:r>
              <a:rPr lang="en-US" altLang="zh-CN" dirty="0" err="1"/>
              <a:t>fujian.json</a:t>
            </a:r>
            <a:r>
              <a:rPr lang="en-US" altLang="zh-CN" dirty="0"/>
              <a:t>":"</a:t>
            </a:r>
            <a:r>
              <a:rPr lang="zh-CN" altLang="en-US" dirty="0"/>
              <a:t>福建</a:t>
            </a:r>
            <a:r>
              <a:rPr lang="en-US" altLang="zh-CN" dirty="0"/>
              <a:t>",</a:t>
            </a:r>
          </a:p>
          <a:p>
            <a:r>
              <a:rPr lang="en-US" altLang="zh-CN" dirty="0"/>
              <a:t>                         "</a:t>
            </a:r>
            <a:r>
              <a:rPr lang="en-US" altLang="zh-CN" dirty="0" err="1"/>
              <a:t>taiwan.json</a:t>
            </a:r>
            <a:r>
              <a:rPr lang="en-US" altLang="zh-CN" dirty="0"/>
              <a:t>":"</a:t>
            </a:r>
            <a:r>
              <a:rPr lang="zh-CN" altLang="en-US" dirty="0"/>
              <a:t>台湾</a:t>
            </a:r>
            <a:r>
              <a:rPr lang="en-US" altLang="zh-CN" dirty="0"/>
              <a:t>"}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geomap_list</a:t>
            </a:r>
            <a:r>
              <a:rPr lang="en-US" altLang="zh-CN" dirty="0"/>
              <a:t> = []</a:t>
            </a:r>
          </a:p>
          <a:p>
            <a:r>
              <a:rPr lang="en-US" altLang="zh-CN" dirty="0"/>
              <a:t>    for file, prov in </a:t>
            </a:r>
            <a:r>
              <a:rPr lang="en-US" altLang="zh-CN" dirty="0" err="1"/>
              <a:t>jsonfile_dict.items</a:t>
            </a:r>
            <a:r>
              <a:rPr lang="en-US" altLang="zh-CN" dirty="0"/>
              <a:t>():</a:t>
            </a:r>
          </a:p>
          <a:p>
            <a:r>
              <a:rPr lang="en-US" altLang="zh-CN" dirty="0"/>
              <a:t>        geomap = gpd.read_file(</a:t>
            </a:r>
            <a:r>
              <a:rPr lang="en-US" altLang="zh-CN" dirty="0" err="1"/>
              <a:t>file,crs</a:t>
            </a:r>
            <a:r>
              <a:rPr lang="en-US" altLang="zh-CN" dirty="0"/>
              <a:t>="EPSG:4326")</a:t>
            </a:r>
          </a:p>
          <a:p>
            <a:r>
              <a:rPr lang="en-US" altLang="zh-CN" dirty="0"/>
              <a:t>        geomap['province'] = prov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geomap_list.append</a:t>
            </a:r>
            <a:r>
              <a:rPr lang="en-US" altLang="zh-CN" dirty="0"/>
              <a:t>(geomap)</a:t>
            </a:r>
          </a:p>
          <a:p>
            <a:r>
              <a:rPr lang="en-US" altLang="zh-CN" dirty="0"/>
              <a:t>    # </a:t>
            </a:r>
            <a:r>
              <a:rPr lang="zh-CN" altLang="en-US" dirty="0"/>
              <a:t>合并生成各省底图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prov_map</a:t>
            </a:r>
            <a:r>
              <a:rPr lang="en-US" altLang="zh-CN" dirty="0"/>
              <a:t> = </a:t>
            </a:r>
            <a:r>
              <a:rPr lang="en-US" altLang="zh-CN" dirty="0" err="1"/>
              <a:t>pd.concat</a:t>
            </a:r>
            <a:r>
              <a:rPr lang="en-US" altLang="zh-CN" dirty="0"/>
              <a:t>(</a:t>
            </a:r>
            <a:r>
              <a:rPr lang="en-US" altLang="zh-CN" dirty="0" err="1"/>
              <a:t>geomap_list</a:t>
            </a:r>
            <a:r>
              <a:rPr lang="en-US" altLang="zh-CN" dirty="0"/>
              <a:t>).</a:t>
            </a:r>
            <a:r>
              <a:rPr lang="en-US" altLang="zh-CN" dirty="0" err="1"/>
              <a:t>reset_index</a:t>
            </a:r>
            <a:r>
              <a:rPr lang="en-US" altLang="zh-CN" dirty="0"/>
              <a:t>(drop=True)</a:t>
            </a:r>
          </a:p>
          <a:p>
            <a:r>
              <a:rPr lang="en-US" altLang="zh-CN" dirty="0"/>
              <a:t>    return </a:t>
            </a:r>
            <a:r>
              <a:rPr lang="en-US" altLang="zh-CN" dirty="0" err="1"/>
              <a:t>gpd.GeoDataFrame</a:t>
            </a:r>
            <a:r>
              <a:rPr lang="en-US" altLang="zh-CN" dirty="0"/>
              <a:t>(</a:t>
            </a:r>
            <a:r>
              <a:rPr lang="en-US" altLang="zh-CN" dirty="0" err="1"/>
              <a:t>prov_map</a:t>
            </a:r>
            <a:r>
              <a:rPr lang="en-US" altLang="zh-CN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1639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根据各省</a:t>
            </a:r>
            <a:r>
              <a:rPr lang="en-US" altLang="zh-CN" dirty="0"/>
              <a:t>GDP</a:t>
            </a:r>
            <a:r>
              <a:rPr lang="zh-CN" altLang="en-US" dirty="0"/>
              <a:t>对地图填色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95302" y="1296786"/>
            <a:ext cx="908293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def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fill_map</a:t>
            </a:r>
            <a:r>
              <a:rPr lang="en-US" altLang="zh-CN" dirty="0">
                <a:solidFill>
                  <a:srgbClr val="FF0000"/>
                </a:solidFill>
              </a:rPr>
              <a:t>( </a:t>
            </a:r>
            <a:r>
              <a:rPr lang="en-US" altLang="zh-CN" dirty="0" err="1">
                <a:solidFill>
                  <a:srgbClr val="FF0000"/>
                </a:solidFill>
              </a:rPr>
              <a:t>gdp_map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border_map</a:t>
            </a:r>
            <a:r>
              <a:rPr lang="en-US" altLang="zh-CN" dirty="0">
                <a:solidFill>
                  <a:srgbClr val="FF0000"/>
                </a:solidFill>
              </a:rPr>
              <a:t>=None):</a:t>
            </a:r>
          </a:p>
          <a:p>
            <a:r>
              <a:rPr lang="en-US" altLang="zh-CN" dirty="0"/>
              <a:t>    fig, ax = </a:t>
            </a:r>
            <a:r>
              <a:rPr lang="en-US" altLang="zh-CN" dirty="0" err="1"/>
              <a:t>plt.subplots</a:t>
            </a:r>
            <a:r>
              <a:rPr lang="en-US" altLang="zh-CN" dirty="0"/>
              <a:t>(1,1,figsize=(8, 10))</a:t>
            </a:r>
          </a:p>
          <a:p>
            <a:r>
              <a:rPr lang="en-US" altLang="zh-CN" dirty="0"/>
              <a:t>    if not </a:t>
            </a:r>
            <a:r>
              <a:rPr lang="en-US" altLang="zh-CN" dirty="0" err="1"/>
              <a:t>border_map</a:t>
            </a:r>
            <a:r>
              <a:rPr lang="en-US" altLang="zh-CN" dirty="0"/>
              <a:t> is None: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border_map.plot</a:t>
            </a:r>
            <a:r>
              <a:rPr lang="en-US" altLang="zh-CN" dirty="0"/>
              <a:t>(color='</a:t>
            </a:r>
            <a:r>
              <a:rPr lang="en-US" altLang="zh-CN" dirty="0" err="1"/>
              <a:t>darkblue</a:t>
            </a:r>
            <a:r>
              <a:rPr lang="en-US" altLang="zh-CN" dirty="0"/>
              <a:t>', ax=ax)</a:t>
            </a:r>
          </a:p>
          <a:p>
            <a:r>
              <a:rPr lang="en-US" altLang="zh-CN" dirty="0"/>
              <a:t>        </a:t>
            </a:r>
          </a:p>
          <a:p>
            <a:r>
              <a:rPr lang="en-US" altLang="zh-CN" dirty="0"/>
              <a:t>    # </a:t>
            </a:r>
            <a:r>
              <a:rPr lang="en-US" altLang="zh-CN" dirty="0" err="1"/>
              <a:t>mapclassify</a:t>
            </a:r>
            <a:r>
              <a:rPr lang="en-US" altLang="zh-CN" dirty="0"/>
              <a:t> </a:t>
            </a:r>
            <a:r>
              <a:rPr lang="zh-CN" altLang="en-US" dirty="0"/>
              <a:t>参数 参见 </a:t>
            </a:r>
            <a:r>
              <a:rPr lang="en-US" altLang="zh-CN" dirty="0"/>
              <a:t>https://pypi.org/project/mapclassify/ </a:t>
            </a:r>
          </a:p>
          <a:p>
            <a:r>
              <a:rPr lang="en-US" altLang="zh-CN" dirty="0"/>
              <a:t>    # </a:t>
            </a:r>
            <a:r>
              <a:rPr lang="en-US" altLang="zh-CN" dirty="0" err="1"/>
              <a:t>cmap</a:t>
            </a:r>
            <a:r>
              <a:rPr lang="zh-CN" altLang="en-US" dirty="0"/>
              <a:t>颜色选参数，参见 </a:t>
            </a:r>
            <a:r>
              <a:rPr lang="en-US" altLang="zh-CN" dirty="0"/>
              <a:t>https://matplotlib.org/stable/tutorials/colors/colormaps.html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gdp_map.plot</a:t>
            </a:r>
            <a:r>
              <a:rPr lang="en-US" altLang="zh-CN" dirty="0"/>
              <a:t>(column='</a:t>
            </a:r>
            <a:r>
              <a:rPr lang="en-US" altLang="zh-CN" dirty="0" err="1"/>
              <a:t>gdp</a:t>
            </a:r>
            <a:r>
              <a:rPr lang="en-US" altLang="zh-CN" dirty="0"/>
              <a:t>',  # </a:t>
            </a:r>
            <a:r>
              <a:rPr lang="en-US" altLang="zh-CN" dirty="0" err="1"/>
              <a:t>gdp</a:t>
            </a:r>
            <a:r>
              <a:rPr lang="zh-CN" altLang="en-US" dirty="0"/>
              <a:t>为分级设色字段</a:t>
            </a:r>
          </a:p>
          <a:p>
            <a:r>
              <a:rPr lang="zh-CN" altLang="en-US" dirty="0"/>
              <a:t>               </a:t>
            </a:r>
            <a:r>
              <a:rPr lang="en-US" altLang="zh-CN" dirty="0"/>
              <a:t>scheme='</a:t>
            </a:r>
            <a:r>
              <a:rPr lang="en-US" altLang="zh-CN" dirty="0" err="1"/>
              <a:t>naturalBreaks</a:t>
            </a:r>
            <a:r>
              <a:rPr lang="en-US" altLang="zh-CN" dirty="0"/>
              <a:t>',  # </a:t>
            </a:r>
            <a:r>
              <a:rPr lang="en-US" altLang="zh-CN" dirty="0" err="1"/>
              <a:t>mapClassify</a:t>
            </a:r>
            <a:r>
              <a:rPr lang="en-US" altLang="zh-CN" dirty="0"/>
              <a:t>-</a:t>
            </a:r>
            <a:r>
              <a:rPr lang="zh-CN" altLang="en-US" dirty="0"/>
              <a:t>分级类型 ，</a:t>
            </a:r>
          </a:p>
          <a:p>
            <a:r>
              <a:rPr lang="zh-CN" altLang="en-US" dirty="0"/>
              <a:t>               </a:t>
            </a:r>
            <a:r>
              <a:rPr lang="en-US" altLang="zh-CN" dirty="0"/>
              <a:t>legend=True,  # </a:t>
            </a:r>
            <a:r>
              <a:rPr lang="zh-CN" altLang="en-US" dirty="0"/>
              <a:t>加入图例</a:t>
            </a:r>
          </a:p>
          <a:p>
            <a:r>
              <a:rPr lang="zh-CN" altLang="en-US" dirty="0"/>
              <a:t>               </a:t>
            </a:r>
            <a:r>
              <a:rPr lang="en-US" altLang="zh-CN" dirty="0" err="1"/>
              <a:t>legend_kwds</a:t>
            </a:r>
            <a:r>
              <a:rPr lang="en-US" altLang="zh-CN" dirty="0"/>
              <a:t>={"</a:t>
            </a:r>
            <a:r>
              <a:rPr lang="en-US" altLang="zh-CN" dirty="0" err="1"/>
              <a:t>loc</a:t>
            </a:r>
            <a:r>
              <a:rPr lang="en-US" altLang="zh-CN" dirty="0"/>
              <a:t>": "lower left"}, #</a:t>
            </a:r>
            <a:r>
              <a:rPr lang="zh-CN" altLang="en-US" dirty="0"/>
              <a:t>图例位置</a:t>
            </a:r>
          </a:p>
          <a:p>
            <a:r>
              <a:rPr lang="zh-CN" altLang="en-US" dirty="0"/>
              <a:t>               </a:t>
            </a:r>
            <a:r>
              <a:rPr lang="en-US" altLang="zh-CN" dirty="0" err="1"/>
              <a:t>cmap</a:t>
            </a:r>
            <a:r>
              <a:rPr lang="en-US" altLang="zh-CN" dirty="0"/>
              <a:t>='Reds',  # </a:t>
            </a:r>
            <a:r>
              <a:rPr lang="zh-CN" altLang="en-US" dirty="0"/>
              <a:t>渐变色带的名称</a:t>
            </a:r>
          </a:p>
          <a:p>
            <a:r>
              <a:rPr lang="zh-CN" altLang="en-US" dirty="0"/>
              <a:t>               </a:t>
            </a:r>
            <a:r>
              <a:rPr lang="en-US" altLang="zh-CN" dirty="0" err="1"/>
              <a:t>edgecolor</a:t>
            </a:r>
            <a:r>
              <a:rPr lang="en-US" altLang="zh-CN" dirty="0"/>
              <a:t>='navy', # </a:t>
            </a:r>
            <a:r>
              <a:rPr lang="zh-CN" altLang="en-US" dirty="0"/>
              <a:t>边颜色</a:t>
            </a:r>
          </a:p>
          <a:p>
            <a:r>
              <a:rPr lang="zh-CN" altLang="en-US" dirty="0"/>
              <a:t>                 </a:t>
            </a:r>
            <a:r>
              <a:rPr lang="en-US" altLang="zh-CN" dirty="0"/>
              <a:t>ax=ax)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 =['</a:t>
            </a:r>
            <a:r>
              <a:rPr lang="en-US" altLang="zh-CN" dirty="0" err="1"/>
              <a:t>STSong</a:t>
            </a:r>
            <a:r>
              <a:rPr lang="en-US" altLang="zh-CN" dirty="0"/>
              <a:t>']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plt.title</a:t>
            </a:r>
            <a:r>
              <a:rPr lang="en-US" altLang="zh-CN" dirty="0"/>
              <a:t>('</a:t>
            </a:r>
            <a:r>
              <a:rPr lang="zh-CN" altLang="en-US" dirty="0"/>
              <a:t>长三角及周边地区人均</a:t>
            </a:r>
            <a:r>
              <a:rPr lang="en-US" altLang="zh-CN" dirty="0"/>
              <a:t>GDP(</a:t>
            </a:r>
            <a:r>
              <a:rPr lang="zh-CN" altLang="en-US" dirty="0"/>
              <a:t>单位：元</a:t>
            </a:r>
            <a:r>
              <a:rPr lang="en-US" altLang="zh-CN" dirty="0"/>
              <a:t>)')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plt.grid</a:t>
            </a:r>
            <a:r>
              <a:rPr lang="en-US" altLang="zh-CN" dirty="0"/>
              <a:t>(True, alpha=0.25)  # </a:t>
            </a:r>
            <a:r>
              <a:rPr lang="zh-CN" altLang="en-US" dirty="0"/>
              <a:t>显示网格，透明度为</a:t>
            </a:r>
            <a:r>
              <a:rPr lang="en-US" altLang="zh-CN" dirty="0"/>
              <a:t>50%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50525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填充地图主函数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578" y="857294"/>
            <a:ext cx="3645387" cy="56028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9503" y="1396538"/>
            <a:ext cx="760336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if __name__ == "__main__":</a:t>
            </a:r>
          </a:p>
          <a:p>
            <a:r>
              <a:rPr lang="en-US" altLang="zh-CN" dirty="0"/>
              <a:t>    # </a:t>
            </a:r>
            <a:r>
              <a:rPr lang="zh-CN" altLang="en-US" dirty="0"/>
              <a:t>生成多省份地图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prov_map</a:t>
            </a:r>
            <a:r>
              <a:rPr lang="en-US" altLang="zh-CN" dirty="0"/>
              <a:t> = </a:t>
            </a:r>
            <a:r>
              <a:rPr lang="en-US" altLang="zh-CN" dirty="0" err="1"/>
              <a:t>read_jsonfile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# </a:t>
            </a:r>
            <a:r>
              <a:rPr lang="zh-CN" altLang="en-US" dirty="0"/>
              <a:t>读取</a:t>
            </a:r>
            <a:r>
              <a:rPr lang="en-US" altLang="zh-CN" dirty="0"/>
              <a:t>GDP</a:t>
            </a:r>
            <a:r>
              <a:rPr lang="zh-CN" altLang="en-US" dirty="0"/>
              <a:t>数据的</a:t>
            </a:r>
            <a:r>
              <a:rPr lang="en-US" altLang="zh-CN" dirty="0"/>
              <a:t>Excel</a:t>
            </a:r>
            <a:r>
              <a:rPr lang="zh-CN" altLang="en-US" dirty="0"/>
              <a:t>文件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gdp</a:t>
            </a:r>
            <a:r>
              <a:rPr lang="en-US" altLang="zh-CN" dirty="0"/>
              <a:t> = </a:t>
            </a:r>
            <a:r>
              <a:rPr lang="en-US" altLang="zh-CN" dirty="0" err="1"/>
              <a:t>pd.read_excel</a:t>
            </a:r>
            <a:r>
              <a:rPr lang="en-US" altLang="zh-CN" dirty="0"/>
              <a:t>("gdpdata.</a:t>
            </a:r>
            <a:r>
              <a:rPr lang="en-US" altLang="zh-CN" dirty="0" err="1"/>
              <a:t>xlsx</a:t>
            </a:r>
            <a:r>
              <a:rPr lang="en-US" altLang="zh-CN" dirty="0"/>
              <a:t>",</a:t>
            </a:r>
            <a:r>
              <a:rPr lang="en-US" altLang="zh-CN" dirty="0" err="1"/>
              <a:t>sheet_name</a:t>
            </a:r>
            <a:r>
              <a:rPr lang="en-US" altLang="zh-CN" dirty="0"/>
              <a:t>=0)</a:t>
            </a:r>
          </a:p>
          <a:p>
            <a:r>
              <a:rPr lang="en-US" altLang="zh-CN" dirty="0"/>
              <a:t>    # </a:t>
            </a:r>
            <a:r>
              <a:rPr lang="zh-CN" altLang="en-US" dirty="0"/>
              <a:t>将</a:t>
            </a:r>
            <a:r>
              <a:rPr lang="en-US" altLang="zh-CN" dirty="0"/>
              <a:t>GDP </a:t>
            </a:r>
            <a:r>
              <a:rPr lang="zh-CN" altLang="en-US" dirty="0"/>
              <a:t>与地图数据关联，生成</a:t>
            </a:r>
            <a:r>
              <a:rPr lang="en-US" altLang="zh-CN" dirty="0" err="1"/>
              <a:t>gdp_map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gdp_map</a:t>
            </a:r>
            <a:r>
              <a:rPr lang="en-US" altLang="zh-CN" dirty="0"/>
              <a:t> = </a:t>
            </a:r>
            <a:r>
              <a:rPr lang="en-US" altLang="zh-CN" dirty="0" err="1"/>
              <a:t>pd.merge</a:t>
            </a:r>
            <a:r>
              <a:rPr lang="en-US" altLang="zh-CN" dirty="0"/>
              <a:t>(</a:t>
            </a:r>
            <a:r>
              <a:rPr lang="en-US" altLang="zh-CN" dirty="0" err="1"/>
              <a:t>prov_map</a:t>
            </a:r>
            <a:r>
              <a:rPr lang="en-US" altLang="zh-CN" dirty="0"/>
              <a:t>, </a:t>
            </a:r>
            <a:r>
              <a:rPr lang="en-US" altLang="zh-CN" dirty="0" err="1"/>
              <a:t>gdp</a:t>
            </a:r>
            <a:r>
              <a:rPr lang="en-US" altLang="zh-CN" dirty="0"/>
              <a:t>, on='province')</a:t>
            </a:r>
          </a:p>
          <a:p>
            <a:endParaRPr lang="en-US" altLang="zh-CN" dirty="0"/>
          </a:p>
          <a:p>
            <a:r>
              <a:rPr lang="en-US" altLang="zh-CN" dirty="0"/>
              <a:t>    # </a:t>
            </a:r>
            <a:r>
              <a:rPr lang="zh-CN" altLang="en-US" dirty="0"/>
              <a:t>读取国界线</a:t>
            </a:r>
            <a:r>
              <a:rPr lang="en-US" altLang="zh-CN" dirty="0"/>
              <a:t>(</a:t>
            </a:r>
            <a:r>
              <a:rPr lang="zh-CN" altLang="en-US" dirty="0"/>
              <a:t>含台湾及九段线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border = </a:t>
            </a:r>
            <a:r>
              <a:rPr lang="en-US" altLang="zh-CN" dirty="0" err="1"/>
              <a:t>gpd.read_file</a:t>
            </a:r>
            <a:r>
              <a:rPr lang="en-US" altLang="zh-CN" dirty="0"/>
              <a:t>('</a:t>
            </a:r>
            <a:r>
              <a:rPr lang="en-US" altLang="zh-CN" dirty="0" err="1"/>
              <a:t>chinaborder.json</a:t>
            </a:r>
            <a:r>
              <a:rPr lang="en-US" altLang="zh-CN" dirty="0"/>
              <a:t>',   </a:t>
            </a:r>
          </a:p>
          <a:p>
            <a:r>
              <a:rPr lang="en-US" altLang="zh-CN" dirty="0"/>
              <a:t>                           encoding='utf-8',</a:t>
            </a:r>
          </a:p>
          <a:p>
            <a:r>
              <a:rPr lang="en-US" altLang="zh-CN" dirty="0"/>
              <a:t>                           </a:t>
            </a:r>
            <a:r>
              <a:rPr lang="en-US" altLang="zh-CN" dirty="0" err="1"/>
              <a:t>crs</a:t>
            </a:r>
            <a:r>
              <a:rPr lang="en-US" altLang="zh-CN" dirty="0"/>
              <a:t>="EPSG:4326")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border.drop</a:t>
            </a:r>
            <a:r>
              <a:rPr lang="en-US" altLang="zh-CN" dirty="0"/>
              <a:t>(index = border[border['type']=='</a:t>
            </a:r>
            <a:r>
              <a:rPr lang="zh-CN" altLang="en-US" dirty="0"/>
              <a:t>省界</a:t>
            </a:r>
            <a:r>
              <a:rPr lang="en-US" altLang="zh-CN" dirty="0"/>
              <a:t>'].index, </a:t>
            </a:r>
            <a:r>
              <a:rPr lang="en-US" altLang="zh-CN" dirty="0" err="1"/>
              <a:t>inplace</a:t>
            </a:r>
            <a:r>
              <a:rPr lang="en-US" altLang="zh-CN" dirty="0"/>
              <a:t>=True)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#</a:t>
            </a:r>
            <a:r>
              <a:rPr lang="en-US" altLang="zh-CN" dirty="0" err="1"/>
              <a:t>fill_map</a:t>
            </a:r>
            <a:r>
              <a:rPr lang="en-US" altLang="zh-CN" dirty="0"/>
              <a:t>(</a:t>
            </a:r>
            <a:r>
              <a:rPr lang="en-US" altLang="zh-CN" dirty="0" err="1"/>
              <a:t>gdp_map,border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fill_map</a:t>
            </a:r>
            <a:r>
              <a:rPr lang="en-US" altLang="zh-CN" dirty="0"/>
              <a:t>(</a:t>
            </a:r>
            <a:r>
              <a:rPr lang="en-US" altLang="zh-CN" dirty="0" err="1"/>
              <a:t>gdp_map</a:t>
            </a:r>
            <a:r>
              <a:rPr lang="en-US" altLang="zh-CN" dirty="0"/>
              <a:t>, None)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542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567,&quot;width&quot;:65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567,&quot;width&quot;:657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8643</TotalTime>
  <Words>10116</Words>
  <Application>Microsoft Office PowerPoint</Application>
  <PresentationFormat>宽屏</PresentationFormat>
  <Paragraphs>1171</Paragraphs>
  <Slides>122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122</vt:i4>
      </vt:variant>
    </vt:vector>
  </HeadingPairs>
  <TitlesOfParts>
    <vt:vector size="135" baseType="lpstr">
      <vt:lpstr>Arial Unicode MS</vt:lpstr>
      <vt:lpstr>Tableau Light</vt:lpstr>
      <vt:lpstr>等线</vt:lpstr>
      <vt:lpstr>等线 Light</vt:lpstr>
      <vt:lpstr>黑体</vt:lpstr>
      <vt:lpstr>思源黑体-粗体 Bold</vt:lpstr>
      <vt:lpstr>宋体</vt:lpstr>
      <vt:lpstr>微软雅黑</vt:lpstr>
      <vt:lpstr>Arial</vt:lpstr>
      <vt:lpstr>Cambria Math</vt:lpstr>
      <vt:lpstr>Times New Roman</vt:lpstr>
      <vt:lpstr>Wingdings</vt:lpstr>
      <vt:lpstr>Office 主题​​</vt:lpstr>
      <vt:lpstr>物流大数据</vt:lpstr>
      <vt:lpstr>PowerPoint 演示文稿</vt:lpstr>
      <vt:lpstr>PowerPoint 演示文稿</vt:lpstr>
      <vt:lpstr>PowerPoint 演示文稿</vt:lpstr>
      <vt:lpstr>课程内容</vt:lpstr>
      <vt:lpstr>参考书目</vt:lpstr>
      <vt:lpstr>Python编程的环境设置及安装</vt:lpstr>
      <vt:lpstr>1.2Windows下Anaconda安装</vt:lpstr>
      <vt:lpstr>Windows下Anaconda安装要点</vt:lpstr>
      <vt:lpstr>1.3Windows下Anconda安装问题</vt:lpstr>
      <vt:lpstr>机器学习</vt:lpstr>
      <vt:lpstr>机器学习的优势</vt:lpstr>
      <vt:lpstr>机器学习的步骤</vt:lpstr>
      <vt:lpstr>机器学习、深度学习、强化学习</vt:lpstr>
      <vt:lpstr>PowerPoint 演示文稿</vt:lpstr>
      <vt:lpstr>Numpy基础</vt:lpstr>
      <vt:lpstr>Python 函数中的值传递与地址传递</vt:lpstr>
      <vt:lpstr>地址传递与值传递示例</vt:lpstr>
      <vt:lpstr>遗传算法中的数组交叉</vt:lpstr>
      <vt:lpstr>机器学习中的数据交叉验证</vt:lpstr>
      <vt:lpstr>Typing包的作用</vt:lpstr>
      <vt:lpstr>typing常用类型</vt:lpstr>
      <vt:lpstr>PowerPoint 演示文稿</vt:lpstr>
      <vt:lpstr>Typing示例</vt:lpstr>
      <vt:lpstr>数组线性代数运算</vt:lpstr>
      <vt:lpstr>向量内积（inner）与外积（cross）</vt:lpstr>
      <vt:lpstr>矩阵计算</vt:lpstr>
      <vt:lpstr>Numpy求解线性方程组示例</vt:lpstr>
      <vt:lpstr>线性方程组</vt:lpstr>
      <vt:lpstr>矩阵求逆求解线性方程组</vt:lpstr>
      <vt:lpstr>PowerPoint 演示文稿</vt:lpstr>
      <vt:lpstr>百度地图地理编码接口</vt:lpstr>
      <vt:lpstr>高德地图地理编码</vt:lpstr>
      <vt:lpstr>高德地图webAPI文档</vt:lpstr>
      <vt:lpstr>百度API地理坐标获取</vt:lpstr>
      <vt:lpstr>高德API地理坐标获取</vt:lpstr>
      <vt:lpstr>写入CSV数据文件保存</vt:lpstr>
      <vt:lpstr>主函数</vt:lpstr>
      <vt:lpstr>Tableau数据可视化</vt:lpstr>
      <vt:lpstr>设置数据类型</vt:lpstr>
      <vt:lpstr>PowerPoint 演示文稿</vt:lpstr>
      <vt:lpstr>PowerPoint 演示文稿</vt:lpstr>
      <vt:lpstr>Stores_count计算字段</vt:lpstr>
      <vt:lpstr>设置Mark</vt:lpstr>
      <vt:lpstr>各城市门店数量柱状图</vt:lpstr>
      <vt:lpstr>盒马鲜生数据仪表板</vt:lpstr>
      <vt:lpstr>NBA篮球赛数据可视化</vt:lpstr>
      <vt:lpstr>数据处理</vt:lpstr>
      <vt:lpstr>将X变量拆分及转化为数字类型</vt:lpstr>
      <vt:lpstr>Distance，Y变量数据转换</vt:lpstr>
      <vt:lpstr>设置篮球场背景地图</vt:lpstr>
      <vt:lpstr>NBA比赛数据面板</vt:lpstr>
      <vt:lpstr>Tableau制作投篮准确率波形图-1</vt:lpstr>
      <vt:lpstr>最终仪表板</vt:lpstr>
      <vt:lpstr>Tableau制作投篮准确率波形图-2</vt:lpstr>
      <vt:lpstr>Tableau制作投篮准确率波形图-4</vt:lpstr>
      <vt:lpstr>Tableau制作投篮准确率波形图-5</vt:lpstr>
      <vt:lpstr>编辑工作表标题</vt:lpstr>
      <vt:lpstr>创建team_arg参数</vt:lpstr>
      <vt:lpstr>建立team_arg参数</vt:lpstr>
      <vt:lpstr>LOD详细级别表达式</vt:lpstr>
      <vt:lpstr>按球队分组统计，计算球队平均一场比赛得分</vt:lpstr>
      <vt:lpstr>Tableau 中加载自定义图标到工作表标记形状</vt:lpstr>
      <vt:lpstr>Tableau 中加载自定义图标到工作表标记形状</vt:lpstr>
      <vt:lpstr>按球员分组统计，计算每场球平均得分</vt:lpstr>
      <vt:lpstr>利用参数，统计某个球队每场球（每个球员）平均得分</vt:lpstr>
      <vt:lpstr>利用参数，统计某个球员每场比赛平均得分</vt:lpstr>
      <vt:lpstr>某球队与球员每场比赛得分对比图</vt:lpstr>
      <vt:lpstr>Excel数据透视表实现每个球队球员平均得分</vt:lpstr>
      <vt:lpstr>在PowerPivot中构建数据透视表</vt:lpstr>
      <vt:lpstr>根据数据透视表，计算平均得分</vt:lpstr>
      <vt:lpstr>数据清洗</vt:lpstr>
      <vt:lpstr>数据清洗常用工具</vt:lpstr>
      <vt:lpstr>Step1. 数据读取及探索性数据描述</vt:lpstr>
      <vt:lpstr>二手摩托车数据集字段含义</vt:lpstr>
      <vt:lpstr>Pandas探索性数据描述</vt:lpstr>
      <vt:lpstr>PowerPoint 演示文稿</vt:lpstr>
      <vt:lpstr>Step2. 对数据列进行整理</vt:lpstr>
      <vt:lpstr>Pandas axis = 0 及 1 的含义</vt:lpstr>
      <vt:lpstr>数据多列拆分</vt:lpstr>
      <vt:lpstr>2.数据转化</vt:lpstr>
      <vt:lpstr>数据转化</vt:lpstr>
      <vt:lpstr>Step 3. 数据统计</vt:lpstr>
      <vt:lpstr>空值、N/A等缺失值替换 Standardize empty values</vt:lpstr>
      <vt:lpstr>去重 Duplicated records</vt:lpstr>
      <vt:lpstr>去重</vt:lpstr>
      <vt:lpstr>对缩写的州名称替换为全称</vt:lpstr>
      <vt:lpstr>查找dataframe列中的州名称缩写</vt:lpstr>
      <vt:lpstr>州名缩写改为全称</vt:lpstr>
      <vt:lpstr>Groupby对’state’列统计</vt:lpstr>
      <vt:lpstr>数据透视表pivot_table对’state’列统计</vt:lpstr>
      <vt:lpstr>数据可视化-常见Python可视化工具包</vt:lpstr>
      <vt:lpstr>数据可视化</vt:lpstr>
      <vt:lpstr>PowerPoint 演示文稿</vt:lpstr>
      <vt:lpstr>Pandas、seaborn、 matplotlib可视化</vt:lpstr>
      <vt:lpstr>Matplotlib设置中文</vt:lpstr>
      <vt:lpstr>Matplotlib设置中文</vt:lpstr>
      <vt:lpstr>Pandas数据可视化-散点图 </vt:lpstr>
      <vt:lpstr>Pandas数据可视化-直方图</vt:lpstr>
      <vt:lpstr>Matplotlib图结构</vt:lpstr>
      <vt:lpstr>子图subplots与axes的关系</vt:lpstr>
      <vt:lpstr>PowerPoint 演示文稿</vt:lpstr>
      <vt:lpstr>Matplotlib的marker设定</vt:lpstr>
      <vt:lpstr>Matplotlib可视化</vt:lpstr>
      <vt:lpstr>Seaborn可视化</vt:lpstr>
      <vt:lpstr>Bokeh可视化-基本函数</vt:lpstr>
      <vt:lpstr>对二手摩托状态Vehicle_Tile数据清洗</vt:lpstr>
      <vt:lpstr>建立Vehicle_Tile颜色字典</vt:lpstr>
      <vt:lpstr>构建图的dataclass类</vt:lpstr>
      <vt:lpstr>设置figure的函数</vt:lpstr>
      <vt:lpstr>PowerPoint 演示文稿</vt:lpstr>
      <vt:lpstr>PowerPoint 演示文稿</vt:lpstr>
      <vt:lpstr>GeoPandas绘制地图</vt:lpstr>
      <vt:lpstr>CRS EPSG:4326坐标系原点</vt:lpstr>
      <vt:lpstr>获取GeoJSON地图文件</vt:lpstr>
      <vt:lpstr>Geopandas及mapclassify的安装</vt:lpstr>
      <vt:lpstr>Shapely安装</vt:lpstr>
      <vt:lpstr>GeoPandas读取经纬度坐标CSV文件</vt:lpstr>
      <vt:lpstr>GeoPandas绘制地图</vt:lpstr>
      <vt:lpstr>Geopandas绘制填色地图</vt:lpstr>
      <vt:lpstr>根据各省GDP对地图填色</vt:lpstr>
      <vt:lpstr>填充地图主函数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物流大数据</dc:title>
  <dc:creator>Lu Xiaochun</dc:creator>
  <cp:lastModifiedBy>Xiaochun Lu</cp:lastModifiedBy>
  <cp:revision>326</cp:revision>
  <dcterms:created xsi:type="dcterms:W3CDTF">2023-02-02T07:51:51Z</dcterms:created>
  <dcterms:modified xsi:type="dcterms:W3CDTF">2025-04-02T01:30:56Z</dcterms:modified>
</cp:coreProperties>
</file>